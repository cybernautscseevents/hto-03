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ook and the gap" id="{DD089CE6-4AE6-EFBD-2D84-A76B8A7F1ECB}">
          <p14:sldIdLst>
            <p14:sldId id="256"/>
            <p14:sldId id="257"/>
            <p14:sldId id="258"/>
          </p14:sldIdLst>
        </p14:section>
        <p14:section name="Solution and workflow" id="{776DAC2B-4D5F-FE20-6E82-56B8566CD0A7}">
          <p14:sldIdLst>
            <p14:sldId id="259"/>
            <p14:sldId id="260"/>
            <p14:sldId id="261"/>
          </p14:sldIdLst>
        </p14:section>
        <p14:section name="Technology and architecture" id="{3DA76145-85CC-7051-B7F5-02A95EE89281}">
          <p14:sldIdLst>
            <p14:sldId id="262"/>
            <p14:sldId id="263"/>
          </p14:sldIdLst>
        </p14:section>
        <p14:section name="Feasibility and future" id="{8C396EBD-06C4-9DC2-40CB-94E14AF7BFF4}">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3" d="100"/>
          <a:sy n="63" d="100"/>
        </p:scale>
        <p:origin x="780"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031818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it plainly: contractors run their labour through calls, WhatsApp and paper. Hello puts that into one organised system. Point at the three boxes and read them left to right.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six cards quickly, then the chain: more coordination leads to more manual work, less visibility and more uncertainty. End on the dark bar: that sentence is the problem.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generous to existing options: each solves something. The gap is the step after finding. The first question is answered by most tools; the second is Hello. Check competitor details against current sources.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verbs, in order. Stress step three: workers do not need a smartphone. A basic phone gets a call and presses 1 to accept or 2 to reject. Step five is what makes this management and not just hiring.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it with a finger: eight boxes, top row then bottom row. The orange numbers are the order. The last box is where the contractor lives day to day.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design choices, not four buzzwords. Number two matters most in the field because many workers are on basic phones. Land on the orange bar and read it slowly: that is our USP.</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left side top to bottom: interface, API, three logic modules, database. The right side says what each piece is for. PostGIS is only for geographic matching. Do not claim attendance tracking.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one simple for judges. Four boxes, one direction. The bar underneath says the whole architecture in one sentence. Worker offers leave through the backend by app, SMS, IVR or call.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the 24-hour plan in eight blocks. Middle: the demo loop we will show live. Bottom: five technical risks and how each is handled. The MVP proves the core loop, nothing more.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feature here is future scope, not the prototype. Judges trust honest roadmaps. End on the orange bar, then the one-liner: Hello turns a contractor's scattered worker network into an organized, reusable workforce.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G">
    <p:bg>
      <p:bgPr>
        <a:solidFill>
          <a:srgbClr val="F3F8F4"/>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68680"/>
          </a:xfrm>
          <a:prstGeom prst="rect">
            <a:avLst/>
          </a:prstGeom>
          <a:noFill/>
          <a:ln/>
        </p:spPr>
        <p:txBody>
          <a:bodyPr wrap="square" rtlCol="0"/>
          <a:lstStyle>
            <a:lvl1pPr marL="0" indent="0" algn="l">
              <a:buNone/>
              <a:defRPr lang="en-US" sz="3800" b="1" dirty="0">
                <a:solidFill>
                  <a:srgbClr val="10201C"/>
                </a:solidFill>
                <a:latin typeface="Calibri" pitchFamily="34" charset="0"/>
                <a:ea typeface="Calibri" pitchFamily="34" charset="-122"/>
                <a:cs typeface="Calibri" pitchFamily="34" charset="-120"/>
              </a:defRPr>
            </a:lvl1pPr>
          </a:lstStyle>
          <a:p>
            <a:pPr marL="0" indent="0" algn="l">
              <a:buNone/>
            </a:pPr>
            <a:endParaRPr lang="en-US" sz="3800" dirty="0"/>
          </a:p>
        </p:txBody>
      </p:sp>
      <p:sp>
        <p:nvSpPr>
          <p:cNvPr id="3" name="Text 0"/>
          <p:cNvSpPr/>
          <p:nvPr/>
        </p:nvSpPr>
        <p:spPr>
          <a:xfrm>
            <a:off x="548640" y="6400800"/>
            <a:ext cx="4572000" cy="274320"/>
          </a:xfrm>
          <a:prstGeom prst="rect">
            <a:avLst/>
          </a:prstGeom>
          <a:noFill/>
          <a:ln/>
        </p:spPr>
        <p:txBody>
          <a:bodyPr wrap="square" lIns="0" tIns="0" rIns="0" bIns="0" rtlCol="0" anchor="ctr"/>
          <a:lstStyle/>
          <a:p>
            <a:pPr marL="0" indent="0">
              <a:buNone/>
            </a:pPr>
            <a:r>
              <a:rPr lang="en-US" sz="1200" b="1" dirty="0">
                <a:solidFill>
                  <a:srgbClr val="1B3A33"/>
                </a:solidFill>
                <a:latin typeface="Calibri" pitchFamily="34" charset="0"/>
                <a:ea typeface="Calibri" pitchFamily="34" charset="-122"/>
                <a:cs typeface="Calibri" pitchFamily="34" charset="-120"/>
              </a:rPr>
              <a:t>hello.  ·  Team NEXUS</a:t>
            </a:r>
            <a:endParaRPr lang="en-US" sz="1200" dirty="0"/>
          </a:p>
        </p:txBody>
      </p:sp>
      <p:sp>
        <p:nvSpPr>
          <p:cNvPr id="25" name="Slide Number Placeholder 0"/>
          <p:cNvSpPr>
            <a:spLocks noGrp="1"/>
          </p:cNvSpPr>
          <p:nvPr>
            <p:ph type="sldNum" sz="quarter" idx="4294967295"/>
          </p:nvPr>
        </p:nvSpPr>
        <p:spPr>
          <a:xfrm>
            <a:off x="10881360" y="6400800"/>
            <a:ext cx="758952"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1B3A33"/>
                </a:solidFill>
                <a:latin typeface="Calibri"/>
                <a:ea typeface="Calibri"/>
                <a:cs typeface="Calibri"/>
              </a:defRPr>
            </a:lvl1pPr>
          </a:lstStyle>
          <a:p>
            <a:pPr algn="r"/>
            <a:fld id="{F7021451-1387-4CA6-816F-3879F97B5CBC}" type="slidenum">
              <a:rPr lang="en-US" b="1"/>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W">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68680"/>
          </a:xfrm>
          <a:prstGeom prst="rect">
            <a:avLst/>
          </a:prstGeom>
          <a:noFill/>
          <a:ln/>
        </p:spPr>
        <p:txBody>
          <a:bodyPr wrap="square" rtlCol="0"/>
          <a:lstStyle>
            <a:lvl1pPr marL="0" indent="0" algn="l">
              <a:buNone/>
              <a:defRPr lang="en-US" sz="3800" b="1" dirty="0">
                <a:solidFill>
                  <a:srgbClr val="10201C"/>
                </a:solidFill>
                <a:latin typeface="Calibri" pitchFamily="34" charset="0"/>
                <a:ea typeface="Calibri" pitchFamily="34" charset="-122"/>
                <a:cs typeface="Calibri" pitchFamily="34" charset="-120"/>
              </a:defRPr>
            </a:lvl1pPr>
          </a:lstStyle>
          <a:p>
            <a:pPr marL="0" indent="0" algn="l">
              <a:buNone/>
            </a:pPr>
            <a:endParaRPr lang="en-US" sz="3800" dirty="0"/>
          </a:p>
        </p:txBody>
      </p:sp>
      <p:sp>
        <p:nvSpPr>
          <p:cNvPr id="3" name="Text 0"/>
          <p:cNvSpPr/>
          <p:nvPr/>
        </p:nvSpPr>
        <p:spPr>
          <a:xfrm>
            <a:off x="548640" y="6400800"/>
            <a:ext cx="4572000" cy="274320"/>
          </a:xfrm>
          <a:prstGeom prst="rect">
            <a:avLst/>
          </a:prstGeom>
          <a:noFill/>
          <a:ln/>
        </p:spPr>
        <p:txBody>
          <a:bodyPr wrap="square" lIns="0" tIns="0" rIns="0" bIns="0" rtlCol="0" anchor="ctr"/>
          <a:lstStyle/>
          <a:p>
            <a:pPr marL="0" indent="0">
              <a:buNone/>
            </a:pPr>
            <a:r>
              <a:rPr lang="en-US" sz="1200" b="1" dirty="0">
                <a:solidFill>
                  <a:srgbClr val="1B3A33"/>
                </a:solidFill>
                <a:latin typeface="Calibri" pitchFamily="34" charset="0"/>
                <a:ea typeface="Calibri" pitchFamily="34" charset="-122"/>
                <a:cs typeface="Calibri" pitchFamily="34" charset="-120"/>
              </a:rPr>
              <a:t>hello.  ·  Team NEXUS</a:t>
            </a:r>
            <a:endParaRPr lang="en-US" sz="1200" dirty="0"/>
          </a:p>
        </p:txBody>
      </p:sp>
      <p:sp>
        <p:nvSpPr>
          <p:cNvPr id="25" name="Slide Number Placeholder 0"/>
          <p:cNvSpPr>
            <a:spLocks noGrp="1"/>
          </p:cNvSpPr>
          <p:nvPr>
            <p:ph type="sldNum" sz="quarter" idx="4294967295"/>
          </p:nvPr>
        </p:nvSpPr>
        <p:spPr>
          <a:xfrm>
            <a:off x="10881360" y="6400800"/>
            <a:ext cx="758952"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1B3A33"/>
                </a:solidFill>
                <a:latin typeface="Calibri"/>
                <a:ea typeface="Calibri"/>
                <a:cs typeface="Calibri"/>
              </a:defRPr>
            </a:lvl1pPr>
          </a:lstStyle>
          <a:p>
            <a:pPr algn="r"/>
            <a:fld id="{F7021451-1387-4CA6-816F-3879F97B5CBC}" type="slidenum">
              <a:rPr lang="en-US" b="1"/>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T">
    <p:bg>
      <p:bgPr>
        <a:solidFill>
          <a:srgbClr val="E5EC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68680"/>
          </a:xfrm>
          <a:prstGeom prst="rect">
            <a:avLst/>
          </a:prstGeom>
          <a:noFill/>
          <a:ln/>
        </p:spPr>
        <p:txBody>
          <a:bodyPr wrap="square" rtlCol="0"/>
          <a:lstStyle>
            <a:lvl1pPr marL="0" indent="0" algn="l">
              <a:buNone/>
              <a:defRPr lang="en-US" sz="3800" b="1" dirty="0">
                <a:solidFill>
                  <a:srgbClr val="10201C"/>
                </a:solidFill>
                <a:latin typeface="Calibri" pitchFamily="34" charset="0"/>
                <a:ea typeface="Calibri" pitchFamily="34" charset="-122"/>
                <a:cs typeface="Calibri" pitchFamily="34" charset="-120"/>
              </a:defRPr>
            </a:lvl1pPr>
          </a:lstStyle>
          <a:p>
            <a:pPr marL="0" indent="0" algn="l">
              <a:buNone/>
            </a:pPr>
            <a:endParaRPr lang="en-US" sz="3800" dirty="0"/>
          </a:p>
        </p:txBody>
      </p:sp>
      <p:sp>
        <p:nvSpPr>
          <p:cNvPr id="3" name="Text 0"/>
          <p:cNvSpPr/>
          <p:nvPr/>
        </p:nvSpPr>
        <p:spPr>
          <a:xfrm>
            <a:off x="548640" y="6400800"/>
            <a:ext cx="4572000" cy="274320"/>
          </a:xfrm>
          <a:prstGeom prst="rect">
            <a:avLst/>
          </a:prstGeom>
          <a:noFill/>
          <a:ln/>
        </p:spPr>
        <p:txBody>
          <a:bodyPr wrap="square" lIns="0" tIns="0" rIns="0" bIns="0" rtlCol="0" anchor="ctr"/>
          <a:lstStyle/>
          <a:p>
            <a:pPr marL="0" indent="0">
              <a:buNone/>
            </a:pPr>
            <a:r>
              <a:rPr lang="en-US" sz="1200" b="1" dirty="0">
                <a:solidFill>
                  <a:srgbClr val="1B3A33"/>
                </a:solidFill>
                <a:latin typeface="Calibri" pitchFamily="34" charset="0"/>
                <a:ea typeface="Calibri" pitchFamily="34" charset="-122"/>
                <a:cs typeface="Calibri" pitchFamily="34" charset="-120"/>
              </a:rPr>
              <a:t>hello.  ·  Team NEXUS</a:t>
            </a:r>
            <a:endParaRPr lang="en-US" sz="1200" dirty="0"/>
          </a:p>
        </p:txBody>
      </p:sp>
      <p:sp>
        <p:nvSpPr>
          <p:cNvPr id="25" name="Slide Number Placeholder 0"/>
          <p:cNvSpPr>
            <a:spLocks noGrp="1"/>
          </p:cNvSpPr>
          <p:nvPr>
            <p:ph type="sldNum" sz="quarter" idx="4294967295"/>
          </p:nvPr>
        </p:nvSpPr>
        <p:spPr>
          <a:xfrm>
            <a:off x="10881360" y="6400800"/>
            <a:ext cx="758952"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1B3A33"/>
                </a:solidFill>
                <a:latin typeface="Calibri"/>
                <a:ea typeface="Calibri"/>
                <a:cs typeface="Calibri"/>
              </a:defRPr>
            </a:lvl1pPr>
          </a:lstStyle>
          <a:p>
            <a:pPr algn="r"/>
            <a:fld id="{F7021451-1387-4CA6-816F-3879F97B5CBC}" type="slidenum">
              <a:rPr lang="en-US" b="1"/>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GD">
    <p:bg>
      <p:bgPr>
        <a:solidFill>
          <a:srgbClr val="0B2B26"/>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68680"/>
          </a:xfrm>
          <a:prstGeom prst="rect">
            <a:avLst/>
          </a:prstGeom>
          <a:noFill/>
          <a:ln/>
        </p:spPr>
        <p:txBody>
          <a:bodyPr wrap="square" rtlCol="0"/>
          <a:lstStyle>
            <a:lvl1pPr marL="0" indent="0" algn="l">
              <a:buNone/>
              <a:defRPr lang="en-US" sz="3800" b="1" dirty="0">
                <a:solidFill>
                  <a:srgbClr val="F2F7F4"/>
                </a:solidFill>
                <a:latin typeface="Calibri" pitchFamily="34" charset="0"/>
                <a:ea typeface="Calibri" pitchFamily="34" charset="-122"/>
                <a:cs typeface="Calibri" pitchFamily="34" charset="-120"/>
              </a:defRPr>
            </a:lvl1pPr>
          </a:lstStyle>
          <a:p>
            <a:pPr marL="0" indent="0" algn="l">
              <a:buNone/>
            </a:pPr>
            <a:endParaRPr lang="en-US" sz="3800" dirty="0"/>
          </a:p>
        </p:txBody>
      </p:sp>
      <p:sp>
        <p:nvSpPr>
          <p:cNvPr id="3" name="Text 0"/>
          <p:cNvSpPr/>
          <p:nvPr/>
        </p:nvSpPr>
        <p:spPr>
          <a:xfrm>
            <a:off x="548640" y="6400800"/>
            <a:ext cx="4572000" cy="274320"/>
          </a:xfrm>
          <a:prstGeom prst="rect">
            <a:avLst/>
          </a:prstGeom>
          <a:noFill/>
          <a:ln/>
        </p:spPr>
        <p:txBody>
          <a:bodyPr wrap="square" lIns="0" tIns="0" rIns="0" bIns="0" rtlCol="0" anchor="ctr"/>
          <a:lstStyle/>
          <a:p>
            <a:pPr marL="0" indent="0">
              <a:buNone/>
            </a:pPr>
            <a:r>
              <a:rPr lang="en-US" sz="1200" b="1" dirty="0">
                <a:solidFill>
                  <a:srgbClr val="CFE3DB"/>
                </a:solidFill>
                <a:latin typeface="Calibri" pitchFamily="34" charset="0"/>
                <a:ea typeface="Calibri" pitchFamily="34" charset="-122"/>
                <a:cs typeface="Calibri" pitchFamily="34" charset="-120"/>
              </a:rPr>
              <a:t>hello.  ·  Team NEXUS</a:t>
            </a:r>
            <a:endParaRPr lang="en-US" sz="1200" dirty="0"/>
          </a:p>
        </p:txBody>
      </p:sp>
      <p:sp>
        <p:nvSpPr>
          <p:cNvPr id="25" name="Slide Number Placeholder 0"/>
          <p:cNvSpPr>
            <a:spLocks noGrp="1"/>
          </p:cNvSpPr>
          <p:nvPr>
            <p:ph type="sldNum" sz="quarter" idx="4294967295"/>
          </p:nvPr>
        </p:nvSpPr>
        <p:spPr>
          <a:xfrm>
            <a:off x="10881360" y="6400800"/>
            <a:ext cx="758952"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CFE3DB"/>
                </a:solidFill>
                <a:latin typeface="Calibri"/>
                <a:ea typeface="Calibri"/>
                <a:cs typeface="Calibri"/>
              </a:defRPr>
            </a:lvl1pPr>
          </a:lstStyle>
          <a:p>
            <a:pPr algn="r"/>
            <a:fld id="{F7021451-1387-4CA6-816F-3879F97B5CBC}" type="slidenum">
              <a:rPr lang="en-US" b="1"/>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D">
    <p:bg>
      <p:bgPr>
        <a:solidFill>
          <a:srgbClr val="10265C"/>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68680"/>
          </a:xfrm>
          <a:prstGeom prst="rect">
            <a:avLst/>
          </a:prstGeom>
          <a:noFill/>
          <a:ln/>
        </p:spPr>
        <p:txBody>
          <a:bodyPr wrap="square" rtlCol="0"/>
          <a:lstStyle>
            <a:lvl1pPr marL="0" indent="0" algn="l">
              <a:buNone/>
              <a:defRPr lang="en-US" sz="3800" b="1" dirty="0">
                <a:solidFill>
                  <a:srgbClr val="F2F7F4"/>
                </a:solidFill>
                <a:latin typeface="Calibri" pitchFamily="34" charset="0"/>
                <a:ea typeface="Calibri" pitchFamily="34" charset="-122"/>
                <a:cs typeface="Calibri" pitchFamily="34" charset="-120"/>
              </a:defRPr>
            </a:lvl1pPr>
          </a:lstStyle>
          <a:p>
            <a:pPr marL="0" indent="0" algn="l">
              <a:buNone/>
            </a:pPr>
            <a:endParaRPr lang="en-US" sz="3800" dirty="0"/>
          </a:p>
        </p:txBody>
      </p:sp>
      <p:sp>
        <p:nvSpPr>
          <p:cNvPr id="3" name="Text 0"/>
          <p:cNvSpPr/>
          <p:nvPr/>
        </p:nvSpPr>
        <p:spPr>
          <a:xfrm>
            <a:off x="548640" y="6400800"/>
            <a:ext cx="4572000" cy="274320"/>
          </a:xfrm>
          <a:prstGeom prst="rect">
            <a:avLst/>
          </a:prstGeom>
          <a:noFill/>
          <a:ln/>
        </p:spPr>
        <p:txBody>
          <a:bodyPr wrap="square" lIns="0" tIns="0" rIns="0" bIns="0" rtlCol="0" anchor="ctr"/>
          <a:lstStyle/>
          <a:p>
            <a:pPr marL="0" indent="0">
              <a:buNone/>
            </a:pPr>
            <a:r>
              <a:rPr lang="en-US" sz="1200" b="1" dirty="0">
                <a:solidFill>
                  <a:srgbClr val="CFE3DB"/>
                </a:solidFill>
                <a:latin typeface="Calibri" pitchFamily="34" charset="0"/>
                <a:ea typeface="Calibri" pitchFamily="34" charset="-122"/>
                <a:cs typeface="Calibri" pitchFamily="34" charset="-120"/>
              </a:rPr>
              <a:t>hello.  ·  Team NEXUS</a:t>
            </a:r>
            <a:endParaRPr lang="en-US" sz="1200" dirty="0"/>
          </a:p>
        </p:txBody>
      </p:sp>
      <p:sp>
        <p:nvSpPr>
          <p:cNvPr id="25" name="Slide Number Placeholder 0"/>
          <p:cNvSpPr>
            <a:spLocks noGrp="1"/>
          </p:cNvSpPr>
          <p:nvPr>
            <p:ph type="sldNum" sz="quarter" idx="4294967295"/>
          </p:nvPr>
        </p:nvSpPr>
        <p:spPr>
          <a:xfrm>
            <a:off x="10881360" y="6400800"/>
            <a:ext cx="758952"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CFE3DB"/>
                </a:solidFill>
                <a:latin typeface="Calibri"/>
                <a:ea typeface="Calibri"/>
                <a:cs typeface="Calibri"/>
              </a:defRPr>
            </a:lvl1pPr>
          </a:lstStyle>
          <a:p>
            <a:pPr algn="r"/>
            <a:fld id="{F7021451-1387-4CA6-816F-3879F97B5CBC}" type="slidenum">
              <a:rPr lang="en-US" b="1"/>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VER">
    <p:bg>
      <p:bgPr>
        <a:solidFill>
          <a:srgbClr val="0B2B26"/>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400800"/>
            <a:ext cx="758952"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1B3A33"/>
                </a:solidFill>
                <a:latin typeface="Calibri"/>
                <a:ea typeface="Calibri"/>
                <a:cs typeface="Calibri"/>
              </a:defRPr>
            </a:lvl1pPr>
          </a:lstStyle>
          <a:p>
            <a:pPr algn="r"/>
            <a:fld id="{F7021451-1387-4CA6-816F-3879F97B5CBC}" type="slidenum">
              <a:rPr lang="en-US" b="1"/>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502920"/>
            <a:ext cx="5120640" cy="457200"/>
          </a:xfrm>
          <a:prstGeom prst="roundRect">
            <a:avLst>
              <a:gd name="adj" fmla="val 50000"/>
            </a:avLst>
          </a:prstGeom>
          <a:solidFill>
            <a:srgbClr val="0B2B26"/>
          </a:solidFill>
          <a:ln w="12700">
            <a:solidFill>
              <a:srgbClr val="2E5A50"/>
            </a:solidFill>
            <a:prstDash val="solid"/>
          </a:ln>
        </p:spPr>
      </p:sp>
      <p:sp>
        <p:nvSpPr>
          <p:cNvPr id="3" name="Text 1"/>
          <p:cNvSpPr txBox="1"/>
          <p:nvPr/>
        </p:nvSpPr>
        <p:spPr>
          <a:xfrm>
            <a:off x="548640" y="502920"/>
            <a:ext cx="5120640" cy="457200"/>
          </a:xfrm>
          <a:prstGeom prst="rect">
            <a:avLst/>
          </a:prstGeom>
          <a:noFill/>
          <a:ln/>
        </p:spPr>
        <p:txBody>
          <a:bodyPr wrap="square" lIns="0" tIns="0" rIns="0" bIns="0" rtlCol="0" anchor="ctr"/>
          <a:lstStyle/>
          <a:p>
            <a:pPr marL="0" indent="0" algn="ctr">
              <a:buNone/>
            </a:pPr>
            <a:r>
              <a:rPr lang="en-US" sz="1500" b="1" dirty="0">
                <a:solidFill>
                  <a:srgbClr val="CFE3DB"/>
                </a:solidFill>
                <a:latin typeface="Calibri" pitchFamily="34" charset="0"/>
                <a:ea typeface="Calibri" pitchFamily="34" charset="-122"/>
                <a:cs typeface="Calibri" pitchFamily="34" charset="-120"/>
              </a:rPr>
              <a:t>Open Innovation Track  ·  24-hour hackathon</a:t>
            </a:r>
            <a:endParaRPr lang="en-US" sz="1500" dirty="0"/>
          </a:p>
        </p:txBody>
      </p:sp>
      <p:sp>
        <p:nvSpPr>
          <p:cNvPr id="4" name="Text 2"/>
          <p:cNvSpPr txBox="1"/>
          <p:nvPr/>
        </p:nvSpPr>
        <p:spPr>
          <a:xfrm>
            <a:off x="548640" y="914400"/>
            <a:ext cx="7315200" cy="1920240"/>
          </a:xfrm>
          <a:prstGeom prst="rect">
            <a:avLst/>
          </a:prstGeom>
          <a:noFill/>
          <a:ln/>
        </p:spPr>
        <p:txBody>
          <a:bodyPr wrap="square" lIns="0" tIns="0" rIns="0" bIns="0" rtlCol="0" anchor="ctr"/>
          <a:lstStyle/>
          <a:p>
            <a:pPr marL="0" indent="0">
              <a:buNone/>
            </a:pPr>
            <a:r>
              <a:rPr lang="en-US" sz="13000" b="1" dirty="0">
                <a:solidFill>
                  <a:srgbClr val="F2F7F4"/>
                </a:solidFill>
                <a:latin typeface="Calibri" pitchFamily="34" charset="0"/>
                <a:ea typeface="Calibri" pitchFamily="34" charset="-122"/>
                <a:cs typeface="Calibri" pitchFamily="34" charset="-120"/>
              </a:rPr>
              <a:t>Hello</a:t>
            </a:r>
            <a:r>
              <a:rPr lang="en-US" sz="13000" b="1" dirty="0">
                <a:solidFill>
                  <a:srgbClr val="F97316"/>
                </a:solidFill>
                <a:latin typeface="Calibri" pitchFamily="34" charset="0"/>
                <a:ea typeface="Calibri" pitchFamily="34" charset="-122"/>
                <a:cs typeface="Calibri" pitchFamily="34" charset="-120"/>
              </a:rPr>
              <a:t>.</a:t>
            </a:r>
            <a:endParaRPr lang="en-US" sz="13000" dirty="0"/>
          </a:p>
        </p:txBody>
      </p:sp>
      <p:sp>
        <p:nvSpPr>
          <p:cNvPr id="5" name="Text 3"/>
          <p:cNvSpPr txBox="1"/>
          <p:nvPr/>
        </p:nvSpPr>
        <p:spPr>
          <a:xfrm>
            <a:off x="548640" y="2834640"/>
            <a:ext cx="10515600" cy="640080"/>
          </a:xfrm>
          <a:prstGeom prst="rect">
            <a:avLst/>
          </a:prstGeom>
          <a:noFill/>
          <a:ln/>
        </p:spPr>
        <p:txBody>
          <a:bodyPr wrap="square" lIns="0" tIns="0" rIns="0" bIns="0" rtlCol="0" anchor="t"/>
          <a:lstStyle/>
          <a:p>
            <a:pPr marL="0" indent="0">
              <a:buNone/>
            </a:pPr>
            <a:r>
              <a:rPr lang="en-US" sz="3200" b="1" dirty="0">
                <a:solidFill>
                  <a:srgbClr val="F2F7F4"/>
                </a:solidFill>
                <a:latin typeface="Calibri" pitchFamily="34" charset="0"/>
                <a:ea typeface="Calibri" pitchFamily="34" charset="-122"/>
                <a:cs typeface="Calibri" pitchFamily="34" charset="-120"/>
              </a:rPr>
              <a:t>A workforce management system for construction contractors</a:t>
            </a:r>
            <a:endParaRPr lang="en-US" sz="3200" dirty="0"/>
          </a:p>
        </p:txBody>
      </p:sp>
      <p:sp>
        <p:nvSpPr>
          <p:cNvPr id="6" name="Text 4"/>
          <p:cNvSpPr txBox="1"/>
          <p:nvPr/>
        </p:nvSpPr>
        <p:spPr>
          <a:xfrm>
            <a:off x="548640" y="3657600"/>
            <a:ext cx="9144000" cy="457200"/>
          </a:xfrm>
          <a:prstGeom prst="rect">
            <a:avLst/>
          </a:prstGeom>
          <a:noFill/>
          <a:ln/>
        </p:spPr>
        <p:txBody>
          <a:bodyPr wrap="square" lIns="0" tIns="0" rIns="0" bIns="0" rtlCol="0" anchor="t"/>
          <a:lstStyle/>
          <a:p>
            <a:pPr marL="0" indent="0">
              <a:buNone/>
            </a:pPr>
            <a:r>
              <a:rPr lang="en-US" sz="2600" b="1" dirty="0">
                <a:solidFill>
                  <a:srgbClr val="F97316"/>
                </a:solidFill>
                <a:latin typeface="Calibri" pitchFamily="34" charset="0"/>
                <a:ea typeface="Calibri" pitchFamily="34" charset="-122"/>
                <a:cs typeface="Calibri" pitchFamily="34" charset="-120"/>
              </a:rPr>
              <a:t>Find  ·  Organize  ·  Assign  ·  Manage</a:t>
            </a:r>
            <a:endParaRPr lang="en-US" sz="2600" dirty="0"/>
          </a:p>
        </p:txBody>
      </p:sp>
      <p:sp>
        <p:nvSpPr>
          <p:cNvPr id="7" name="Shape 5"/>
          <p:cNvSpPr/>
          <p:nvPr/>
        </p:nvSpPr>
        <p:spPr>
          <a:xfrm>
            <a:off x="548640" y="4572000"/>
            <a:ext cx="3383280" cy="1508760"/>
          </a:xfrm>
          <a:prstGeom prst="roundRect">
            <a:avLst>
              <a:gd name="adj" fmla="val 12121"/>
            </a:avLst>
          </a:prstGeom>
          <a:solidFill>
            <a:srgbClr val="14403A"/>
          </a:solidFill>
          <a:ln w="12700">
            <a:solidFill>
              <a:srgbClr val="14403A"/>
            </a:solidFill>
            <a:prstDash val="solid"/>
          </a:ln>
        </p:spPr>
      </p:sp>
      <p:sp>
        <p:nvSpPr>
          <p:cNvPr id="8" name="Text 6"/>
          <p:cNvSpPr txBox="1"/>
          <p:nvPr/>
        </p:nvSpPr>
        <p:spPr>
          <a:xfrm>
            <a:off x="822960" y="4754880"/>
            <a:ext cx="2926080" cy="1188720"/>
          </a:xfrm>
          <a:prstGeom prst="rect">
            <a:avLst/>
          </a:prstGeom>
          <a:noFill/>
          <a:ln/>
        </p:spPr>
        <p:txBody>
          <a:bodyPr wrap="square" lIns="0" tIns="0" rIns="0" bIns="0" rtlCol="0" anchor="t"/>
          <a:lstStyle/>
          <a:p>
            <a:pPr marL="0" indent="0">
              <a:spcAft>
                <a:spcPts val="500"/>
              </a:spcAft>
              <a:buNone/>
            </a:pPr>
            <a:r>
              <a:rPr lang="en-US" sz="1600" b="1" dirty="0">
                <a:solidFill>
                  <a:srgbClr val="CFE3DB"/>
                </a:solidFill>
                <a:latin typeface="Calibri" pitchFamily="34" charset="0"/>
                <a:ea typeface="Calibri" pitchFamily="34" charset="-122"/>
                <a:cs typeface="Calibri" pitchFamily="34" charset="-120"/>
              </a:rPr>
              <a:t>Today</a:t>
            </a:r>
            <a:endParaRPr lang="en-US" sz="1800" dirty="0"/>
          </a:p>
          <a:p>
            <a:pPr marL="0" indent="0">
              <a:spcAft>
                <a:spcPts val="500"/>
              </a:spcAft>
              <a:buNone/>
            </a:pPr>
            <a:r>
              <a:rPr lang="en-US" sz="2400" dirty="0">
                <a:solidFill>
                  <a:srgbClr val="F2F7F4"/>
                </a:solidFill>
                <a:latin typeface="Calibri" pitchFamily="34" charset="0"/>
                <a:ea typeface="Calibri" pitchFamily="34" charset="-122"/>
                <a:cs typeface="Calibri" pitchFamily="34" charset="-120"/>
              </a:rPr>
              <a:t>Calls + WhatsApp + Paper</a:t>
            </a:r>
            <a:endParaRPr lang="en-US" sz="1800" dirty="0"/>
          </a:p>
        </p:txBody>
      </p:sp>
      <p:sp>
        <p:nvSpPr>
          <p:cNvPr id="9" name="Text 7"/>
          <p:cNvSpPr txBox="1"/>
          <p:nvPr/>
        </p:nvSpPr>
        <p:spPr>
          <a:xfrm>
            <a:off x="3977640" y="5029200"/>
            <a:ext cx="594360" cy="640080"/>
          </a:xfrm>
          <a:prstGeom prst="rect">
            <a:avLst/>
          </a:prstGeom>
          <a:noFill/>
          <a:ln/>
        </p:spPr>
        <p:txBody>
          <a:bodyPr wrap="square" lIns="0" tIns="0" rIns="0" bIns="0" rtlCol="0" anchor="ctr"/>
          <a:lstStyle/>
          <a:p>
            <a:pPr marL="0" indent="0" algn="ctr">
              <a:buNone/>
            </a:pPr>
            <a:r>
              <a:rPr lang="en-US" sz="3800" b="1" dirty="0">
                <a:solidFill>
                  <a:srgbClr val="F97316"/>
                </a:solidFill>
                <a:latin typeface="Calibri" pitchFamily="34" charset="0"/>
                <a:ea typeface="Calibri" pitchFamily="34" charset="-122"/>
                <a:cs typeface="Calibri" pitchFamily="34" charset="-120"/>
              </a:rPr>
              <a:t>→</a:t>
            </a:r>
            <a:endParaRPr lang="en-US" sz="3800" dirty="0"/>
          </a:p>
        </p:txBody>
      </p:sp>
      <p:sp>
        <p:nvSpPr>
          <p:cNvPr id="10" name="Shape 8"/>
          <p:cNvSpPr/>
          <p:nvPr/>
        </p:nvSpPr>
        <p:spPr>
          <a:xfrm>
            <a:off x="4572000" y="4572000"/>
            <a:ext cx="2834640" cy="1508760"/>
          </a:xfrm>
          <a:prstGeom prst="roundRect">
            <a:avLst>
              <a:gd name="adj" fmla="val 12121"/>
            </a:avLst>
          </a:prstGeom>
          <a:solidFill>
            <a:srgbClr val="F97316"/>
          </a:solidFill>
          <a:ln w="12700">
            <a:solidFill>
              <a:srgbClr val="F97316"/>
            </a:solidFill>
            <a:prstDash val="solid"/>
          </a:ln>
        </p:spPr>
      </p:sp>
      <p:sp>
        <p:nvSpPr>
          <p:cNvPr id="11" name="Text 9"/>
          <p:cNvSpPr txBox="1"/>
          <p:nvPr/>
        </p:nvSpPr>
        <p:spPr>
          <a:xfrm>
            <a:off x="4572000" y="4572000"/>
            <a:ext cx="2834640" cy="1508760"/>
          </a:xfrm>
          <a:prstGeom prst="rect">
            <a:avLst/>
          </a:prstGeom>
          <a:noFill/>
          <a:ln/>
        </p:spPr>
        <p:txBody>
          <a:bodyPr wrap="square" lIns="0" tIns="0" rIns="0" bIns="0" rtlCol="0" anchor="ctr"/>
          <a:lstStyle/>
          <a:p>
            <a:pPr marL="0" indent="0" algn="ctr">
              <a:buNone/>
            </a:pPr>
            <a:r>
              <a:rPr lang="en-US" sz="3400" b="1" dirty="0">
                <a:solidFill>
                  <a:srgbClr val="10201C"/>
                </a:solidFill>
                <a:latin typeface="Calibri" pitchFamily="34" charset="0"/>
                <a:ea typeface="Calibri" pitchFamily="34" charset="-122"/>
                <a:cs typeface="Calibri" pitchFamily="34" charset="-120"/>
              </a:rPr>
              <a:t>HELLO</a:t>
            </a:r>
            <a:endParaRPr lang="en-US" sz="1800" dirty="0"/>
          </a:p>
          <a:p>
            <a:pPr marL="0" indent="0" algn="ctr">
              <a:buNone/>
            </a:pPr>
            <a:r>
              <a:rPr lang="en-US" sz="1800" b="1" dirty="0">
                <a:solidFill>
                  <a:srgbClr val="10201C"/>
                </a:solidFill>
                <a:latin typeface="Calibri" pitchFamily="34" charset="0"/>
                <a:ea typeface="Calibri" pitchFamily="34" charset="-122"/>
                <a:cs typeface="Calibri" pitchFamily="34" charset="-120"/>
              </a:rPr>
              <a:t>One structured system</a:t>
            </a:r>
            <a:endParaRPr lang="en-US" sz="1800" dirty="0"/>
          </a:p>
        </p:txBody>
      </p:sp>
      <p:sp>
        <p:nvSpPr>
          <p:cNvPr id="12" name="Text 10"/>
          <p:cNvSpPr txBox="1"/>
          <p:nvPr/>
        </p:nvSpPr>
        <p:spPr>
          <a:xfrm>
            <a:off x="7406640" y="5029200"/>
            <a:ext cx="594360" cy="640080"/>
          </a:xfrm>
          <a:prstGeom prst="rect">
            <a:avLst/>
          </a:prstGeom>
          <a:noFill/>
          <a:ln/>
        </p:spPr>
        <p:txBody>
          <a:bodyPr wrap="square" lIns="0" tIns="0" rIns="0" bIns="0" rtlCol="0" anchor="ctr"/>
          <a:lstStyle/>
          <a:p>
            <a:pPr marL="0" indent="0" algn="ctr">
              <a:buNone/>
            </a:pPr>
            <a:r>
              <a:rPr lang="en-US" sz="3800" b="1" dirty="0">
                <a:solidFill>
                  <a:srgbClr val="F97316"/>
                </a:solidFill>
                <a:latin typeface="Calibri" pitchFamily="34" charset="0"/>
                <a:ea typeface="Calibri" pitchFamily="34" charset="-122"/>
                <a:cs typeface="Calibri" pitchFamily="34" charset="-120"/>
              </a:rPr>
              <a:t>→</a:t>
            </a:r>
            <a:endParaRPr lang="en-US" sz="3800" dirty="0"/>
          </a:p>
        </p:txBody>
      </p:sp>
      <p:sp>
        <p:nvSpPr>
          <p:cNvPr id="13" name="Shape 11"/>
          <p:cNvSpPr/>
          <p:nvPr/>
        </p:nvSpPr>
        <p:spPr>
          <a:xfrm>
            <a:off x="8001000" y="4572000"/>
            <a:ext cx="3639312" cy="1508760"/>
          </a:xfrm>
          <a:prstGeom prst="roundRect">
            <a:avLst>
              <a:gd name="adj" fmla="val 12121"/>
            </a:avLst>
          </a:prstGeom>
          <a:solidFill>
            <a:srgbClr val="17795A"/>
          </a:solidFill>
          <a:ln w="12700">
            <a:solidFill>
              <a:srgbClr val="17795A"/>
            </a:solidFill>
            <a:prstDash val="solid"/>
          </a:ln>
        </p:spPr>
      </p:sp>
      <p:sp>
        <p:nvSpPr>
          <p:cNvPr id="14" name="Text 12"/>
          <p:cNvSpPr txBox="1"/>
          <p:nvPr/>
        </p:nvSpPr>
        <p:spPr>
          <a:xfrm>
            <a:off x="8275320" y="4754880"/>
            <a:ext cx="3200400" cy="1188720"/>
          </a:xfrm>
          <a:prstGeom prst="rect">
            <a:avLst/>
          </a:prstGeom>
          <a:noFill/>
          <a:ln/>
        </p:spPr>
        <p:txBody>
          <a:bodyPr wrap="square" lIns="0" tIns="0" rIns="0" bIns="0" rtlCol="0" anchor="t"/>
          <a:lstStyle/>
          <a:p>
            <a:pPr marL="0" indent="0">
              <a:spcAft>
                <a:spcPts val="500"/>
              </a:spcAft>
              <a:buNone/>
            </a:pPr>
            <a:r>
              <a:rPr lang="en-US" sz="1600" b="1" dirty="0">
                <a:solidFill>
                  <a:srgbClr val="E2F3EA"/>
                </a:solidFill>
                <a:latin typeface="Calibri" pitchFamily="34" charset="0"/>
                <a:ea typeface="Calibri" pitchFamily="34" charset="-122"/>
                <a:cs typeface="Calibri" pitchFamily="34" charset="-120"/>
              </a:rPr>
              <a:t>With Hello</a:t>
            </a:r>
            <a:endParaRPr lang="en-US" sz="1800" dirty="0"/>
          </a:p>
          <a:p>
            <a:pPr marL="0" indent="0">
              <a:spcAft>
                <a:spcPts val="500"/>
              </a:spcAft>
              <a:buNone/>
            </a:pPr>
            <a:r>
              <a:rPr lang="en-US" sz="2400" dirty="0">
                <a:solidFill>
                  <a:srgbClr val="FFFFFF"/>
                </a:solidFill>
                <a:latin typeface="Calibri" pitchFamily="34" charset="0"/>
                <a:ea typeface="Calibri" pitchFamily="34" charset="-122"/>
                <a:cs typeface="Calibri" pitchFamily="34" charset="-120"/>
              </a:rPr>
              <a:t>An organized workforce</a:t>
            </a:r>
            <a:endParaRPr lang="en-US" sz="1800" dirty="0"/>
          </a:p>
        </p:txBody>
      </p:sp>
      <p:sp>
        <p:nvSpPr>
          <p:cNvPr id="15" name="Text 13"/>
          <p:cNvSpPr txBox="1"/>
          <p:nvPr/>
        </p:nvSpPr>
        <p:spPr>
          <a:xfrm>
            <a:off x="548640" y="6400800"/>
            <a:ext cx="3657600" cy="274320"/>
          </a:xfrm>
          <a:prstGeom prst="rect">
            <a:avLst/>
          </a:prstGeom>
          <a:noFill/>
          <a:ln/>
        </p:spPr>
        <p:txBody>
          <a:bodyPr wrap="square" lIns="0" tIns="0" rIns="0" bIns="0" rtlCol="0" anchor="t"/>
          <a:lstStyle/>
          <a:p>
            <a:pPr marL="0" indent="0">
              <a:buNone/>
            </a:pPr>
            <a:r>
              <a:rPr lang="en-US" sz="1400" b="1" dirty="0">
                <a:solidFill>
                  <a:srgbClr val="CFE3DB"/>
                </a:solidFill>
                <a:latin typeface="Calibri" pitchFamily="34" charset="0"/>
                <a:ea typeface="Calibri" pitchFamily="34" charset="-122"/>
                <a:cs typeface="Calibri" pitchFamily="34" charset="-120"/>
              </a:rPr>
              <a:t>Team NEXUS</a:t>
            </a:r>
            <a:endParaRPr lang="en-US" sz="1400" dirty="0"/>
          </a:p>
        </p:txBody>
      </p:sp>
    </p:spTree>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68680"/>
          </a:xfrm>
          <a:prstGeom prst="rect">
            <a:avLst/>
          </a:prstGeom>
          <a:noFill/>
          <a:ln/>
        </p:spPr>
        <p:txBody>
          <a:bodyPr wrap="square" lIns="0" tIns="0" rIns="0" bIns="0" rtlCol="0" anchor="ctr"/>
          <a:lstStyle/>
          <a:p>
            <a:pPr marL="0" indent="0" algn="l">
              <a:buNone/>
            </a:pPr>
            <a:r>
              <a:rPr lang="en-US" sz="3800" b="1" dirty="0">
                <a:solidFill>
                  <a:srgbClr val="10201C"/>
                </a:solidFill>
                <a:latin typeface="Calibri" pitchFamily="34" charset="0"/>
                <a:ea typeface="Calibri" pitchFamily="34" charset="-122"/>
                <a:cs typeface="Calibri" pitchFamily="34" charset="-120"/>
              </a:rPr>
              <a:t>Managing labour is a daily puzzle</a:t>
            </a:r>
            <a:endParaRPr lang="en-US" sz="3800" dirty="0"/>
          </a:p>
        </p:txBody>
      </p:sp>
      <p:sp>
        <p:nvSpPr>
          <p:cNvPr id="4" name="Shape 1"/>
          <p:cNvSpPr/>
          <p:nvPr/>
        </p:nvSpPr>
        <p:spPr>
          <a:xfrm>
            <a:off x="548640" y="1417320"/>
            <a:ext cx="3544824" cy="1417320"/>
          </a:xfrm>
          <a:prstGeom prst="roundRect">
            <a:avLst>
              <a:gd name="adj" fmla="val 9032"/>
            </a:avLst>
          </a:prstGeom>
          <a:solidFill>
            <a:srgbClr val="FFFFFF"/>
          </a:solidFill>
          <a:ln w="12700">
            <a:solidFill>
              <a:srgbClr val="CFE0D6"/>
            </a:solidFill>
            <a:prstDash val="solid"/>
          </a:ln>
        </p:spPr>
      </p:sp>
      <p:sp>
        <p:nvSpPr>
          <p:cNvPr id="5" name="Text 2"/>
          <p:cNvSpPr txBox="1"/>
          <p:nvPr/>
        </p:nvSpPr>
        <p:spPr>
          <a:xfrm>
            <a:off x="804672" y="1600200"/>
            <a:ext cx="3032760" cy="1097280"/>
          </a:xfrm>
          <a:prstGeom prst="rect">
            <a:avLst/>
          </a:prstGeom>
          <a:noFill/>
          <a:ln/>
        </p:spPr>
        <p:txBody>
          <a:bodyPr wrap="square" lIns="0" tIns="0" rIns="0" bIns="0" rtlCol="0" anchor="t"/>
          <a:lstStyle/>
          <a:p>
            <a:pPr marL="0" indent="0">
              <a:spcAft>
                <a:spcPts val="500"/>
              </a:spcAft>
              <a:buNone/>
            </a:pPr>
            <a:r>
              <a:rPr lang="en-US" sz="2200" b="1" dirty="0">
                <a:solidFill>
                  <a:srgbClr val="17795A"/>
                </a:solidFill>
                <a:latin typeface="Calibri" pitchFamily="34" charset="0"/>
                <a:ea typeface="Calibri" pitchFamily="34" charset="-122"/>
                <a:cs typeface="Calibri" pitchFamily="34" charset="-120"/>
              </a:rPr>
              <a:t>Finding workers</a:t>
            </a:r>
            <a:endParaRPr lang="en-US" sz="1800" dirty="0"/>
          </a:p>
          <a:p>
            <a:pPr marL="0" indent="0">
              <a:spcAft>
                <a:spcPts val="500"/>
              </a:spcAft>
              <a:buNone/>
            </a:pPr>
            <a:r>
              <a:rPr lang="en-US" sz="1900" dirty="0">
                <a:solidFill>
                  <a:srgbClr val="1B3A33"/>
                </a:solidFill>
                <a:latin typeface="Calibri" pitchFamily="34" charset="0"/>
                <a:ea typeface="Calibri" pitchFamily="34" charset="-122"/>
                <a:cs typeface="Calibri" pitchFamily="34" charset="-120"/>
              </a:rPr>
              <a:t>The right number of workers, with the right skills.</a:t>
            </a:r>
            <a:endParaRPr lang="en-US" sz="1800" dirty="0"/>
          </a:p>
        </p:txBody>
      </p:sp>
      <p:sp>
        <p:nvSpPr>
          <p:cNvPr id="6" name="Shape 3"/>
          <p:cNvSpPr/>
          <p:nvPr/>
        </p:nvSpPr>
        <p:spPr>
          <a:xfrm>
            <a:off x="4322064" y="1417320"/>
            <a:ext cx="3544824" cy="1417320"/>
          </a:xfrm>
          <a:prstGeom prst="roundRect">
            <a:avLst>
              <a:gd name="adj" fmla="val 9032"/>
            </a:avLst>
          </a:prstGeom>
          <a:solidFill>
            <a:srgbClr val="FFFFFF"/>
          </a:solidFill>
          <a:ln w="12700">
            <a:solidFill>
              <a:srgbClr val="CFE0D6"/>
            </a:solidFill>
            <a:prstDash val="solid"/>
          </a:ln>
        </p:spPr>
      </p:sp>
      <p:sp>
        <p:nvSpPr>
          <p:cNvPr id="7" name="Text 4"/>
          <p:cNvSpPr txBox="1"/>
          <p:nvPr/>
        </p:nvSpPr>
        <p:spPr>
          <a:xfrm>
            <a:off x="4578096" y="1600200"/>
            <a:ext cx="3032760" cy="1097280"/>
          </a:xfrm>
          <a:prstGeom prst="rect">
            <a:avLst/>
          </a:prstGeom>
          <a:noFill/>
          <a:ln/>
        </p:spPr>
        <p:txBody>
          <a:bodyPr wrap="square" lIns="0" tIns="0" rIns="0" bIns="0" rtlCol="0" anchor="t"/>
          <a:lstStyle/>
          <a:p>
            <a:pPr marL="0" indent="0">
              <a:spcAft>
                <a:spcPts val="500"/>
              </a:spcAft>
              <a:buNone/>
            </a:pPr>
            <a:r>
              <a:rPr lang="en-US" sz="2200" b="1" dirty="0">
                <a:solidFill>
                  <a:srgbClr val="17795A"/>
                </a:solidFill>
                <a:latin typeface="Calibri" pitchFamily="34" charset="0"/>
                <a:ea typeface="Calibri" pitchFamily="34" charset="-122"/>
                <a:cs typeface="Calibri" pitchFamily="34" charset="-120"/>
              </a:rPr>
              <a:t>Workforce organization</a:t>
            </a:r>
            <a:endParaRPr lang="en-US" sz="1800" dirty="0"/>
          </a:p>
          <a:p>
            <a:pPr marL="0" indent="0">
              <a:spcAft>
                <a:spcPts val="500"/>
              </a:spcAft>
              <a:buNone/>
            </a:pPr>
            <a:r>
              <a:rPr lang="en-US" sz="1900" dirty="0">
                <a:solidFill>
                  <a:srgbClr val="1B3A33"/>
                </a:solidFill>
                <a:latin typeface="Calibri" pitchFamily="34" charset="0"/>
                <a:ea typeface="Calibri" pitchFamily="34" charset="-122"/>
                <a:cs typeface="Calibri" pitchFamily="34" charset="-120"/>
              </a:rPr>
              <a:t>Workers spread across different projects and sites.</a:t>
            </a:r>
            <a:endParaRPr lang="en-US" sz="1800" dirty="0"/>
          </a:p>
        </p:txBody>
      </p:sp>
      <p:sp>
        <p:nvSpPr>
          <p:cNvPr id="8" name="Shape 5"/>
          <p:cNvSpPr/>
          <p:nvPr/>
        </p:nvSpPr>
        <p:spPr>
          <a:xfrm>
            <a:off x="8095488" y="1417320"/>
            <a:ext cx="3544824" cy="1417320"/>
          </a:xfrm>
          <a:prstGeom prst="roundRect">
            <a:avLst>
              <a:gd name="adj" fmla="val 9032"/>
            </a:avLst>
          </a:prstGeom>
          <a:solidFill>
            <a:srgbClr val="FFFFFF"/>
          </a:solidFill>
          <a:ln w="12700">
            <a:solidFill>
              <a:srgbClr val="CFE0D6"/>
            </a:solidFill>
            <a:prstDash val="solid"/>
          </a:ln>
        </p:spPr>
      </p:sp>
      <p:sp>
        <p:nvSpPr>
          <p:cNvPr id="9" name="Text 6"/>
          <p:cNvSpPr txBox="1"/>
          <p:nvPr/>
        </p:nvSpPr>
        <p:spPr>
          <a:xfrm>
            <a:off x="8351520" y="1600200"/>
            <a:ext cx="3032760" cy="1097280"/>
          </a:xfrm>
          <a:prstGeom prst="rect">
            <a:avLst/>
          </a:prstGeom>
          <a:noFill/>
          <a:ln/>
        </p:spPr>
        <p:txBody>
          <a:bodyPr wrap="square" lIns="0" tIns="0" rIns="0" bIns="0" rtlCol="0" anchor="t"/>
          <a:lstStyle/>
          <a:p>
            <a:pPr marL="0" indent="0">
              <a:spcAft>
                <a:spcPts val="500"/>
              </a:spcAft>
              <a:buNone/>
            </a:pPr>
            <a:r>
              <a:rPr lang="en-US" sz="2200" b="1" dirty="0">
                <a:solidFill>
                  <a:srgbClr val="17795A"/>
                </a:solidFill>
                <a:latin typeface="Calibri" pitchFamily="34" charset="0"/>
                <a:ea typeface="Calibri" pitchFamily="34" charset="-122"/>
                <a:cs typeface="Calibri" pitchFamily="34" charset="-120"/>
              </a:rPr>
              <a:t>Availability uncertainty</a:t>
            </a:r>
            <a:endParaRPr lang="en-US" sz="1800" dirty="0"/>
          </a:p>
          <a:p>
            <a:pPr marL="0" indent="0">
              <a:spcAft>
                <a:spcPts val="500"/>
              </a:spcAft>
              <a:buNone/>
            </a:pPr>
            <a:r>
              <a:rPr lang="en-US" sz="1900" dirty="0">
                <a:solidFill>
                  <a:srgbClr val="1B3A33"/>
                </a:solidFill>
                <a:latin typeface="Calibri" pitchFamily="34" charset="0"/>
                <a:ea typeface="Calibri" pitchFamily="34" charset="-122"/>
                <a:cs typeface="Calibri" pitchFamily="34" charset="-120"/>
              </a:rPr>
              <a:t>A worker accepts, then becomes unavailable later.</a:t>
            </a:r>
            <a:endParaRPr lang="en-US" sz="1800" dirty="0"/>
          </a:p>
        </p:txBody>
      </p:sp>
      <p:sp>
        <p:nvSpPr>
          <p:cNvPr id="10" name="Shape 7"/>
          <p:cNvSpPr/>
          <p:nvPr/>
        </p:nvSpPr>
        <p:spPr>
          <a:xfrm>
            <a:off x="548640" y="3017520"/>
            <a:ext cx="3544824" cy="1417320"/>
          </a:xfrm>
          <a:prstGeom prst="roundRect">
            <a:avLst>
              <a:gd name="adj" fmla="val 9032"/>
            </a:avLst>
          </a:prstGeom>
          <a:solidFill>
            <a:srgbClr val="FFFFFF"/>
          </a:solidFill>
          <a:ln w="12700">
            <a:solidFill>
              <a:srgbClr val="CFE0D6"/>
            </a:solidFill>
            <a:prstDash val="solid"/>
          </a:ln>
        </p:spPr>
      </p:sp>
      <p:sp>
        <p:nvSpPr>
          <p:cNvPr id="11" name="Text 8"/>
          <p:cNvSpPr txBox="1"/>
          <p:nvPr/>
        </p:nvSpPr>
        <p:spPr>
          <a:xfrm>
            <a:off x="804672" y="3200400"/>
            <a:ext cx="3032760" cy="1097280"/>
          </a:xfrm>
          <a:prstGeom prst="rect">
            <a:avLst/>
          </a:prstGeom>
          <a:noFill/>
          <a:ln/>
        </p:spPr>
        <p:txBody>
          <a:bodyPr wrap="square" lIns="0" tIns="0" rIns="0" bIns="0" rtlCol="0" anchor="t"/>
          <a:lstStyle/>
          <a:p>
            <a:pPr marL="0" indent="0">
              <a:spcAft>
                <a:spcPts val="500"/>
              </a:spcAft>
              <a:buNone/>
            </a:pPr>
            <a:r>
              <a:rPr lang="en-US" sz="2200" b="1" dirty="0">
                <a:solidFill>
                  <a:srgbClr val="17795A"/>
                </a:solidFill>
                <a:latin typeface="Calibri" pitchFamily="34" charset="0"/>
                <a:ea typeface="Calibri" pitchFamily="34" charset="-122"/>
                <a:cs typeface="Calibri" pitchFamily="34" charset="-120"/>
              </a:rPr>
              <a:t>Scattered communication</a:t>
            </a:r>
            <a:endParaRPr lang="en-US" sz="1800" dirty="0"/>
          </a:p>
          <a:p>
            <a:pPr marL="0" indent="0">
              <a:spcAft>
                <a:spcPts val="500"/>
              </a:spcAft>
              <a:buNone/>
            </a:pPr>
            <a:r>
              <a:rPr lang="en-US" sz="1900" dirty="0">
                <a:solidFill>
                  <a:srgbClr val="1B3A33"/>
                </a:solidFill>
                <a:latin typeface="Calibri" pitchFamily="34" charset="0"/>
                <a:ea typeface="Calibri" pitchFamily="34" charset="-122"/>
                <a:cs typeface="Calibri" pitchFamily="34" charset="-120"/>
              </a:rPr>
              <a:t>Information lives in calls, WhatsApp and messages.</a:t>
            </a:r>
            <a:endParaRPr lang="en-US" sz="1800" dirty="0"/>
          </a:p>
        </p:txBody>
      </p:sp>
      <p:sp>
        <p:nvSpPr>
          <p:cNvPr id="12" name="Shape 9"/>
          <p:cNvSpPr/>
          <p:nvPr/>
        </p:nvSpPr>
        <p:spPr>
          <a:xfrm>
            <a:off x="4322064" y="3017520"/>
            <a:ext cx="3544824" cy="1417320"/>
          </a:xfrm>
          <a:prstGeom prst="roundRect">
            <a:avLst>
              <a:gd name="adj" fmla="val 9032"/>
            </a:avLst>
          </a:prstGeom>
          <a:solidFill>
            <a:srgbClr val="FFFFFF"/>
          </a:solidFill>
          <a:ln w="12700">
            <a:solidFill>
              <a:srgbClr val="CFE0D6"/>
            </a:solidFill>
            <a:prstDash val="solid"/>
          </a:ln>
        </p:spPr>
      </p:sp>
      <p:sp>
        <p:nvSpPr>
          <p:cNvPr id="13" name="Text 10"/>
          <p:cNvSpPr txBox="1"/>
          <p:nvPr/>
        </p:nvSpPr>
        <p:spPr>
          <a:xfrm>
            <a:off x="4578096" y="3200400"/>
            <a:ext cx="3032760" cy="1097280"/>
          </a:xfrm>
          <a:prstGeom prst="rect">
            <a:avLst/>
          </a:prstGeom>
          <a:noFill/>
          <a:ln/>
        </p:spPr>
        <p:txBody>
          <a:bodyPr wrap="square" lIns="0" tIns="0" rIns="0" bIns="0" rtlCol="0" anchor="t"/>
          <a:lstStyle/>
          <a:p>
            <a:pPr marL="0" indent="0">
              <a:spcAft>
                <a:spcPts val="500"/>
              </a:spcAft>
              <a:buNone/>
            </a:pPr>
            <a:r>
              <a:rPr lang="en-US" sz="2200" b="1" dirty="0">
                <a:solidFill>
                  <a:srgbClr val="17795A"/>
                </a:solidFill>
                <a:latin typeface="Calibri" pitchFamily="34" charset="0"/>
                <a:ea typeface="Calibri" pitchFamily="34" charset="-122"/>
                <a:cs typeface="Calibri" pitchFamily="34" charset="-120"/>
              </a:rPr>
              <a:t>Manual records</a:t>
            </a:r>
            <a:endParaRPr lang="en-US" sz="1800" dirty="0"/>
          </a:p>
          <a:p>
            <a:pPr marL="0" indent="0">
              <a:spcAft>
                <a:spcPts val="500"/>
              </a:spcAft>
              <a:buNone/>
            </a:pPr>
            <a:r>
              <a:rPr lang="en-US" sz="1900" dirty="0">
                <a:solidFill>
                  <a:srgbClr val="1B3A33"/>
                </a:solidFill>
                <a:latin typeface="Calibri" pitchFamily="34" charset="0"/>
                <a:ea typeface="Calibri" pitchFamily="34" charset="-122"/>
                <a:cs typeface="Calibri" pitchFamily="34" charset="-120"/>
              </a:rPr>
              <a:t>Worker details, assignments and history kept by hand.</a:t>
            </a:r>
            <a:endParaRPr lang="en-US" sz="1800" dirty="0"/>
          </a:p>
        </p:txBody>
      </p:sp>
      <p:sp>
        <p:nvSpPr>
          <p:cNvPr id="14" name="Shape 11"/>
          <p:cNvSpPr/>
          <p:nvPr/>
        </p:nvSpPr>
        <p:spPr>
          <a:xfrm>
            <a:off x="8095488" y="3017520"/>
            <a:ext cx="3544824" cy="1417320"/>
          </a:xfrm>
          <a:prstGeom prst="roundRect">
            <a:avLst>
              <a:gd name="adj" fmla="val 9032"/>
            </a:avLst>
          </a:prstGeom>
          <a:solidFill>
            <a:srgbClr val="FFFFFF"/>
          </a:solidFill>
          <a:ln w="12700">
            <a:solidFill>
              <a:srgbClr val="CFE0D6"/>
            </a:solidFill>
            <a:prstDash val="solid"/>
          </a:ln>
        </p:spPr>
      </p:sp>
      <p:sp>
        <p:nvSpPr>
          <p:cNvPr id="15" name="Text 12"/>
          <p:cNvSpPr txBox="1"/>
          <p:nvPr/>
        </p:nvSpPr>
        <p:spPr>
          <a:xfrm>
            <a:off x="8351520" y="3200400"/>
            <a:ext cx="3032760" cy="1097280"/>
          </a:xfrm>
          <a:prstGeom prst="rect">
            <a:avLst/>
          </a:prstGeom>
          <a:noFill/>
          <a:ln/>
        </p:spPr>
        <p:txBody>
          <a:bodyPr wrap="square" lIns="0" tIns="0" rIns="0" bIns="0" rtlCol="0" anchor="t"/>
          <a:lstStyle/>
          <a:p>
            <a:pPr marL="0" indent="0">
              <a:spcAft>
                <a:spcPts val="500"/>
              </a:spcAft>
              <a:buNone/>
            </a:pPr>
            <a:r>
              <a:rPr lang="en-US" sz="2200" b="1" dirty="0">
                <a:solidFill>
                  <a:srgbClr val="17795A"/>
                </a:solidFill>
                <a:latin typeface="Calibri" pitchFamily="34" charset="0"/>
                <a:ea typeface="Calibri" pitchFamily="34" charset="-122"/>
                <a:cs typeface="Calibri" pitchFamily="34" charset="-120"/>
              </a:rPr>
              <a:t>Repeated hiring</a:t>
            </a:r>
            <a:endParaRPr lang="en-US" sz="1800" dirty="0"/>
          </a:p>
          <a:p>
            <a:pPr marL="0" indent="0">
              <a:spcAft>
                <a:spcPts val="500"/>
              </a:spcAft>
              <a:buNone/>
            </a:pPr>
            <a:r>
              <a:rPr lang="en-US" sz="1900" dirty="0">
                <a:solidFill>
                  <a:srgbClr val="1B3A33"/>
                </a:solidFill>
                <a:latin typeface="Calibri" pitchFamily="34" charset="0"/>
                <a:ea typeface="Calibri" pitchFamily="34" charset="-122"/>
                <a:cs typeface="Calibri" pitchFamily="34" charset="-120"/>
              </a:rPr>
              <a:t>Searching again and again with no workforce database.</a:t>
            </a:r>
            <a:endParaRPr lang="en-US" sz="1800" dirty="0"/>
          </a:p>
        </p:txBody>
      </p:sp>
      <p:sp>
        <p:nvSpPr>
          <p:cNvPr id="16" name="Shape 13"/>
          <p:cNvSpPr/>
          <p:nvPr/>
        </p:nvSpPr>
        <p:spPr>
          <a:xfrm>
            <a:off x="548640" y="4754880"/>
            <a:ext cx="2331720" cy="384048"/>
          </a:xfrm>
          <a:prstGeom prst="roundRect">
            <a:avLst>
              <a:gd name="adj" fmla="val 50000"/>
            </a:avLst>
          </a:prstGeom>
          <a:solidFill>
            <a:srgbClr val="FFE8D1"/>
          </a:solidFill>
          <a:ln w="12700">
            <a:solidFill>
              <a:srgbClr val="FFE8D1"/>
            </a:solidFill>
            <a:prstDash val="solid"/>
          </a:ln>
        </p:spPr>
      </p:sp>
      <p:sp>
        <p:nvSpPr>
          <p:cNvPr id="17" name="Text 14"/>
          <p:cNvSpPr txBox="1"/>
          <p:nvPr/>
        </p:nvSpPr>
        <p:spPr>
          <a:xfrm>
            <a:off x="548640" y="4754880"/>
            <a:ext cx="2331720" cy="384048"/>
          </a:xfrm>
          <a:prstGeom prst="rect">
            <a:avLst/>
          </a:prstGeom>
          <a:noFill/>
          <a:ln/>
        </p:spPr>
        <p:txBody>
          <a:bodyPr wrap="square" lIns="0" tIns="0" rIns="0" bIns="0" rtlCol="0" anchor="ctr"/>
          <a:lstStyle/>
          <a:p>
            <a:pPr marL="0" indent="0" algn="ctr">
              <a:buNone/>
            </a:pPr>
            <a:r>
              <a:rPr lang="en-US" sz="1600" b="1" dirty="0">
                <a:solidFill>
                  <a:srgbClr val="7A3300"/>
                </a:solidFill>
                <a:latin typeface="Calibri" pitchFamily="34" charset="0"/>
                <a:ea typeface="Calibri" pitchFamily="34" charset="-122"/>
                <a:cs typeface="Calibri" pitchFamily="34" charset="-120"/>
              </a:rPr>
              <a:t>More coordination</a:t>
            </a:r>
            <a:endParaRPr lang="en-US" sz="1600" dirty="0"/>
          </a:p>
        </p:txBody>
      </p:sp>
      <p:sp>
        <p:nvSpPr>
          <p:cNvPr id="18" name="Text 15"/>
          <p:cNvSpPr txBox="1"/>
          <p:nvPr/>
        </p:nvSpPr>
        <p:spPr>
          <a:xfrm>
            <a:off x="2880360" y="4709160"/>
            <a:ext cx="640080" cy="457200"/>
          </a:xfrm>
          <a:prstGeom prst="rect">
            <a:avLst/>
          </a:prstGeom>
          <a:noFill/>
          <a:ln/>
        </p:spPr>
        <p:txBody>
          <a:bodyPr wrap="square" lIns="0" tIns="0" rIns="0" bIns="0" rtlCol="0" anchor="ctr"/>
          <a:lstStyle/>
          <a:p>
            <a:pPr marL="0" indent="0" algn="ctr">
              <a:buNone/>
            </a:pPr>
            <a:r>
              <a:rPr lang="en-US" sz="2400" b="1" dirty="0">
                <a:solidFill>
                  <a:srgbClr val="F97316"/>
                </a:solidFill>
                <a:latin typeface="Calibri" pitchFamily="34" charset="0"/>
                <a:ea typeface="Calibri" pitchFamily="34" charset="-122"/>
                <a:cs typeface="Calibri" pitchFamily="34" charset="-120"/>
              </a:rPr>
              <a:t>→</a:t>
            </a:r>
            <a:endParaRPr lang="en-US" sz="2400" dirty="0"/>
          </a:p>
        </p:txBody>
      </p:sp>
      <p:sp>
        <p:nvSpPr>
          <p:cNvPr id="19" name="Shape 16"/>
          <p:cNvSpPr/>
          <p:nvPr/>
        </p:nvSpPr>
        <p:spPr>
          <a:xfrm>
            <a:off x="3520440" y="4754880"/>
            <a:ext cx="2331720" cy="384048"/>
          </a:xfrm>
          <a:prstGeom prst="roundRect">
            <a:avLst>
              <a:gd name="adj" fmla="val 50000"/>
            </a:avLst>
          </a:prstGeom>
          <a:solidFill>
            <a:srgbClr val="FFE8D1"/>
          </a:solidFill>
          <a:ln w="12700">
            <a:solidFill>
              <a:srgbClr val="FFE8D1"/>
            </a:solidFill>
            <a:prstDash val="solid"/>
          </a:ln>
        </p:spPr>
      </p:sp>
      <p:sp>
        <p:nvSpPr>
          <p:cNvPr id="20" name="Text 17"/>
          <p:cNvSpPr txBox="1"/>
          <p:nvPr/>
        </p:nvSpPr>
        <p:spPr>
          <a:xfrm>
            <a:off x="3520440" y="4754880"/>
            <a:ext cx="2331720" cy="384048"/>
          </a:xfrm>
          <a:prstGeom prst="rect">
            <a:avLst/>
          </a:prstGeom>
          <a:noFill/>
          <a:ln/>
        </p:spPr>
        <p:txBody>
          <a:bodyPr wrap="square" lIns="0" tIns="0" rIns="0" bIns="0" rtlCol="0" anchor="ctr"/>
          <a:lstStyle/>
          <a:p>
            <a:pPr marL="0" indent="0" algn="ctr">
              <a:buNone/>
            </a:pPr>
            <a:r>
              <a:rPr lang="en-US" sz="1600" b="1" dirty="0">
                <a:solidFill>
                  <a:srgbClr val="7A3300"/>
                </a:solidFill>
                <a:latin typeface="Calibri" pitchFamily="34" charset="0"/>
                <a:ea typeface="Calibri" pitchFamily="34" charset="-122"/>
                <a:cs typeface="Calibri" pitchFamily="34" charset="-120"/>
              </a:rPr>
              <a:t>More manual work</a:t>
            </a:r>
            <a:endParaRPr lang="en-US" sz="1600" dirty="0"/>
          </a:p>
        </p:txBody>
      </p:sp>
      <p:sp>
        <p:nvSpPr>
          <p:cNvPr id="21" name="Text 18"/>
          <p:cNvSpPr txBox="1"/>
          <p:nvPr/>
        </p:nvSpPr>
        <p:spPr>
          <a:xfrm>
            <a:off x="5852160" y="4709160"/>
            <a:ext cx="640080" cy="457200"/>
          </a:xfrm>
          <a:prstGeom prst="rect">
            <a:avLst/>
          </a:prstGeom>
          <a:noFill/>
          <a:ln/>
        </p:spPr>
        <p:txBody>
          <a:bodyPr wrap="square" lIns="0" tIns="0" rIns="0" bIns="0" rtlCol="0" anchor="ctr"/>
          <a:lstStyle/>
          <a:p>
            <a:pPr marL="0" indent="0" algn="ctr">
              <a:buNone/>
            </a:pPr>
            <a:r>
              <a:rPr lang="en-US" sz="2400" b="1" dirty="0">
                <a:solidFill>
                  <a:srgbClr val="F97316"/>
                </a:solidFill>
                <a:latin typeface="Calibri" pitchFamily="34" charset="0"/>
                <a:ea typeface="Calibri" pitchFamily="34" charset="-122"/>
                <a:cs typeface="Calibri" pitchFamily="34" charset="-120"/>
              </a:rPr>
              <a:t>→</a:t>
            </a:r>
            <a:endParaRPr lang="en-US" sz="2400" dirty="0"/>
          </a:p>
        </p:txBody>
      </p:sp>
      <p:sp>
        <p:nvSpPr>
          <p:cNvPr id="22" name="Shape 19"/>
          <p:cNvSpPr/>
          <p:nvPr/>
        </p:nvSpPr>
        <p:spPr>
          <a:xfrm>
            <a:off x="6492240" y="4754880"/>
            <a:ext cx="2331720" cy="384048"/>
          </a:xfrm>
          <a:prstGeom prst="roundRect">
            <a:avLst>
              <a:gd name="adj" fmla="val 50000"/>
            </a:avLst>
          </a:prstGeom>
          <a:solidFill>
            <a:srgbClr val="FFE8D1"/>
          </a:solidFill>
          <a:ln w="12700">
            <a:solidFill>
              <a:srgbClr val="FFE8D1"/>
            </a:solidFill>
            <a:prstDash val="solid"/>
          </a:ln>
        </p:spPr>
      </p:sp>
      <p:sp>
        <p:nvSpPr>
          <p:cNvPr id="23" name="Text 20"/>
          <p:cNvSpPr txBox="1"/>
          <p:nvPr/>
        </p:nvSpPr>
        <p:spPr>
          <a:xfrm>
            <a:off x="6492240" y="4754880"/>
            <a:ext cx="2331720" cy="384048"/>
          </a:xfrm>
          <a:prstGeom prst="rect">
            <a:avLst/>
          </a:prstGeom>
          <a:noFill/>
          <a:ln/>
        </p:spPr>
        <p:txBody>
          <a:bodyPr wrap="square" lIns="0" tIns="0" rIns="0" bIns="0" rtlCol="0" anchor="ctr"/>
          <a:lstStyle/>
          <a:p>
            <a:pPr marL="0" indent="0" algn="ctr">
              <a:buNone/>
            </a:pPr>
            <a:r>
              <a:rPr lang="en-US" sz="1600" b="1" dirty="0">
                <a:solidFill>
                  <a:srgbClr val="7A3300"/>
                </a:solidFill>
                <a:latin typeface="Calibri" pitchFamily="34" charset="0"/>
                <a:ea typeface="Calibri" pitchFamily="34" charset="-122"/>
                <a:cs typeface="Calibri" pitchFamily="34" charset="-120"/>
              </a:rPr>
              <a:t>Less visibility</a:t>
            </a:r>
            <a:endParaRPr lang="en-US" sz="1600" dirty="0"/>
          </a:p>
        </p:txBody>
      </p:sp>
      <p:sp>
        <p:nvSpPr>
          <p:cNvPr id="24" name="Text 21"/>
          <p:cNvSpPr txBox="1"/>
          <p:nvPr/>
        </p:nvSpPr>
        <p:spPr>
          <a:xfrm>
            <a:off x="8823960" y="4709160"/>
            <a:ext cx="640080" cy="457200"/>
          </a:xfrm>
          <a:prstGeom prst="rect">
            <a:avLst/>
          </a:prstGeom>
          <a:noFill/>
          <a:ln/>
        </p:spPr>
        <p:txBody>
          <a:bodyPr wrap="square" lIns="0" tIns="0" rIns="0" bIns="0" rtlCol="0" anchor="ctr"/>
          <a:lstStyle/>
          <a:p>
            <a:pPr marL="0" indent="0" algn="ctr">
              <a:buNone/>
            </a:pPr>
            <a:r>
              <a:rPr lang="en-US" sz="2400" b="1" dirty="0">
                <a:solidFill>
                  <a:srgbClr val="F97316"/>
                </a:solidFill>
                <a:latin typeface="Calibri" pitchFamily="34" charset="0"/>
                <a:ea typeface="Calibri" pitchFamily="34" charset="-122"/>
                <a:cs typeface="Calibri" pitchFamily="34" charset="-120"/>
              </a:rPr>
              <a:t>→</a:t>
            </a:r>
            <a:endParaRPr lang="en-US" sz="2400" dirty="0"/>
          </a:p>
        </p:txBody>
      </p:sp>
      <p:sp>
        <p:nvSpPr>
          <p:cNvPr id="25" name="Shape 22"/>
          <p:cNvSpPr/>
          <p:nvPr/>
        </p:nvSpPr>
        <p:spPr>
          <a:xfrm>
            <a:off x="9464040" y="4754880"/>
            <a:ext cx="2331720" cy="384048"/>
          </a:xfrm>
          <a:prstGeom prst="roundRect">
            <a:avLst>
              <a:gd name="adj" fmla="val 50000"/>
            </a:avLst>
          </a:prstGeom>
          <a:solidFill>
            <a:srgbClr val="FFE8D1"/>
          </a:solidFill>
          <a:ln w="12700">
            <a:solidFill>
              <a:srgbClr val="FFE8D1"/>
            </a:solidFill>
            <a:prstDash val="solid"/>
          </a:ln>
        </p:spPr>
      </p:sp>
      <p:sp>
        <p:nvSpPr>
          <p:cNvPr id="26" name="Text 23"/>
          <p:cNvSpPr txBox="1"/>
          <p:nvPr/>
        </p:nvSpPr>
        <p:spPr>
          <a:xfrm>
            <a:off x="9464040" y="4754880"/>
            <a:ext cx="2331720" cy="384048"/>
          </a:xfrm>
          <a:prstGeom prst="rect">
            <a:avLst/>
          </a:prstGeom>
          <a:noFill/>
          <a:ln/>
        </p:spPr>
        <p:txBody>
          <a:bodyPr wrap="square" lIns="0" tIns="0" rIns="0" bIns="0" rtlCol="0" anchor="ctr"/>
          <a:lstStyle/>
          <a:p>
            <a:pPr marL="0" indent="0" algn="ctr">
              <a:buNone/>
            </a:pPr>
            <a:r>
              <a:rPr lang="en-US" sz="1600" b="1" dirty="0">
                <a:solidFill>
                  <a:srgbClr val="7A3300"/>
                </a:solidFill>
                <a:latin typeface="Calibri" pitchFamily="34" charset="0"/>
                <a:ea typeface="Calibri" pitchFamily="34" charset="-122"/>
                <a:cs typeface="Calibri" pitchFamily="34" charset="-120"/>
              </a:rPr>
              <a:t>More uncertainty</a:t>
            </a:r>
            <a:endParaRPr lang="en-US" sz="1600" dirty="0"/>
          </a:p>
        </p:txBody>
      </p:sp>
      <p:sp>
        <p:nvSpPr>
          <p:cNvPr id="27" name="Shape 24"/>
          <p:cNvSpPr/>
          <p:nvPr/>
        </p:nvSpPr>
        <p:spPr>
          <a:xfrm>
            <a:off x="548640" y="5394960"/>
            <a:ext cx="11091672" cy="868680"/>
          </a:xfrm>
          <a:prstGeom prst="roundRect">
            <a:avLst>
              <a:gd name="adj" fmla="val 18947"/>
            </a:avLst>
          </a:prstGeom>
          <a:solidFill>
            <a:srgbClr val="0B2B26"/>
          </a:solidFill>
          <a:ln w="12700">
            <a:solidFill>
              <a:srgbClr val="0B2B26"/>
            </a:solidFill>
            <a:prstDash val="solid"/>
          </a:ln>
        </p:spPr>
      </p:sp>
      <p:sp>
        <p:nvSpPr>
          <p:cNvPr id="28" name="Text 25"/>
          <p:cNvSpPr txBox="1"/>
          <p:nvPr/>
        </p:nvSpPr>
        <p:spPr>
          <a:xfrm>
            <a:off x="914400" y="5394960"/>
            <a:ext cx="10360152" cy="86868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The problem is not only finding workers. It is managing them efficiently once you have them.</a:t>
            </a:r>
            <a:endParaRPr lang="en-US" sz="2200" dirty="0"/>
          </a:p>
        </p:txBody>
      </p:sp>
      <p:sp>
        <p:nvSpPr>
          <p:cNvPr id="3" name="Slide Number Placeholder 0"/>
          <p:cNvSpPr>
            <a:spLocks noGrp="1"/>
          </p:cNvSpPr>
          <p:nvPr>
            <p:ph type="sldNum" sz="quarter" idx="4294967295"/>
          </p:nvPr>
        </p:nvSpPr>
        <p:spPr>
          <a:xfrm>
            <a:off x="10881360" y="6400800"/>
            <a:ext cx="758952"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1B3A33"/>
                </a:solidFill>
                <a:latin typeface="Calibri"/>
                <a:ea typeface="Calibri"/>
                <a:cs typeface="Calibri"/>
              </a:defRPr>
            </a:lvl1pPr>
          </a:lstStyle>
          <a:p>
            <a:pPr algn="r"/>
            <a:fld id="{F7021451-1387-4CA6-816F-3879F97B5CBC}" type="slidenum">
              <a:rPr lang="en-US" b="1"/>
              <a:t>2</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400">
        <p14:doors dir="ver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68680"/>
          </a:xfrm>
          <a:prstGeom prst="rect">
            <a:avLst/>
          </a:prstGeom>
          <a:noFill/>
          <a:ln/>
        </p:spPr>
        <p:txBody>
          <a:bodyPr wrap="square" lIns="0" tIns="0" rIns="0" bIns="0" rtlCol="0" anchor="ctr"/>
          <a:lstStyle/>
          <a:p>
            <a:pPr marL="0" indent="0" algn="l">
              <a:buNone/>
            </a:pPr>
            <a:r>
              <a:rPr lang="en-US" sz="3800" b="1" dirty="0">
                <a:solidFill>
                  <a:srgbClr val="10201C"/>
                </a:solidFill>
                <a:latin typeface="Calibri" pitchFamily="34" charset="0"/>
                <a:ea typeface="Calibri" pitchFamily="34" charset="-122"/>
                <a:cs typeface="Calibri" pitchFamily="34" charset="-120"/>
              </a:rPr>
              <a:t>Finding is covered. Managing is not</a:t>
            </a:r>
            <a:endParaRPr lang="en-US" sz="3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2926080"/>
        </p:xfrm>
        <a:graphic>
          <a:graphicData uri="http://schemas.openxmlformats.org/drawingml/2006/table">
            <a:tbl>
              <a:tblPr/>
              <a:tblGrid>
                <a:gridCol w="374904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685032">
                  <a:extLst>
                    <a:ext uri="{9D8B030D-6E8A-4147-A177-3AD203B41FA5}">
                      <a16:colId xmlns:a16="http://schemas.microsoft.com/office/drawing/2014/main" val="20002"/>
                    </a:ext>
                  </a:extLst>
                </a:gridCol>
              </a:tblGrid>
              <a:tr h="585216">
                <a:tc>
                  <a:txBody>
                    <a:bodyPr/>
                    <a:lstStyle/>
                    <a:p>
                      <a:pPr marL="0" indent="0">
                        <a:buNone/>
                      </a:pPr>
                      <a:r>
                        <a:rPr lang="en-US" sz="1700" b="1" dirty="0">
                          <a:solidFill>
                            <a:srgbClr val="1B3A33"/>
                          </a:solidFill>
                          <a:latin typeface="Calibri" pitchFamily="34" charset="0"/>
                          <a:ea typeface="Calibri" pitchFamily="34" charset="-122"/>
                          <a:cs typeface="Calibri" pitchFamily="34" charset="-120"/>
                        </a:rPr>
                        <a:t>What contractors use today</a:t>
                      </a:r>
                      <a:endParaRPr lang="en-US" sz="1700" dirty="0">
                        <a:latin typeface="Calibri" charset="0"/>
                        <a:ea typeface="Calibri" charset="0"/>
                        <a:cs typeface="Calibri" charset="0"/>
                      </a:endParaRPr>
                    </a:p>
                  </a:txBody>
                  <a:tcPr anchor="ctr">
                    <a:lnL w="12700" cap="flat" cmpd="sng" algn="ctr">
                      <a:solidFill>
                        <a:srgbClr val="CFE0D6"/>
                      </a:solidFill>
                      <a:prstDash val="solid"/>
                      <a:round/>
                      <a:headEnd type="none" w="med" len="med"/>
                      <a:tailEnd type="none" w="med" len="med"/>
                    </a:lnL>
                    <a:lnR w="12700" cap="flat" cmpd="sng" algn="ctr">
                      <a:solidFill>
                        <a:srgbClr val="CFE0D6"/>
                      </a:solidFill>
                      <a:prstDash val="solid"/>
                      <a:round/>
                      <a:headEnd type="none" w="med" len="med"/>
                      <a:tailEnd type="none" w="med" len="med"/>
                    </a:lnR>
                    <a:lnT w="12700" cap="flat" cmpd="sng" algn="ctr">
                      <a:solidFill>
                        <a:srgbClr val="CFE0D6"/>
                      </a:solidFill>
                      <a:prstDash val="solid"/>
                      <a:round/>
                      <a:headEnd type="none" w="med" len="med"/>
                      <a:tailEnd type="none" w="med" len="med"/>
                    </a:lnT>
                    <a:lnB w="12700" cap="flat" cmpd="sng" algn="ctr">
                      <a:solidFill>
                        <a:srgbClr val="CFE0D6"/>
                      </a:solidFill>
                      <a:prstDash val="solid"/>
                      <a:round/>
                      <a:headEnd type="none" w="med" len="med"/>
                      <a:tailEnd type="none" w="med" len="med"/>
                    </a:lnB>
                    <a:solidFill>
                      <a:srgbClr val="F3F8F4"/>
                    </a:solidFill>
                  </a:tcPr>
                </a:tc>
                <a:tc>
                  <a:txBody>
                    <a:bodyPr/>
                    <a:lstStyle/>
                    <a:p>
                      <a:pPr marL="0" indent="0">
                        <a:buNone/>
                      </a:pPr>
                      <a:r>
                        <a:rPr lang="en-US" sz="1700" b="1" dirty="0">
                          <a:solidFill>
                            <a:srgbClr val="1B3A33"/>
                          </a:solidFill>
                          <a:latin typeface="Calibri" pitchFamily="34" charset="0"/>
                          <a:ea typeface="Calibri" pitchFamily="34" charset="-122"/>
                          <a:cs typeface="Calibri" pitchFamily="34" charset="-120"/>
                        </a:rPr>
                        <a:t>What it does well</a:t>
                      </a:r>
                      <a:endParaRPr lang="en-US" sz="1700" dirty="0">
                        <a:latin typeface="Calibri" charset="0"/>
                        <a:ea typeface="Calibri" charset="0"/>
                        <a:cs typeface="Calibri" charset="0"/>
                      </a:endParaRPr>
                    </a:p>
                  </a:txBody>
                  <a:tcPr anchor="ctr">
                    <a:lnL w="12700" cap="flat" cmpd="sng" algn="ctr">
                      <a:solidFill>
                        <a:srgbClr val="CFE0D6"/>
                      </a:solidFill>
                      <a:prstDash val="solid"/>
                      <a:round/>
                      <a:headEnd type="none" w="med" len="med"/>
                      <a:tailEnd type="none" w="med" len="med"/>
                    </a:lnL>
                    <a:lnR w="12700" cap="flat" cmpd="sng" algn="ctr">
                      <a:solidFill>
                        <a:srgbClr val="CFE0D6"/>
                      </a:solidFill>
                      <a:prstDash val="solid"/>
                      <a:round/>
                      <a:headEnd type="none" w="med" len="med"/>
                      <a:tailEnd type="none" w="med" len="med"/>
                    </a:lnR>
                    <a:lnT w="12700" cap="flat" cmpd="sng" algn="ctr">
                      <a:solidFill>
                        <a:srgbClr val="CFE0D6"/>
                      </a:solidFill>
                      <a:prstDash val="solid"/>
                      <a:round/>
                      <a:headEnd type="none" w="med" len="med"/>
                      <a:tailEnd type="none" w="med" len="med"/>
                    </a:lnT>
                    <a:lnB w="12700" cap="flat" cmpd="sng" algn="ctr">
                      <a:solidFill>
                        <a:srgbClr val="CFE0D6"/>
                      </a:solidFill>
                      <a:prstDash val="solid"/>
                      <a:round/>
                      <a:headEnd type="none" w="med" len="med"/>
                      <a:tailEnd type="none" w="med" len="med"/>
                    </a:lnB>
                    <a:solidFill>
                      <a:srgbClr val="F3F8F4"/>
                    </a:solidFill>
                  </a:tcPr>
                </a:tc>
                <a:tc>
                  <a:txBody>
                    <a:bodyPr/>
                    <a:lstStyle/>
                    <a:p>
                      <a:pPr marL="0" indent="0">
                        <a:buNone/>
                      </a:pPr>
                      <a:r>
                        <a:rPr lang="en-US" sz="1700" b="1" dirty="0">
                          <a:solidFill>
                            <a:srgbClr val="1B3A33"/>
                          </a:solidFill>
                          <a:latin typeface="Calibri" pitchFamily="34" charset="0"/>
                          <a:ea typeface="Calibri" pitchFamily="34" charset="-122"/>
                          <a:cs typeface="Calibri" pitchFamily="34" charset="-120"/>
                        </a:rPr>
                        <a:t>Where it stops</a:t>
                      </a:r>
                      <a:endParaRPr lang="en-US" sz="1700" dirty="0">
                        <a:latin typeface="Calibri" charset="0"/>
                        <a:ea typeface="Calibri" charset="0"/>
                        <a:cs typeface="Calibri" charset="0"/>
                      </a:endParaRPr>
                    </a:p>
                  </a:txBody>
                  <a:tcPr anchor="ctr">
                    <a:lnL w="12700" cap="flat" cmpd="sng" algn="ctr">
                      <a:solidFill>
                        <a:srgbClr val="CFE0D6"/>
                      </a:solidFill>
                      <a:prstDash val="solid"/>
                      <a:round/>
                      <a:headEnd type="none" w="med" len="med"/>
                      <a:tailEnd type="none" w="med" len="med"/>
                    </a:lnL>
                    <a:lnR w="12700" cap="flat" cmpd="sng" algn="ctr">
                      <a:solidFill>
                        <a:srgbClr val="CFE0D6"/>
                      </a:solidFill>
                      <a:prstDash val="solid"/>
                      <a:round/>
                      <a:headEnd type="none" w="med" len="med"/>
                      <a:tailEnd type="none" w="med" len="med"/>
                    </a:lnR>
                    <a:lnT w="12700" cap="flat" cmpd="sng" algn="ctr">
                      <a:solidFill>
                        <a:srgbClr val="CFE0D6"/>
                      </a:solidFill>
                      <a:prstDash val="solid"/>
                      <a:round/>
                      <a:headEnd type="none" w="med" len="med"/>
                      <a:tailEnd type="none" w="med" len="med"/>
                    </a:lnT>
                    <a:lnB w="12700" cap="flat" cmpd="sng" algn="ctr">
                      <a:solidFill>
                        <a:srgbClr val="CFE0D6"/>
                      </a:solidFill>
                      <a:prstDash val="solid"/>
                      <a:round/>
                      <a:headEnd type="none" w="med" len="med"/>
                      <a:tailEnd type="none" w="med" len="med"/>
                    </a:lnB>
                    <a:solidFill>
                      <a:srgbClr val="F3F8F4"/>
                    </a:solidFill>
                  </a:tcPr>
                </a:tc>
                <a:extLst>
                  <a:ext uri="{0D108BD9-81ED-4DB2-BD59-A6C34878D82A}">
                    <a16:rowId xmlns:a16="http://schemas.microsoft.com/office/drawing/2014/main" val="10000"/>
                  </a:ext>
                </a:extLst>
              </a:tr>
              <a:tr h="585216">
                <a:tc>
                  <a:txBody>
                    <a:bodyPr/>
                    <a:lstStyle/>
                    <a:p>
                      <a:pPr marL="0" indent="0">
                        <a:buNone/>
                      </a:pPr>
                      <a:r>
                        <a:rPr lang="en-US" sz="1800" b="1" dirty="0">
                          <a:solidFill>
                            <a:srgbClr val="1B3A33"/>
                          </a:solidFill>
                          <a:latin typeface="Calibri" pitchFamily="34" charset="0"/>
                          <a:ea typeface="Calibri" pitchFamily="34" charset="-122"/>
                          <a:cs typeface="Calibri" pitchFamily="34" charset="-120"/>
                        </a:rPr>
                        <a:t>Informal networks and brokers</a:t>
                      </a:r>
                      <a:endParaRPr lang="en-US" sz="1800" dirty="0">
                        <a:latin typeface="Calibri" charset="0"/>
                        <a:ea typeface="Calibri" charset="0"/>
                        <a:cs typeface="Calibri" charset="0"/>
                      </a:endParaRPr>
                    </a:p>
                  </a:txBody>
                  <a:tcPr anchor="ctr">
                    <a:lnL w="12700" cap="flat" cmpd="sng" algn="ctr">
                      <a:solidFill>
                        <a:srgbClr val="CFE0D6"/>
                      </a:solidFill>
                      <a:prstDash val="solid"/>
                      <a:round/>
                      <a:headEnd type="none" w="med" len="med"/>
                      <a:tailEnd type="none" w="med" len="med"/>
                    </a:lnL>
                    <a:lnR w="12700" cap="flat" cmpd="sng" algn="ctr">
                      <a:solidFill>
                        <a:srgbClr val="CFE0D6"/>
                      </a:solidFill>
                      <a:prstDash val="solid"/>
                      <a:round/>
                      <a:headEnd type="none" w="med" len="med"/>
                      <a:tailEnd type="none" w="med" len="med"/>
                    </a:lnR>
                    <a:lnT w="12700" cap="flat" cmpd="sng" algn="ctr">
                      <a:solidFill>
                        <a:srgbClr val="CFE0D6"/>
                      </a:solidFill>
                      <a:prstDash val="solid"/>
                      <a:round/>
                      <a:headEnd type="none" w="med" len="med"/>
                      <a:tailEnd type="none" w="med" len="med"/>
                    </a:lnT>
                    <a:lnB w="12700" cap="flat" cmpd="sng" algn="ctr">
                      <a:solidFill>
                        <a:srgbClr val="CFE0D6"/>
                      </a:solidFill>
                      <a:prstDash val="solid"/>
                      <a:round/>
                      <a:headEnd type="none" w="med" len="med"/>
                      <a:tailEnd type="none" w="med" len="med"/>
                    </a:lnB>
                  </a:tcPr>
                </a:tc>
                <a:tc>
                  <a:txBody>
                    <a:bodyPr/>
                    <a:lstStyle/>
                    <a:p>
                      <a:pPr marL="0" indent="0">
                        <a:buNone/>
                      </a:pPr>
                      <a:r>
                        <a:rPr lang="en-US" sz="1800" dirty="0">
                          <a:solidFill>
                            <a:srgbClr val="1B3A33"/>
                          </a:solidFill>
                          <a:latin typeface="Calibri" pitchFamily="34" charset="0"/>
                          <a:ea typeface="Calibri" pitchFamily="34" charset="-122"/>
                          <a:cs typeface="Calibri" pitchFamily="34" charset="-120"/>
                        </a:rPr>
                        <a:t>Quick access to workers</a:t>
                      </a:r>
                      <a:endParaRPr lang="en-US" sz="1800" dirty="0">
                        <a:latin typeface="Calibri" charset="0"/>
                        <a:ea typeface="Calibri" charset="0"/>
                        <a:cs typeface="Calibri" charset="0"/>
                      </a:endParaRPr>
                    </a:p>
                  </a:txBody>
                  <a:tcPr anchor="ctr">
                    <a:lnL w="12700" cap="flat" cmpd="sng" algn="ctr">
                      <a:solidFill>
                        <a:srgbClr val="CFE0D6"/>
                      </a:solidFill>
                      <a:prstDash val="solid"/>
                      <a:round/>
                      <a:headEnd type="none" w="med" len="med"/>
                      <a:tailEnd type="none" w="med" len="med"/>
                    </a:lnL>
                    <a:lnR w="12700" cap="flat" cmpd="sng" algn="ctr">
                      <a:solidFill>
                        <a:srgbClr val="CFE0D6"/>
                      </a:solidFill>
                      <a:prstDash val="solid"/>
                      <a:round/>
                      <a:headEnd type="none" w="med" len="med"/>
                      <a:tailEnd type="none" w="med" len="med"/>
                    </a:lnR>
                    <a:lnT w="12700" cap="flat" cmpd="sng" algn="ctr">
                      <a:solidFill>
                        <a:srgbClr val="CFE0D6"/>
                      </a:solidFill>
                      <a:prstDash val="solid"/>
                      <a:round/>
                      <a:headEnd type="none" w="med" len="med"/>
                      <a:tailEnd type="none" w="med" len="med"/>
                    </a:lnT>
                    <a:lnB w="12700" cap="flat" cmpd="sng" algn="ctr">
                      <a:solidFill>
                        <a:srgbClr val="CFE0D6"/>
                      </a:solidFill>
                      <a:prstDash val="solid"/>
                      <a:round/>
                      <a:headEnd type="none" w="med" len="med"/>
                      <a:tailEnd type="none" w="med" len="med"/>
                    </a:lnB>
                  </a:tcPr>
                </a:tc>
                <a:tc>
                  <a:txBody>
                    <a:bodyPr/>
                    <a:lstStyle/>
                    <a:p>
                      <a:pPr marL="0" indent="0">
                        <a:buNone/>
                      </a:pPr>
                      <a:r>
                        <a:rPr lang="en-US" sz="1800" dirty="0">
                          <a:solidFill>
                            <a:srgbClr val="1B3A33"/>
                          </a:solidFill>
                          <a:latin typeface="Calibri" pitchFamily="34" charset="0"/>
                          <a:ea typeface="Calibri" pitchFamily="34" charset="-122"/>
                          <a:cs typeface="Calibri" pitchFamily="34" charset="-120"/>
                        </a:rPr>
                        <a:t>Depends on personal contacts</a:t>
                      </a:r>
                      <a:endParaRPr lang="en-US" sz="1800" dirty="0">
                        <a:latin typeface="Calibri" charset="0"/>
                        <a:ea typeface="Calibri" charset="0"/>
                        <a:cs typeface="Calibri" charset="0"/>
                      </a:endParaRPr>
                    </a:p>
                  </a:txBody>
                  <a:tcPr anchor="ctr">
                    <a:lnL w="12700" cap="flat" cmpd="sng" algn="ctr">
                      <a:solidFill>
                        <a:srgbClr val="CFE0D6"/>
                      </a:solidFill>
                      <a:prstDash val="solid"/>
                      <a:round/>
                      <a:headEnd type="none" w="med" len="med"/>
                      <a:tailEnd type="none" w="med" len="med"/>
                    </a:lnL>
                    <a:lnR w="12700" cap="flat" cmpd="sng" algn="ctr">
                      <a:solidFill>
                        <a:srgbClr val="CFE0D6"/>
                      </a:solidFill>
                      <a:prstDash val="solid"/>
                      <a:round/>
                      <a:headEnd type="none" w="med" len="med"/>
                      <a:tailEnd type="none" w="med" len="med"/>
                    </a:lnR>
                    <a:lnT w="12700" cap="flat" cmpd="sng" algn="ctr">
                      <a:solidFill>
                        <a:srgbClr val="CFE0D6"/>
                      </a:solidFill>
                      <a:prstDash val="solid"/>
                      <a:round/>
                      <a:headEnd type="none" w="med" len="med"/>
                      <a:tailEnd type="none" w="med" len="med"/>
                    </a:lnT>
                    <a:lnB w="12700" cap="flat" cmpd="sng" algn="ctr">
                      <a:solidFill>
                        <a:srgbClr val="CFE0D6"/>
                      </a:solidFill>
                      <a:prstDash val="solid"/>
                      <a:round/>
                      <a:headEnd type="none" w="med" len="med"/>
                      <a:tailEnd type="none" w="med" len="med"/>
                    </a:lnB>
                  </a:tcPr>
                </a:tc>
                <a:extLst>
                  <a:ext uri="{0D108BD9-81ED-4DB2-BD59-A6C34878D82A}">
                    <a16:rowId xmlns:a16="http://schemas.microsoft.com/office/drawing/2014/main" val="10001"/>
                  </a:ext>
                </a:extLst>
              </a:tr>
              <a:tr h="585216">
                <a:tc>
                  <a:txBody>
                    <a:bodyPr/>
                    <a:lstStyle/>
                    <a:p>
                      <a:pPr marL="0" indent="0">
                        <a:buNone/>
                      </a:pPr>
                      <a:r>
                        <a:rPr lang="en-US" sz="1800" b="1" dirty="0">
                          <a:solidFill>
                            <a:srgbClr val="1B3A33"/>
                          </a:solidFill>
                          <a:latin typeface="Calibri" pitchFamily="34" charset="0"/>
                          <a:ea typeface="Calibri" pitchFamily="34" charset="-122"/>
                          <a:cs typeface="Calibri" pitchFamily="34" charset="-120"/>
                        </a:rPr>
                        <a:t>Calls and WhatsApp</a:t>
                      </a:r>
                      <a:endParaRPr lang="en-US" sz="1800" dirty="0">
                        <a:latin typeface="Calibri" charset="0"/>
                        <a:ea typeface="Calibri" charset="0"/>
                        <a:cs typeface="Calibri" charset="0"/>
                      </a:endParaRPr>
                    </a:p>
                  </a:txBody>
                  <a:tcPr anchor="ctr">
                    <a:lnL w="12700" cap="flat" cmpd="sng" algn="ctr">
                      <a:solidFill>
                        <a:srgbClr val="CFE0D6"/>
                      </a:solidFill>
                      <a:prstDash val="solid"/>
                      <a:round/>
                      <a:headEnd type="none" w="med" len="med"/>
                      <a:tailEnd type="none" w="med" len="med"/>
                    </a:lnL>
                    <a:lnR w="12700" cap="flat" cmpd="sng" algn="ctr">
                      <a:solidFill>
                        <a:srgbClr val="CFE0D6"/>
                      </a:solidFill>
                      <a:prstDash val="solid"/>
                      <a:round/>
                      <a:headEnd type="none" w="med" len="med"/>
                      <a:tailEnd type="none" w="med" len="med"/>
                    </a:lnR>
                    <a:lnT w="12700" cap="flat" cmpd="sng" algn="ctr">
                      <a:solidFill>
                        <a:srgbClr val="CFE0D6"/>
                      </a:solidFill>
                      <a:prstDash val="solid"/>
                      <a:round/>
                      <a:headEnd type="none" w="med" len="med"/>
                      <a:tailEnd type="none" w="med" len="med"/>
                    </a:lnT>
                    <a:lnB w="12700" cap="flat" cmpd="sng" algn="ctr">
                      <a:solidFill>
                        <a:srgbClr val="CFE0D6"/>
                      </a:solidFill>
                      <a:prstDash val="solid"/>
                      <a:round/>
                      <a:headEnd type="none" w="med" len="med"/>
                      <a:tailEnd type="none" w="med" len="med"/>
                    </a:lnB>
                  </a:tcPr>
                </a:tc>
                <a:tc>
                  <a:txBody>
                    <a:bodyPr/>
                    <a:lstStyle/>
                    <a:p>
                      <a:pPr marL="0" indent="0">
                        <a:buNone/>
                      </a:pPr>
                      <a:r>
                        <a:rPr lang="en-US" sz="1800" dirty="0">
                          <a:solidFill>
                            <a:srgbClr val="1B3A33"/>
                          </a:solidFill>
                          <a:latin typeface="Calibri" pitchFamily="34" charset="0"/>
                          <a:ea typeface="Calibri" pitchFamily="34" charset="-122"/>
                          <a:cs typeface="Calibri" pitchFamily="34" charset="-120"/>
                        </a:rPr>
                        <a:t>Easy communication</a:t>
                      </a:r>
                      <a:endParaRPr lang="en-US" sz="1800" dirty="0">
                        <a:latin typeface="Calibri" charset="0"/>
                        <a:ea typeface="Calibri" charset="0"/>
                        <a:cs typeface="Calibri" charset="0"/>
                      </a:endParaRPr>
                    </a:p>
                  </a:txBody>
                  <a:tcPr anchor="ctr">
                    <a:lnL w="12700" cap="flat" cmpd="sng" algn="ctr">
                      <a:solidFill>
                        <a:srgbClr val="CFE0D6"/>
                      </a:solidFill>
                      <a:prstDash val="solid"/>
                      <a:round/>
                      <a:headEnd type="none" w="med" len="med"/>
                      <a:tailEnd type="none" w="med" len="med"/>
                    </a:lnL>
                    <a:lnR w="12700" cap="flat" cmpd="sng" algn="ctr">
                      <a:solidFill>
                        <a:srgbClr val="CFE0D6"/>
                      </a:solidFill>
                      <a:prstDash val="solid"/>
                      <a:round/>
                      <a:headEnd type="none" w="med" len="med"/>
                      <a:tailEnd type="none" w="med" len="med"/>
                    </a:lnR>
                    <a:lnT w="12700" cap="flat" cmpd="sng" algn="ctr">
                      <a:solidFill>
                        <a:srgbClr val="CFE0D6"/>
                      </a:solidFill>
                      <a:prstDash val="solid"/>
                      <a:round/>
                      <a:headEnd type="none" w="med" len="med"/>
                      <a:tailEnd type="none" w="med" len="med"/>
                    </a:lnT>
                    <a:lnB w="12700" cap="flat" cmpd="sng" algn="ctr">
                      <a:solidFill>
                        <a:srgbClr val="CFE0D6"/>
                      </a:solidFill>
                      <a:prstDash val="solid"/>
                      <a:round/>
                      <a:headEnd type="none" w="med" len="med"/>
                      <a:tailEnd type="none" w="med" len="med"/>
                    </a:lnB>
                  </a:tcPr>
                </a:tc>
                <a:tc>
                  <a:txBody>
                    <a:bodyPr/>
                    <a:lstStyle/>
                    <a:p>
                      <a:pPr marL="0" indent="0">
                        <a:buNone/>
                      </a:pPr>
                      <a:r>
                        <a:rPr lang="en-US" sz="1800" dirty="0">
                          <a:solidFill>
                            <a:srgbClr val="1B3A33"/>
                          </a:solidFill>
                          <a:latin typeface="Calibri" pitchFamily="34" charset="0"/>
                          <a:ea typeface="Calibri" pitchFamily="34" charset="-122"/>
                          <a:cs typeface="Calibri" pitchFamily="34" charset="-120"/>
                        </a:rPr>
                        <a:t>Information gets scattered</a:t>
                      </a:r>
                      <a:endParaRPr lang="en-US" sz="1800" dirty="0">
                        <a:latin typeface="Calibri" charset="0"/>
                        <a:ea typeface="Calibri" charset="0"/>
                        <a:cs typeface="Calibri" charset="0"/>
                      </a:endParaRPr>
                    </a:p>
                  </a:txBody>
                  <a:tcPr anchor="ctr">
                    <a:lnL w="12700" cap="flat" cmpd="sng" algn="ctr">
                      <a:solidFill>
                        <a:srgbClr val="CFE0D6"/>
                      </a:solidFill>
                      <a:prstDash val="solid"/>
                      <a:round/>
                      <a:headEnd type="none" w="med" len="med"/>
                      <a:tailEnd type="none" w="med" len="med"/>
                    </a:lnL>
                    <a:lnR w="12700" cap="flat" cmpd="sng" algn="ctr">
                      <a:solidFill>
                        <a:srgbClr val="CFE0D6"/>
                      </a:solidFill>
                      <a:prstDash val="solid"/>
                      <a:round/>
                      <a:headEnd type="none" w="med" len="med"/>
                      <a:tailEnd type="none" w="med" len="med"/>
                    </a:lnR>
                    <a:lnT w="12700" cap="flat" cmpd="sng" algn="ctr">
                      <a:solidFill>
                        <a:srgbClr val="CFE0D6"/>
                      </a:solidFill>
                      <a:prstDash val="solid"/>
                      <a:round/>
                      <a:headEnd type="none" w="med" len="med"/>
                      <a:tailEnd type="none" w="med" len="med"/>
                    </a:lnT>
                    <a:lnB w="12700" cap="flat" cmpd="sng" algn="ctr">
                      <a:solidFill>
                        <a:srgbClr val="CFE0D6"/>
                      </a:solidFill>
                      <a:prstDash val="solid"/>
                      <a:round/>
                      <a:headEnd type="none" w="med" len="med"/>
                      <a:tailEnd type="none" w="med" len="med"/>
                    </a:lnB>
                  </a:tcPr>
                </a:tc>
                <a:extLst>
                  <a:ext uri="{0D108BD9-81ED-4DB2-BD59-A6C34878D82A}">
                    <a16:rowId xmlns:a16="http://schemas.microsoft.com/office/drawing/2014/main" val="10002"/>
                  </a:ext>
                </a:extLst>
              </a:tr>
              <a:tr h="585216">
                <a:tc>
                  <a:txBody>
                    <a:bodyPr/>
                    <a:lstStyle/>
                    <a:p>
                      <a:pPr marL="0" indent="0">
                        <a:buNone/>
                      </a:pPr>
                      <a:r>
                        <a:rPr lang="en-US" sz="1800" b="1" dirty="0">
                          <a:solidFill>
                            <a:srgbClr val="1B3A33"/>
                          </a:solidFill>
                          <a:latin typeface="Calibri" pitchFamily="34" charset="0"/>
                          <a:ea typeface="Calibri" pitchFamily="34" charset="-122"/>
                          <a:cs typeface="Calibri" pitchFamily="34" charset="-120"/>
                        </a:rPr>
                        <a:t>Paper and spreadsheets</a:t>
                      </a:r>
                      <a:endParaRPr lang="en-US" sz="1800" dirty="0">
                        <a:latin typeface="Calibri" charset="0"/>
                        <a:ea typeface="Calibri" charset="0"/>
                        <a:cs typeface="Calibri" charset="0"/>
                      </a:endParaRPr>
                    </a:p>
                  </a:txBody>
                  <a:tcPr anchor="ctr">
                    <a:lnL w="12700" cap="flat" cmpd="sng" algn="ctr">
                      <a:solidFill>
                        <a:srgbClr val="CFE0D6"/>
                      </a:solidFill>
                      <a:prstDash val="solid"/>
                      <a:round/>
                      <a:headEnd type="none" w="med" len="med"/>
                      <a:tailEnd type="none" w="med" len="med"/>
                    </a:lnL>
                    <a:lnR w="12700" cap="flat" cmpd="sng" algn="ctr">
                      <a:solidFill>
                        <a:srgbClr val="CFE0D6"/>
                      </a:solidFill>
                      <a:prstDash val="solid"/>
                      <a:round/>
                      <a:headEnd type="none" w="med" len="med"/>
                      <a:tailEnd type="none" w="med" len="med"/>
                    </a:lnR>
                    <a:lnT w="12700" cap="flat" cmpd="sng" algn="ctr">
                      <a:solidFill>
                        <a:srgbClr val="CFE0D6"/>
                      </a:solidFill>
                      <a:prstDash val="solid"/>
                      <a:round/>
                      <a:headEnd type="none" w="med" len="med"/>
                      <a:tailEnd type="none" w="med" len="med"/>
                    </a:lnT>
                    <a:lnB w="12700" cap="flat" cmpd="sng" algn="ctr">
                      <a:solidFill>
                        <a:srgbClr val="CFE0D6"/>
                      </a:solidFill>
                      <a:prstDash val="solid"/>
                      <a:round/>
                      <a:headEnd type="none" w="med" len="med"/>
                      <a:tailEnd type="none" w="med" len="med"/>
                    </a:lnB>
                  </a:tcPr>
                </a:tc>
                <a:tc>
                  <a:txBody>
                    <a:bodyPr/>
                    <a:lstStyle/>
                    <a:p>
                      <a:pPr marL="0" indent="0">
                        <a:buNone/>
                      </a:pPr>
                      <a:r>
                        <a:rPr lang="en-US" sz="1800" dirty="0">
                          <a:solidFill>
                            <a:srgbClr val="1B3A33"/>
                          </a:solidFill>
                          <a:latin typeface="Calibri" pitchFamily="34" charset="0"/>
                          <a:ea typeface="Calibri" pitchFamily="34" charset="-122"/>
                          <a:cs typeface="Calibri" pitchFamily="34" charset="-120"/>
                        </a:rPr>
                        <a:t>Basic record keeping</a:t>
                      </a:r>
                      <a:endParaRPr lang="en-US" sz="1800" dirty="0">
                        <a:latin typeface="Calibri" charset="0"/>
                        <a:ea typeface="Calibri" charset="0"/>
                        <a:cs typeface="Calibri" charset="0"/>
                      </a:endParaRPr>
                    </a:p>
                  </a:txBody>
                  <a:tcPr anchor="ctr">
                    <a:lnL w="12700" cap="flat" cmpd="sng" algn="ctr">
                      <a:solidFill>
                        <a:srgbClr val="CFE0D6"/>
                      </a:solidFill>
                      <a:prstDash val="solid"/>
                      <a:round/>
                      <a:headEnd type="none" w="med" len="med"/>
                      <a:tailEnd type="none" w="med" len="med"/>
                    </a:lnL>
                    <a:lnR w="12700" cap="flat" cmpd="sng" algn="ctr">
                      <a:solidFill>
                        <a:srgbClr val="CFE0D6"/>
                      </a:solidFill>
                      <a:prstDash val="solid"/>
                      <a:round/>
                      <a:headEnd type="none" w="med" len="med"/>
                      <a:tailEnd type="none" w="med" len="med"/>
                    </a:lnR>
                    <a:lnT w="12700" cap="flat" cmpd="sng" algn="ctr">
                      <a:solidFill>
                        <a:srgbClr val="CFE0D6"/>
                      </a:solidFill>
                      <a:prstDash val="solid"/>
                      <a:round/>
                      <a:headEnd type="none" w="med" len="med"/>
                      <a:tailEnd type="none" w="med" len="med"/>
                    </a:lnT>
                    <a:lnB w="12700" cap="flat" cmpd="sng" algn="ctr">
                      <a:solidFill>
                        <a:srgbClr val="CFE0D6"/>
                      </a:solidFill>
                      <a:prstDash val="solid"/>
                      <a:round/>
                      <a:headEnd type="none" w="med" len="med"/>
                      <a:tailEnd type="none" w="med" len="med"/>
                    </a:lnB>
                  </a:tcPr>
                </a:tc>
                <a:tc>
                  <a:txBody>
                    <a:bodyPr/>
                    <a:lstStyle/>
                    <a:p>
                      <a:pPr marL="0" indent="0">
                        <a:buNone/>
                      </a:pPr>
                      <a:r>
                        <a:rPr lang="en-US" sz="1800" dirty="0">
                          <a:solidFill>
                            <a:srgbClr val="1B3A33"/>
                          </a:solidFill>
                          <a:latin typeface="Calibri" pitchFamily="34" charset="0"/>
                          <a:ea typeface="Calibri" pitchFamily="34" charset="-122"/>
                          <a:cs typeface="Calibri" pitchFamily="34" charset="-120"/>
                        </a:rPr>
                        <a:t>Manual and hard to scale</a:t>
                      </a:r>
                      <a:endParaRPr lang="en-US" sz="1800" dirty="0">
                        <a:latin typeface="Calibri" charset="0"/>
                        <a:ea typeface="Calibri" charset="0"/>
                        <a:cs typeface="Calibri" charset="0"/>
                      </a:endParaRPr>
                    </a:p>
                  </a:txBody>
                  <a:tcPr anchor="ctr">
                    <a:lnL w="12700" cap="flat" cmpd="sng" algn="ctr">
                      <a:solidFill>
                        <a:srgbClr val="CFE0D6"/>
                      </a:solidFill>
                      <a:prstDash val="solid"/>
                      <a:round/>
                      <a:headEnd type="none" w="med" len="med"/>
                      <a:tailEnd type="none" w="med" len="med"/>
                    </a:lnL>
                    <a:lnR w="12700" cap="flat" cmpd="sng" algn="ctr">
                      <a:solidFill>
                        <a:srgbClr val="CFE0D6"/>
                      </a:solidFill>
                      <a:prstDash val="solid"/>
                      <a:round/>
                      <a:headEnd type="none" w="med" len="med"/>
                      <a:tailEnd type="none" w="med" len="med"/>
                    </a:lnR>
                    <a:lnT w="12700" cap="flat" cmpd="sng" algn="ctr">
                      <a:solidFill>
                        <a:srgbClr val="CFE0D6"/>
                      </a:solidFill>
                      <a:prstDash val="solid"/>
                      <a:round/>
                      <a:headEnd type="none" w="med" len="med"/>
                      <a:tailEnd type="none" w="med" len="med"/>
                    </a:lnT>
                    <a:lnB w="12700" cap="flat" cmpd="sng" algn="ctr">
                      <a:solidFill>
                        <a:srgbClr val="CFE0D6"/>
                      </a:solidFill>
                      <a:prstDash val="solid"/>
                      <a:round/>
                      <a:headEnd type="none" w="med" len="med"/>
                      <a:tailEnd type="none" w="med" len="med"/>
                    </a:lnB>
                  </a:tcPr>
                </a:tc>
                <a:extLst>
                  <a:ext uri="{0D108BD9-81ED-4DB2-BD59-A6C34878D82A}">
                    <a16:rowId xmlns:a16="http://schemas.microsoft.com/office/drawing/2014/main" val="10003"/>
                  </a:ext>
                </a:extLst>
              </a:tr>
              <a:tr h="585216">
                <a:tc>
                  <a:txBody>
                    <a:bodyPr/>
                    <a:lstStyle/>
                    <a:p>
                      <a:pPr marL="0" indent="0">
                        <a:buNone/>
                      </a:pPr>
                      <a:r>
                        <a:rPr lang="en-US" sz="1800" b="1" dirty="0">
                          <a:solidFill>
                            <a:srgbClr val="1B3A33"/>
                          </a:solidFill>
                          <a:latin typeface="Calibri" pitchFamily="34" charset="0"/>
                          <a:ea typeface="Calibri" pitchFamily="34" charset="-122"/>
                          <a:cs typeface="Calibri" pitchFamily="34" charset="-120"/>
                        </a:rPr>
                        <a:t>Worker marketplaces</a:t>
                      </a:r>
                      <a:endParaRPr lang="en-US" sz="1800" dirty="0">
                        <a:latin typeface="Calibri" charset="0"/>
                        <a:ea typeface="Calibri" charset="0"/>
                        <a:cs typeface="Calibri" charset="0"/>
                      </a:endParaRPr>
                    </a:p>
                  </a:txBody>
                  <a:tcPr anchor="ctr">
                    <a:lnL w="12700" cap="flat" cmpd="sng" algn="ctr">
                      <a:solidFill>
                        <a:srgbClr val="CFE0D6"/>
                      </a:solidFill>
                      <a:prstDash val="solid"/>
                      <a:round/>
                      <a:headEnd type="none" w="med" len="med"/>
                      <a:tailEnd type="none" w="med" len="med"/>
                    </a:lnL>
                    <a:lnR w="12700" cap="flat" cmpd="sng" algn="ctr">
                      <a:solidFill>
                        <a:srgbClr val="CFE0D6"/>
                      </a:solidFill>
                      <a:prstDash val="solid"/>
                      <a:round/>
                      <a:headEnd type="none" w="med" len="med"/>
                      <a:tailEnd type="none" w="med" len="med"/>
                    </a:lnR>
                    <a:lnT w="12700" cap="flat" cmpd="sng" algn="ctr">
                      <a:solidFill>
                        <a:srgbClr val="CFE0D6"/>
                      </a:solidFill>
                      <a:prstDash val="solid"/>
                      <a:round/>
                      <a:headEnd type="none" w="med" len="med"/>
                      <a:tailEnd type="none" w="med" len="med"/>
                    </a:lnT>
                    <a:lnB w="12700" cap="flat" cmpd="sng" algn="ctr">
                      <a:solidFill>
                        <a:srgbClr val="CFE0D6"/>
                      </a:solidFill>
                      <a:prstDash val="solid"/>
                      <a:round/>
                      <a:headEnd type="none" w="med" len="med"/>
                      <a:tailEnd type="none" w="med" len="med"/>
                    </a:lnB>
                  </a:tcPr>
                </a:tc>
                <a:tc>
                  <a:txBody>
                    <a:bodyPr/>
                    <a:lstStyle/>
                    <a:p>
                      <a:pPr marL="0" indent="0">
                        <a:buNone/>
                      </a:pPr>
                      <a:r>
                        <a:rPr lang="en-US" sz="1800" dirty="0">
                          <a:solidFill>
                            <a:srgbClr val="1B3A33"/>
                          </a:solidFill>
                          <a:latin typeface="Calibri" pitchFamily="34" charset="0"/>
                          <a:ea typeface="Calibri" pitchFamily="34" charset="-122"/>
                          <a:cs typeface="Calibri" pitchFamily="34" charset="-120"/>
                        </a:rPr>
                        <a:t>Help discover and hire workers</a:t>
                      </a:r>
                      <a:endParaRPr lang="en-US" sz="1800" dirty="0">
                        <a:latin typeface="Calibri" charset="0"/>
                        <a:ea typeface="Calibri" charset="0"/>
                        <a:cs typeface="Calibri" charset="0"/>
                      </a:endParaRPr>
                    </a:p>
                  </a:txBody>
                  <a:tcPr anchor="ctr">
                    <a:lnL w="12700" cap="flat" cmpd="sng" algn="ctr">
                      <a:solidFill>
                        <a:srgbClr val="CFE0D6"/>
                      </a:solidFill>
                      <a:prstDash val="solid"/>
                      <a:round/>
                      <a:headEnd type="none" w="med" len="med"/>
                      <a:tailEnd type="none" w="med" len="med"/>
                    </a:lnL>
                    <a:lnR w="12700" cap="flat" cmpd="sng" algn="ctr">
                      <a:solidFill>
                        <a:srgbClr val="CFE0D6"/>
                      </a:solidFill>
                      <a:prstDash val="solid"/>
                      <a:round/>
                      <a:headEnd type="none" w="med" len="med"/>
                      <a:tailEnd type="none" w="med" len="med"/>
                    </a:lnR>
                    <a:lnT w="12700" cap="flat" cmpd="sng" algn="ctr">
                      <a:solidFill>
                        <a:srgbClr val="CFE0D6"/>
                      </a:solidFill>
                      <a:prstDash val="solid"/>
                      <a:round/>
                      <a:headEnd type="none" w="med" len="med"/>
                      <a:tailEnd type="none" w="med" len="med"/>
                    </a:lnT>
                    <a:lnB w="12700" cap="flat" cmpd="sng" algn="ctr">
                      <a:solidFill>
                        <a:srgbClr val="CFE0D6"/>
                      </a:solidFill>
                      <a:prstDash val="solid"/>
                      <a:round/>
                      <a:headEnd type="none" w="med" len="med"/>
                      <a:tailEnd type="none" w="med" len="med"/>
                    </a:lnB>
                  </a:tcPr>
                </a:tc>
                <a:tc>
                  <a:txBody>
                    <a:bodyPr/>
                    <a:lstStyle/>
                    <a:p>
                      <a:pPr marL="0" indent="0">
                        <a:buNone/>
                      </a:pPr>
                      <a:r>
                        <a:rPr lang="en-US" sz="1800" dirty="0">
                          <a:solidFill>
                            <a:srgbClr val="1B3A33"/>
                          </a:solidFill>
                          <a:latin typeface="Calibri" pitchFamily="34" charset="0"/>
                          <a:ea typeface="Calibri" pitchFamily="34" charset="-122"/>
                          <a:cs typeface="Calibri" pitchFamily="34" charset="-120"/>
                        </a:rPr>
                        <a:t>Focus on demand meeting supply</a:t>
                      </a:r>
                      <a:endParaRPr lang="en-US" sz="1800" dirty="0">
                        <a:latin typeface="Calibri" charset="0"/>
                        <a:ea typeface="Calibri" charset="0"/>
                        <a:cs typeface="Calibri" charset="0"/>
                      </a:endParaRPr>
                    </a:p>
                  </a:txBody>
                  <a:tcPr anchor="ctr">
                    <a:lnL w="12700" cap="flat" cmpd="sng" algn="ctr">
                      <a:solidFill>
                        <a:srgbClr val="CFE0D6"/>
                      </a:solidFill>
                      <a:prstDash val="solid"/>
                      <a:round/>
                      <a:headEnd type="none" w="med" len="med"/>
                      <a:tailEnd type="none" w="med" len="med"/>
                    </a:lnL>
                    <a:lnR w="12700" cap="flat" cmpd="sng" algn="ctr">
                      <a:solidFill>
                        <a:srgbClr val="CFE0D6"/>
                      </a:solidFill>
                      <a:prstDash val="solid"/>
                      <a:round/>
                      <a:headEnd type="none" w="med" len="med"/>
                      <a:tailEnd type="none" w="med" len="med"/>
                    </a:lnR>
                    <a:lnT w="12700" cap="flat" cmpd="sng" algn="ctr">
                      <a:solidFill>
                        <a:srgbClr val="CFE0D6"/>
                      </a:solidFill>
                      <a:prstDash val="solid"/>
                      <a:round/>
                      <a:headEnd type="none" w="med" len="med"/>
                      <a:tailEnd type="none" w="med" len="med"/>
                    </a:lnT>
                    <a:lnB w="12700" cap="flat" cmpd="sng" algn="ctr">
                      <a:solidFill>
                        <a:srgbClr val="CFE0D6"/>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Shape 1"/>
          <p:cNvSpPr/>
          <p:nvPr/>
        </p:nvSpPr>
        <p:spPr>
          <a:xfrm>
            <a:off x="548640" y="4572000"/>
            <a:ext cx="4297680" cy="1600200"/>
          </a:xfrm>
          <a:prstGeom prst="roundRect">
            <a:avLst>
              <a:gd name="adj" fmla="val 11429"/>
            </a:avLst>
          </a:prstGeom>
          <a:solidFill>
            <a:srgbClr val="F3F8F4"/>
          </a:solidFill>
          <a:ln w="12700">
            <a:solidFill>
              <a:srgbClr val="F3F8F4"/>
            </a:solidFill>
            <a:prstDash val="solid"/>
          </a:ln>
        </p:spPr>
      </p:sp>
      <p:sp>
        <p:nvSpPr>
          <p:cNvPr id="6" name="Text 2"/>
          <p:cNvSpPr txBox="1"/>
          <p:nvPr/>
        </p:nvSpPr>
        <p:spPr>
          <a:xfrm>
            <a:off x="822960" y="4754880"/>
            <a:ext cx="3749040" cy="1280160"/>
          </a:xfrm>
          <a:prstGeom prst="rect">
            <a:avLst/>
          </a:prstGeom>
          <a:noFill/>
          <a:ln/>
        </p:spPr>
        <p:txBody>
          <a:bodyPr wrap="square" lIns="0" tIns="0" rIns="0" bIns="0" rtlCol="0" anchor="t"/>
          <a:lstStyle/>
          <a:p>
            <a:pPr marL="0" indent="0">
              <a:spcAft>
                <a:spcPts val="500"/>
              </a:spcAft>
              <a:buNone/>
            </a:pPr>
            <a:r>
              <a:rPr lang="en-US" sz="1500" b="1" dirty="0">
                <a:solidFill>
                  <a:srgbClr val="1B3A33"/>
                </a:solidFill>
                <a:latin typeface="Calibri" pitchFamily="34" charset="0"/>
                <a:ea typeface="Calibri" pitchFamily="34" charset="-122"/>
                <a:cs typeface="Calibri" pitchFamily="34" charset="-120"/>
              </a:rPr>
              <a:t>MOST APPROACHES ANSWER</a:t>
            </a:r>
            <a:endParaRPr lang="en-US" sz="1800" dirty="0"/>
          </a:p>
          <a:p>
            <a:pPr marL="0" indent="0">
              <a:spcAft>
                <a:spcPts val="500"/>
              </a:spcAft>
              <a:buNone/>
            </a:pPr>
            <a:r>
              <a:rPr lang="en-US" sz="2600" dirty="0">
                <a:solidFill>
                  <a:srgbClr val="10201C"/>
                </a:solidFill>
                <a:latin typeface="Calibri" pitchFamily="34" charset="0"/>
                <a:ea typeface="Calibri" pitchFamily="34" charset="-122"/>
                <a:cs typeface="Calibri" pitchFamily="34" charset="-120"/>
              </a:rPr>
              <a:t>Where can I find a worker?</a:t>
            </a:r>
            <a:endParaRPr lang="en-US" sz="1800" dirty="0"/>
          </a:p>
        </p:txBody>
      </p:sp>
      <p:sp>
        <p:nvSpPr>
          <p:cNvPr id="7" name="Text 3"/>
          <p:cNvSpPr txBox="1"/>
          <p:nvPr/>
        </p:nvSpPr>
        <p:spPr>
          <a:xfrm>
            <a:off x="4892040" y="5074920"/>
            <a:ext cx="640080" cy="640080"/>
          </a:xfrm>
          <a:prstGeom prst="rect">
            <a:avLst/>
          </a:prstGeom>
          <a:noFill/>
          <a:ln/>
        </p:spPr>
        <p:txBody>
          <a:bodyPr wrap="square" lIns="0" tIns="0" rIns="0" bIns="0" rtlCol="0" anchor="ctr"/>
          <a:lstStyle/>
          <a:p>
            <a:pPr marL="0" indent="0" algn="ctr">
              <a:buNone/>
            </a:pPr>
            <a:r>
              <a:rPr lang="en-US" sz="3400" b="1" dirty="0">
                <a:solidFill>
                  <a:srgbClr val="F97316"/>
                </a:solidFill>
                <a:latin typeface="Calibri" pitchFamily="34" charset="0"/>
                <a:ea typeface="Calibri" pitchFamily="34" charset="-122"/>
                <a:cs typeface="Calibri" pitchFamily="34" charset="-120"/>
              </a:rPr>
              <a:t>→</a:t>
            </a:r>
            <a:endParaRPr lang="en-US" sz="3400" dirty="0"/>
          </a:p>
        </p:txBody>
      </p:sp>
      <p:sp>
        <p:nvSpPr>
          <p:cNvPr id="8" name="Shape 4"/>
          <p:cNvSpPr/>
          <p:nvPr/>
        </p:nvSpPr>
        <p:spPr>
          <a:xfrm>
            <a:off x="5577840" y="4572000"/>
            <a:ext cx="6062472" cy="1600200"/>
          </a:xfrm>
          <a:prstGeom prst="roundRect">
            <a:avLst>
              <a:gd name="adj" fmla="val 11429"/>
            </a:avLst>
          </a:prstGeom>
          <a:solidFill>
            <a:srgbClr val="17795A"/>
          </a:solidFill>
          <a:ln w="12700">
            <a:solidFill>
              <a:srgbClr val="17795A"/>
            </a:solidFill>
            <a:prstDash val="solid"/>
          </a:ln>
        </p:spPr>
      </p:sp>
      <p:sp>
        <p:nvSpPr>
          <p:cNvPr id="9" name="Text 5"/>
          <p:cNvSpPr txBox="1"/>
          <p:nvPr/>
        </p:nvSpPr>
        <p:spPr>
          <a:xfrm>
            <a:off x="5852160" y="4681728"/>
            <a:ext cx="5486400" cy="914400"/>
          </a:xfrm>
          <a:prstGeom prst="rect">
            <a:avLst/>
          </a:prstGeom>
          <a:noFill/>
          <a:ln/>
        </p:spPr>
        <p:txBody>
          <a:bodyPr wrap="square" lIns="0" tIns="0" rIns="0" bIns="0" rtlCol="0" anchor="t"/>
          <a:lstStyle/>
          <a:p>
            <a:pPr marL="0" indent="0">
              <a:spcAft>
                <a:spcPts val="500"/>
              </a:spcAft>
              <a:buNone/>
            </a:pPr>
            <a:r>
              <a:rPr lang="en-US" sz="1500" b="1" dirty="0">
                <a:solidFill>
                  <a:srgbClr val="E2F3EA"/>
                </a:solidFill>
                <a:latin typeface="Calibri" pitchFamily="34" charset="0"/>
                <a:ea typeface="Calibri" pitchFamily="34" charset="-122"/>
                <a:cs typeface="Calibri" pitchFamily="34" charset="-120"/>
              </a:rPr>
              <a:t>CONTRACTORS ALSO NEED</a:t>
            </a:r>
            <a:endParaRPr lang="en-US" sz="1800" dirty="0"/>
          </a:p>
          <a:p>
            <a:pPr marL="0" indent="0">
              <a:spcAft>
                <a:spcPts val="500"/>
              </a:spcAft>
              <a:buNone/>
            </a:pPr>
            <a:r>
              <a:rPr lang="en-US" sz="2200" dirty="0">
                <a:solidFill>
                  <a:srgbClr val="FFFFFF"/>
                </a:solidFill>
                <a:latin typeface="Calibri" pitchFamily="34" charset="0"/>
                <a:ea typeface="Calibri" pitchFamily="34" charset="-122"/>
                <a:cs typeface="Calibri" pitchFamily="34" charset="-120"/>
              </a:rPr>
              <a:t>How do I organize and manage my workforce?</a:t>
            </a:r>
            <a:endParaRPr lang="en-US" sz="1800" dirty="0"/>
          </a:p>
        </p:txBody>
      </p:sp>
      <p:sp>
        <p:nvSpPr>
          <p:cNvPr id="10" name="Text 6"/>
          <p:cNvSpPr txBox="1"/>
          <p:nvPr/>
        </p:nvSpPr>
        <p:spPr>
          <a:xfrm>
            <a:off x="5852160" y="5596128"/>
            <a:ext cx="5486400" cy="502920"/>
          </a:xfrm>
          <a:prstGeom prst="rect">
            <a:avLst/>
          </a:prstGeom>
          <a:noFill/>
          <a:ln/>
        </p:spPr>
        <p:txBody>
          <a:bodyPr wrap="square" lIns="0" tIns="0" rIns="0" bIns="0" rtlCol="0" anchor="t"/>
          <a:lstStyle/>
          <a:p>
            <a:pPr marL="0" indent="0">
              <a:buNone/>
            </a:pPr>
            <a:r>
              <a:rPr lang="en-US" sz="1500" b="1" dirty="0">
                <a:solidFill>
                  <a:srgbClr val="F2F7F4"/>
                </a:solidFill>
                <a:latin typeface="Calibri" pitchFamily="34" charset="0"/>
                <a:ea typeface="Calibri" pitchFamily="34" charset="-122"/>
                <a:cs typeface="Calibri" pitchFamily="34" charset="-120"/>
              </a:rPr>
              <a:t>Hello moves workforce management from conversations to a structured system.</a:t>
            </a:r>
            <a:endParaRPr lang="en-US" sz="1500" dirty="0"/>
          </a:p>
        </p:txBody>
      </p:sp>
      <p:sp>
        <p:nvSpPr>
          <p:cNvPr id="25" name="Slide Number Placeholder 0"/>
          <p:cNvSpPr>
            <a:spLocks noGrp="1"/>
          </p:cNvSpPr>
          <p:nvPr>
            <p:ph type="sldNum" sz="quarter" idx="4294967295"/>
          </p:nvPr>
        </p:nvSpPr>
        <p:spPr>
          <a:xfrm>
            <a:off x="10881360" y="6400800"/>
            <a:ext cx="758952"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1B3A33"/>
                </a:solidFill>
                <a:latin typeface="Calibri"/>
                <a:ea typeface="Calibri"/>
                <a:cs typeface="Calibri"/>
              </a:defRPr>
            </a:lvl1pPr>
          </a:lstStyle>
          <a:p>
            <a:pPr algn="r"/>
            <a:fld id="{F7021451-1387-4CA6-816F-3879F97B5CBC}" type="slidenum">
              <a:rPr lang="en-US" b="1"/>
              <a:t>3</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68680"/>
          </a:xfrm>
          <a:prstGeom prst="rect">
            <a:avLst/>
          </a:prstGeom>
          <a:noFill/>
          <a:ln/>
        </p:spPr>
        <p:txBody>
          <a:bodyPr wrap="square" lIns="0" tIns="0" rIns="0" bIns="0" rtlCol="0" anchor="ctr"/>
          <a:lstStyle/>
          <a:p>
            <a:pPr marL="0" indent="0" algn="l">
              <a:buNone/>
            </a:pPr>
            <a:r>
              <a:rPr lang="en-US" sz="3800" b="1" dirty="0">
                <a:solidFill>
                  <a:srgbClr val="10201C"/>
                </a:solidFill>
                <a:latin typeface="Calibri" pitchFamily="34" charset="0"/>
                <a:ea typeface="Calibri" pitchFamily="34" charset="-122"/>
                <a:cs typeface="Calibri" pitchFamily="34" charset="-120"/>
              </a:rPr>
              <a:t>One system for the contractor's workforce</a:t>
            </a:r>
            <a:endParaRPr lang="en-US" sz="3800" dirty="0"/>
          </a:p>
        </p:txBody>
      </p:sp>
      <p:sp>
        <p:nvSpPr>
          <p:cNvPr id="4" name="Shape 1"/>
          <p:cNvSpPr/>
          <p:nvPr/>
        </p:nvSpPr>
        <p:spPr>
          <a:xfrm>
            <a:off x="548640" y="1417320"/>
            <a:ext cx="1962302" cy="3520440"/>
          </a:xfrm>
          <a:prstGeom prst="roundRect">
            <a:avLst>
              <a:gd name="adj" fmla="val 6524"/>
            </a:avLst>
          </a:prstGeom>
          <a:solidFill>
            <a:srgbClr val="FFFFFF"/>
          </a:solidFill>
          <a:ln w="12700">
            <a:solidFill>
              <a:srgbClr val="CFE0D6"/>
            </a:solidFill>
            <a:prstDash val="solid"/>
          </a:ln>
        </p:spPr>
      </p:sp>
      <p:sp>
        <p:nvSpPr>
          <p:cNvPr id="5" name="Shape 2"/>
          <p:cNvSpPr/>
          <p:nvPr/>
        </p:nvSpPr>
        <p:spPr>
          <a:xfrm>
            <a:off x="777240" y="1645920"/>
            <a:ext cx="502920" cy="502920"/>
          </a:xfrm>
          <a:prstGeom prst="ellipse">
            <a:avLst/>
          </a:prstGeom>
          <a:solidFill>
            <a:srgbClr val="F97316"/>
          </a:solidFill>
          <a:ln w="12700">
            <a:solidFill>
              <a:srgbClr val="F97316"/>
            </a:solidFill>
            <a:prstDash val="solid"/>
          </a:ln>
        </p:spPr>
      </p:sp>
      <p:sp>
        <p:nvSpPr>
          <p:cNvPr id="6" name="Text 3"/>
          <p:cNvSpPr txBox="1"/>
          <p:nvPr/>
        </p:nvSpPr>
        <p:spPr>
          <a:xfrm>
            <a:off x="777240" y="1645920"/>
            <a:ext cx="502920" cy="502920"/>
          </a:xfrm>
          <a:prstGeom prst="rect">
            <a:avLst/>
          </a:prstGeom>
          <a:noFill/>
          <a:ln/>
        </p:spPr>
        <p:txBody>
          <a:bodyPr wrap="square" lIns="0" tIns="0" rIns="0" bIns="0" rtlCol="0" anchor="ctr"/>
          <a:lstStyle/>
          <a:p>
            <a:pPr marL="0" indent="0" algn="ctr">
              <a:buNone/>
            </a:pPr>
            <a:r>
              <a:rPr lang="en-US" sz="2000" b="1" dirty="0">
                <a:solidFill>
                  <a:srgbClr val="10201C"/>
                </a:solidFill>
                <a:latin typeface="Calibri" pitchFamily="34" charset="0"/>
                <a:ea typeface="Calibri" pitchFamily="34" charset="-122"/>
                <a:cs typeface="Calibri" pitchFamily="34" charset="-120"/>
              </a:rPr>
              <a:t>1</a:t>
            </a:r>
            <a:endParaRPr lang="en-US" sz="2000" dirty="0"/>
          </a:p>
        </p:txBody>
      </p:sp>
      <p:sp>
        <p:nvSpPr>
          <p:cNvPr id="7" name="Text 4"/>
          <p:cNvSpPr txBox="1"/>
          <p:nvPr/>
        </p:nvSpPr>
        <p:spPr>
          <a:xfrm>
            <a:off x="777240" y="2331720"/>
            <a:ext cx="1550822" cy="2468880"/>
          </a:xfrm>
          <a:prstGeom prst="rect">
            <a:avLst/>
          </a:prstGeom>
          <a:noFill/>
          <a:ln/>
        </p:spPr>
        <p:txBody>
          <a:bodyPr wrap="square" lIns="0" tIns="0" rIns="0" bIns="0" rtlCol="0" anchor="t"/>
          <a:lstStyle/>
          <a:p>
            <a:pPr marL="0" indent="0">
              <a:spcAft>
                <a:spcPts val="500"/>
              </a:spcAft>
              <a:buNone/>
            </a:pPr>
            <a:r>
              <a:rPr lang="en-US" sz="2200" b="1" dirty="0">
                <a:solidFill>
                  <a:srgbClr val="10201C"/>
                </a:solidFill>
                <a:latin typeface="Calibri" pitchFamily="34" charset="0"/>
                <a:ea typeface="Calibri" pitchFamily="34" charset="-122"/>
                <a:cs typeface="Calibri" pitchFamily="34" charset="-120"/>
              </a:rPr>
              <a:t>Create</a:t>
            </a:r>
            <a:endParaRPr lang="en-US" sz="1800" dirty="0"/>
          </a:p>
          <a:p>
            <a:pPr marL="0" indent="0">
              <a:spcAft>
                <a:spcPts val="500"/>
              </a:spcAft>
              <a:buNone/>
            </a:pPr>
            <a:r>
              <a:rPr lang="en-US" sz="1800" dirty="0">
                <a:solidFill>
                  <a:srgbClr val="1B3A33"/>
                </a:solidFill>
                <a:latin typeface="Calibri" pitchFamily="34" charset="0"/>
                <a:ea typeface="Calibri" pitchFamily="34" charset="-122"/>
                <a:cs typeface="Calibri" pitchFamily="34" charset="-120"/>
              </a:rPr>
              <a:t>A structured requirement: project, site, category, number, skills, wage, duration, schedule.</a:t>
            </a:r>
            <a:endParaRPr lang="en-US" sz="1800" dirty="0"/>
          </a:p>
        </p:txBody>
      </p:sp>
      <p:sp>
        <p:nvSpPr>
          <p:cNvPr id="8" name="Text 5"/>
          <p:cNvSpPr txBox="1"/>
          <p:nvPr/>
        </p:nvSpPr>
        <p:spPr>
          <a:xfrm>
            <a:off x="2510942" y="2834640"/>
            <a:ext cx="320040" cy="457200"/>
          </a:xfrm>
          <a:prstGeom prst="rect">
            <a:avLst/>
          </a:prstGeom>
          <a:noFill/>
          <a:ln/>
        </p:spPr>
        <p:txBody>
          <a:bodyPr wrap="square" lIns="0" tIns="0" rIns="0" bIns="0" rtlCol="0" anchor="ctr"/>
          <a:lstStyle/>
          <a:p>
            <a:pPr marL="0" indent="0" algn="ctr">
              <a:buNone/>
            </a:pPr>
            <a:r>
              <a:rPr lang="en-US" sz="2200" b="1" dirty="0">
                <a:solidFill>
                  <a:srgbClr val="1D4ED8"/>
                </a:solidFill>
                <a:latin typeface="Calibri" pitchFamily="34" charset="0"/>
                <a:ea typeface="Calibri" pitchFamily="34" charset="-122"/>
                <a:cs typeface="Calibri" pitchFamily="34" charset="-120"/>
              </a:rPr>
              <a:t>→</a:t>
            </a:r>
            <a:endParaRPr lang="en-US" sz="2200" dirty="0"/>
          </a:p>
        </p:txBody>
      </p:sp>
      <p:sp>
        <p:nvSpPr>
          <p:cNvPr id="9" name="Shape 6"/>
          <p:cNvSpPr/>
          <p:nvPr/>
        </p:nvSpPr>
        <p:spPr>
          <a:xfrm>
            <a:off x="2830982" y="1417320"/>
            <a:ext cx="1962302" cy="3520440"/>
          </a:xfrm>
          <a:prstGeom prst="roundRect">
            <a:avLst>
              <a:gd name="adj" fmla="val 6524"/>
            </a:avLst>
          </a:prstGeom>
          <a:solidFill>
            <a:srgbClr val="FFFFFF"/>
          </a:solidFill>
          <a:ln w="12700">
            <a:solidFill>
              <a:srgbClr val="CFE0D6"/>
            </a:solidFill>
            <a:prstDash val="solid"/>
          </a:ln>
        </p:spPr>
      </p:sp>
      <p:sp>
        <p:nvSpPr>
          <p:cNvPr id="10" name="Shape 7"/>
          <p:cNvSpPr/>
          <p:nvPr/>
        </p:nvSpPr>
        <p:spPr>
          <a:xfrm>
            <a:off x="3059582" y="1645920"/>
            <a:ext cx="502920" cy="502920"/>
          </a:xfrm>
          <a:prstGeom prst="ellipse">
            <a:avLst/>
          </a:prstGeom>
          <a:solidFill>
            <a:srgbClr val="F97316"/>
          </a:solidFill>
          <a:ln w="12700">
            <a:solidFill>
              <a:srgbClr val="F97316"/>
            </a:solidFill>
            <a:prstDash val="solid"/>
          </a:ln>
        </p:spPr>
      </p:sp>
      <p:sp>
        <p:nvSpPr>
          <p:cNvPr id="11" name="Text 8"/>
          <p:cNvSpPr txBox="1"/>
          <p:nvPr/>
        </p:nvSpPr>
        <p:spPr>
          <a:xfrm>
            <a:off x="3059582" y="1645920"/>
            <a:ext cx="502920" cy="502920"/>
          </a:xfrm>
          <a:prstGeom prst="rect">
            <a:avLst/>
          </a:prstGeom>
          <a:noFill/>
          <a:ln/>
        </p:spPr>
        <p:txBody>
          <a:bodyPr wrap="square" lIns="0" tIns="0" rIns="0" bIns="0" rtlCol="0" anchor="ctr"/>
          <a:lstStyle/>
          <a:p>
            <a:pPr marL="0" indent="0" algn="ctr">
              <a:buNone/>
            </a:pPr>
            <a:r>
              <a:rPr lang="en-US" sz="2000" b="1" dirty="0">
                <a:solidFill>
                  <a:srgbClr val="10201C"/>
                </a:solidFill>
                <a:latin typeface="Calibri" pitchFamily="34" charset="0"/>
                <a:ea typeface="Calibri" pitchFamily="34" charset="-122"/>
                <a:cs typeface="Calibri" pitchFamily="34" charset="-120"/>
              </a:rPr>
              <a:t>2</a:t>
            </a:r>
            <a:endParaRPr lang="en-US" sz="2000" dirty="0"/>
          </a:p>
        </p:txBody>
      </p:sp>
      <p:sp>
        <p:nvSpPr>
          <p:cNvPr id="12" name="Text 9"/>
          <p:cNvSpPr txBox="1"/>
          <p:nvPr/>
        </p:nvSpPr>
        <p:spPr>
          <a:xfrm>
            <a:off x="3059582" y="2331720"/>
            <a:ext cx="1550822" cy="2468880"/>
          </a:xfrm>
          <a:prstGeom prst="rect">
            <a:avLst/>
          </a:prstGeom>
          <a:noFill/>
          <a:ln/>
        </p:spPr>
        <p:txBody>
          <a:bodyPr wrap="square" lIns="0" tIns="0" rIns="0" bIns="0" rtlCol="0" anchor="t"/>
          <a:lstStyle/>
          <a:p>
            <a:pPr marL="0" indent="0">
              <a:spcAft>
                <a:spcPts val="500"/>
              </a:spcAft>
              <a:buNone/>
            </a:pPr>
            <a:r>
              <a:rPr lang="en-US" sz="2200" b="1" dirty="0">
                <a:solidFill>
                  <a:srgbClr val="10201C"/>
                </a:solidFill>
                <a:latin typeface="Calibri" pitchFamily="34" charset="0"/>
                <a:ea typeface="Calibri" pitchFamily="34" charset="-122"/>
                <a:cs typeface="Calibri" pitchFamily="34" charset="-120"/>
              </a:rPr>
              <a:t>Find</a:t>
            </a:r>
            <a:endParaRPr lang="en-US" sz="1800" dirty="0"/>
          </a:p>
          <a:p>
            <a:pPr marL="0" indent="0">
              <a:spcAft>
                <a:spcPts val="500"/>
              </a:spcAft>
              <a:buNone/>
            </a:pPr>
            <a:r>
              <a:rPr lang="en-US" sz="1800" dirty="0">
                <a:solidFill>
                  <a:srgbClr val="1B3A33"/>
                </a:solidFill>
                <a:latin typeface="Calibri" pitchFamily="34" charset="0"/>
                <a:ea typeface="Calibri" pitchFamily="34" charset="-122"/>
                <a:cs typeface="Calibri" pitchFamily="34" charset="-120"/>
              </a:rPr>
              <a:t>Suitable workers by skills, availability, location, reliability and past work.</a:t>
            </a:r>
            <a:endParaRPr lang="en-US" sz="1800" dirty="0"/>
          </a:p>
        </p:txBody>
      </p:sp>
      <p:sp>
        <p:nvSpPr>
          <p:cNvPr id="13" name="Text 10"/>
          <p:cNvSpPr txBox="1"/>
          <p:nvPr/>
        </p:nvSpPr>
        <p:spPr>
          <a:xfrm>
            <a:off x="4793285" y="2834640"/>
            <a:ext cx="320040" cy="457200"/>
          </a:xfrm>
          <a:prstGeom prst="rect">
            <a:avLst/>
          </a:prstGeom>
          <a:noFill/>
          <a:ln/>
        </p:spPr>
        <p:txBody>
          <a:bodyPr wrap="square" lIns="0" tIns="0" rIns="0" bIns="0" rtlCol="0" anchor="ctr"/>
          <a:lstStyle/>
          <a:p>
            <a:pPr marL="0" indent="0" algn="ctr">
              <a:buNone/>
            </a:pPr>
            <a:r>
              <a:rPr lang="en-US" sz="2200" b="1" dirty="0">
                <a:solidFill>
                  <a:srgbClr val="1D4ED8"/>
                </a:solidFill>
                <a:latin typeface="Calibri" pitchFamily="34" charset="0"/>
                <a:ea typeface="Calibri" pitchFamily="34" charset="-122"/>
                <a:cs typeface="Calibri" pitchFamily="34" charset="-120"/>
              </a:rPr>
              <a:t>→</a:t>
            </a:r>
            <a:endParaRPr lang="en-US" sz="2200" dirty="0"/>
          </a:p>
        </p:txBody>
      </p:sp>
      <p:sp>
        <p:nvSpPr>
          <p:cNvPr id="14" name="Shape 11"/>
          <p:cNvSpPr/>
          <p:nvPr/>
        </p:nvSpPr>
        <p:spPr>
          <a:xfrm>
            <a:off x="5113325" y="1417320"/>
            <a:ext cx="1962302" cy="3520440"/>
          </a:xfrm>
          <a:prstGeom prst="roundRect">
            <a:avLst>
              <a:gd name="adj" fmla="val 6524"/>
            </a:avLst>
          </a:prstGeom>
          <a:solidFill>
            <a:srgbClr val="FFFFFF"/>
          </a:solidFill>
          <a:ln w="12700">
            <a:solidFill>
              <a:srgbClr val="CFE0D6"/>
            </a:solidFill>
            <a:prstDash val="solid"/>
          </a:ln>
        </p:spPr>
      </p:sp>
      <p:sp>
        <p:nvSpPr>
          <p:cNvPr id="15" name="Shape 12"/>
          <p:cNvSpPr/>
          <p:nvPr/>
        </p:nvSpPr>
        <p:spPr>
          <a:xfrm>
            <a:off x="5341925" y="1645920"/>
            <a:ext cx="502920" cy="502920"/>
          </a:xfrm>
          <a:prstGeom prst="ellipse">
            <a:avLst/>
          </a:prstGeom>
          <a:solidFill>
            <a:srgbClr val="F97316"/>
          </a:solidFill>
          <a:ln w="12700">
            <a:solidFill>
              <a:srgbClr val="F97316"/>
            </a:solidFill>
            <a:prstDash val="solid"/>
          </a:ln>
        </p:spPr>
      </p:sp>
      <p:sp>
        <p:nvSpPr>
          <p:cNvPr id="16" name="Text 13"/>
          <p:cNvSpPr txBox="1"/>
          <p:nvPr/>
        </p:nvSpPr>
        <p:spPr>
          <a:xfrm>
            <a:off x="5341925" y="1645920"/>
            <a:ext cx="502920" cy="502920"/>
          </a:xfrm>
          <a:prstGeom prst="rect">
            <a:avLst/>
          </a:prstGeom>
          <a:noFill/>
          <a:ln/>
        </p:spPr>
        <p:txBody>
          <a:bodyPr wrap="square" lIns="0" tIns="0" rIns="0" bIns="0" rtlCol="0" anchor="ctr"/>
          <a:lstStyle/>
          <a:p>
            <a:pPr marL="0" indent="0" algn="ctr">
              <a:buNone/>
            </a:pPr>
            <a:r>
              <a:rPr lang="en-US" sz="2000" b="1" dirty="0">
                <a:solidFill>
                  <a:srgbClr val="10201C"/>
                </a:solidFill>
                <a:latin typeface="Calibri" pitchFamily="34" charset="0"/>
                <a:ea typeface="Calibri" pitchFamily="34" charset="-122"/>
                <a:cs typeface="Calibri" pitchFamily="34" charset="-120"/>
              </a:rPr>
              <a:t>3</a:t>
            </a:r>
            <a:endParaRPr lang="en-US" sz="2000" dirty="0"/>
          </a:p>
        </p:txBody>
      </p:sp>
      <p:sp>
        <p:nvSpPr>
          <p:cNvPr id="17" name="Text 14"/>
          <p:cNvSpPr txBox="1"/>
          <p:nvPr/>
        </p:nvSpPr>
        <p:spPr>
          <a:xfrm>
            <a:off x="5341925" y="2331720"/>
            <a:ext cx="1550822" cy="2468880"/>
          </a:xfrm>
          <a:prstGeom prst="rect">
            <a:avLst/>
          </a:prstGeom>
          <a:noFill/>
          <a:ln/>
        </p:spPr>
        <p:txBody>
          <a:bodyPr wrap="square" lIns="0" tIns="0" rIns="0" bIns="0" rtlCol="0" anchor="t"/>
          <a:lstStyle/>
          <a:p>
            <a:pPr marL="0" indent="0">
              <a:spcAft>
                <a:spcPts val="500"/>
              </a:spcAft>
              <a:buNone/>
            </a:pPr>
            <a:r>
              <a:rPr lang="en-US" sz="2200" b="1" dirty="0">
                <a:solidFill>
                  <a:srgbClr val="10201C"/>
                </a:solidFill>
                <a:latin typeface="Calibri" pitchFamily="34" charset="0"/>
                <a:ea typeface="Calibri" pitchFamily="34" charset="-122"/>
                <a:cs typeface="Calibri" pitchFamily="34" charset="-120"/>
              </a:rPr>
              <a:t>Offer</a:t>
            </a:r>
            <a:endParaRPr lang="en-US" sz="1800" dirty="0"/>
          </a:p>
          <a:p>
            <a:pPr marL="0" indent="0">
              <a:spcAft>
                <a:spcPts val="500"/>
              </a:spcAft>
              <a:buNone/>
            </a:pPr>
            <a:r>
              <a:rPr lang="en-US" sz="1800" dirty="0">
                <a:solidFill>
                  <a:srgbClr val="1B3A33"/>
                </a:solidFill>
                <a:latin typeface="Calibri" pitchFamily="34" charset="0"/>
                <a:ea typeface="Calibri" pitchFamily="34" charset="-122"/>
                <a:cs typeface="Calibri" pitchFamily="34" charset="-120"/>
              </a:rPr>
              <a:t>Sent by app, SMS, IVR or call. On a basic phone: press 1 to accept, 2 to reject.</a:t>
            </a:r>
            <a:endParaRPr lang="en-US" sz="1800" dirty="0"/>
          </a:p>
        </p:txBody>
      </p:sp>
      <p:sp>
        <p:nvSpPr>
          <p:cNvPr id="18" name="Text 15"/>
          <p:cNvSpPr txBox="1"/>
          <p:nvPr/>
        </p:nvSpPr>
        <p:spPr>
          <a:xfrm>
            <a:off x="7075627" y="2834640"/>
            <a:ext cx="320040" cy="457200"/>
          </a:xfrm>
          <a:prstGeom prst="rect">
            <a:avLst/>
          </a:prstGeom>
          <a:noFill/>
          <a:ln/>
        </p:spPr>
        <p:txBody>
          <a:bodyPr wrap="square" lIns="0" tIns="0" rIns="0" bIns="0" rtlCol="0" anchor="ctr"/>
          <a:lstStyle/>
          <a:p>
            <a:pPr marL="0" indent="0" algn="ctr">
              <a:buNone/>
            </a:pPr>
            <a:r>
              <a:rPr lang="en-US" sz="2200" b="1" dirty="0">
                <a:solidFill>
                  <a:srgbClr val="1D4ED8"/>
                </a:solidFill>
                <a:latin typeface="Calibri" pitchFamily="34" charset="0"/>
                <a:ea typeface="Calibri" pitchFamily="34" charset="-122"/>
                <a:cs typeface="Calibri" pitchFamily="34" charset="-120"/>
              </a:rPr>
              <a:t>→</a:t>
            </a:r>
            <a:endParaRPr lang="en-US" sz="2200" dirty="0"/>
          </a:p>
        </p:txBody>
      </p:sp>
      <p:sp>
        <p:nvSpPr>
          <p:cNvPr id="19" name="Shape 16"/>
          <p:cNvSpPr/>
          <p:nvPr/>
        </p:nvSpPr>
        <p:spPr>
          <a:xfrm>
            <a:off x="7395667" y="1417320"/>
            <a:ext cx="1962302" cy="3520440"/>
          </a:xfrm>
          <a:prstGeom prst="roundRect">
            <a:avLst>
              <a:gd name="adj" fmla="val 6524"/>
            </a:avLst>
          </a:prstGeom>
          <a:solidFill>
            <a:srgbClr val="FFFFFF"/>
          </a:solidFill>
          <a:ln w="12700">
            <a:solidFill>
              <a:srgbClr val="CFE0D6"/>
            </a:solidFill>
            <a:prstDash val="solid"/>
          </a:ln>
        </p:spPr>
      </p:sp>
      <p:sp>
        <p:nvSpPr>
          <p:cNvPr id="20" name="Shape 17"/>
          <p:cNvSpPr/>
          <p:nvPr/>
        </p:nvSpPr>
        <p:spPr>
          <a:xfrm>
            <a:off x="7624267" y="1645920"/>
            <a:ext cx="502920" cy="502920"/>
          </a:xfrm>
          <a:prstGeom prst="ellipse">
            <a:avLst/>
          </a:prstGeom>
          <a:solidFill>
            <a:srgbClr val="F97316"/>
          </a:solidFill>
          <a:ln w="12700">
            <a:solidFill>
              <a:srgbClr val="F97316"/>
            </a:solidFill>
            <a:prstDash val="solid"/>
          </a:ln>
        </p:spPr>
      </p:sp>
      <p:sp>
        <p:nvSpPr>
          <p:cNvPr id="21" name="Text 18"/>
          <p:cNvSpPr txBox="1"/>
          <p:nvPr/>
        </p:nvSpPr>
        <p:spPr>
          <a:xfrm>
            <a:off x="7624267" y="1645920"/>
            <a:ext cx="502920" cy="502920"/>
          </a:xfrm>
          <a:prstGeom prst="rect">
            <a:avLst/>
          </a:prstGeom>
          <a:noFill/>
          <a:ln/>
        </p:spPr>
        <p:txBody>
          <a:bodyPr wrap="square" lIns="0" tIns="0" rIns="0" bIns="0" rtlCol="0" anchor="ctr"/>
          <a:lstStyle/>
          <a:p>
            <a:pPr marL="0" indent="0" algn="ctr">
              <a:buNone/>
            </a:pPr>
            <a:r>
              <a:rPr lang="en-US" sz="2000" b="1" dirty="0">
                <a:solidFill>
                  <a:srgbClr val="10201C"/>
                </a:solidFill>
                <a:latin typeface="Calibri" pitchFamily="34" charset="0"/>
                <a:ea typeface="Calibri" pitchFamily="34" charset="-122"/>
                <a:cs typeface="Calibri" pitchFamily="34" charset="-120"/>
              </a:rPr>
              <a:t>4</a:t>
            </a:r>
            <a:endParaRPr lang="en-US" sz="2000" dirty="0"/>
          </a:p>
        </p:txBody>
      </p:sp>
      <p:sp>
        <p:nvSpPr>
          <p:cNvPr id="22" name="Text 19"/>
          <p:cNvSpPr txBox="1"/>
          <p:nvPr/>
        </p:nvSpPr>
        <p:spPr>
          <a:xfrm>
            <a:off x="7624267" y="2331720"/>
            <a:ext cx="1550822" cy="2468880"/>
          </a:xfrm>
          <a:prstGeom prst="rect">
            <a:avLst/>
          </a:prstGeom>
          <a:noFill/>
          <a:ln/>
        </p:spPr>
        <p:txBody>
          <a:bodyPr wrap="square" lIns="0" tIns="0" rIns="0" bIns="0" rtlCol="0" anchor="t"/>
          <a:lstStyle/>
          <a:p>
            <a:pPr marL="0" indent="0">
              <a:spcAft>
                <a:spcPts val="500"/>
              </a:spcAft>
              <a:buNone/>
            </a:pPr>
            <a:r>
              <a:rPr lang="en-US" sz="2200" b="1" dirty="0">
                <a:solidFill>
                  <a:srgbClr val="10201C"/>
                </a:solidFill>
                <a:latin typeface="Calibri" pitchFamily="34" charset="0"/>
                <a:ea typeface="Calibri" pitchFamily="34" charset="-122"/>
                <a:cs typeface="Calibri" pitchFamily="34" charset="-120"/>
              </a:rPr>
              <a:t>Assign</a:t>
            </a:r>
            <a:endParaRPr lang="en-US" sz="1800" dirty="0"/>
          </a:p>
          <a:p>
            <a:pPr marL="0" indent="0">
              <a:spcAft>
                <a:spcPts val="500"/>
              </a:spcAft>
              <a:buNone/>
            </a:pPr>
            <a:r>
              <a:rPr lang="en-US" sz="1800" dirty="0">
                <a:solidFill>
                  <a:srgbClr val="1B3A33"/>
                </a:solidFill>
                <a:latin typeface="Calibri" pitchFamily="34" charset="0"/>
                <a:ea typeface="Calibri" pitchFamily="34" charset="-122"/>
                <a:cs typeface="Calibri" pitchFamily="34" charset="-120"/>
              </a:rPr>
              <a:t>Workers who accept are assigned to the project and site.</a:t>
            </a:r>
            <a:endParaRPr lang="en-US" sz="1800" dirty="0"/>
          </a:p>
        </p:txBody>
      </p:sp>
      <p:sp>
        <p:nvSpPr>
          <p:cNvPr id="23" name="Text 20"/>
          <p:cNvSpPr txBox="1"/>
          <p:nvPr/>
        </p:nvSpPr>
        <p:spPr>
          <a:xfrm>
            <a:off x="9357970" y="2834640"/>
            <a:ext cx="320040" cy="457200"/>
          </a:xfrm>
          <a:prstGeom prst="rect">
            <a:avLst/>
          </a:prstGeom>
          <a:noFill/>
          <a:ln/>
        </p:spPr>
        <p:txBody>
          <a:bodyPr wrap="square" lIns="0" tIns="0" rIns="0" bIns="0" rtlCol="0" anchor="ctr"/>
          <a:lstStyle/>
          <a:p>
            <a:pPr marL="0" indent="0" algn="ctr">
              <a:buNone/>
            </a:pPr>
            <a:r>
              <a:rPr lang="en-US" sz="2200" b="1" dirty="0">
                <a:solidFill>
                  <a:srgbClr val="1D4ED8"/>
                </a:solidFill>
                <a:latin typeface="Calibri" pitchFamily="34" charset="0"/>
                <a:ea typeface="Calibri" pitchFamily="34" charset="-122"/>
                <a:cs typeface="Calibri" pitchFamily="34" charset="-120"/>
              </a:rPr>
              <a:t>→</a:t>
            </a:r>
            <a:endParaRPr lang="en-US" sz="2200" dirty="0"/>
          </a:p>
        </p:txBody>
      </p:sp>
      <p:sp>
        <p:nvSpPr>
          <p:cNvPr id="24" name="Shape 21"/>
          <p:cNvSpPr/>
          <p:nvPr/>
        </p:nvSpPr>
        <p:spPr>
          <a:xfrm>
            <a:off x="9678010" y="1417320"/>
            <a:ext cx="1962302" cy="3520440"/>
          </a:xfrm>
          <a:prstGeom prst="roundRect">
            <a:avLst>
              <a:gd name="adj" fmla="val 6524"/>
            </a:avLst>
          </a:prstGeom>
          <a:solidFill>
            <a:srgbClr val="17795A"/>
          </a:solidFill>
          <a:ln w="12700">
            <a:solidFill>
              <a:srgbClr val="17795A"/>
            </a:solidFill>
            <a:prstDash val="solid"/>
          </a:ln>
        </p:spPr>
      </p:sp>
      <p:sp>
        <p:nvSpPr>
          <p:cNvPr id="25" name="Shape 22"/>
          <p:cNvSpPr/>
          <p:nvPr/>
        </p:nvSpPr>
        <p:spPr>
          <a:xfrm>
            <a:off x="9906610" y="1645920"/>
            <a:ext cx="502920" cy="502920"/>
          </a:xfrm>
          <a:prstGeom prst="ellipse">
            <a:avLst/>
          </a:prstGeom>
          <a:solidFill>
            <a:srgbClr val="F97316"/>
          </a:solidFill>
          <a:ln w="12700">
            <a:solidFill>
              <a:srgbClr val="F97316"/>
            </a:solidFill>
            <a:prstDash val="solid"/>
          </a:ln>
        </p:spPr>
      </p:sp>
      <p:sp>
        <p:nvSpPr>
          <p:cNvPr id="26" name="Text 23"/>
          <p:cNvSpPr txBox="1"/>
          <p:nvPr/>
        </p:nvSpPr>
        <p:spPr>
          <a:xfrm>
            <a:off x="9906610" y="1645920"/>
            <a:ext cx="502920" cy="502920"/>
          </a:xfrm>
          <a:prstGeom prst="rect">
            <a:avLst/>
          </a:prstGeom>
          <a:noFill/>
          <a:ln/>
        </p:spPr>
        <p:txBody>
          <a:bodyPr wrap="square" lIns="0" tIns="0" rIns="0" bIns="0" rtlCol="0" anchor="ctr"/>
          <a:lstStyle/>
          <a:p>
            <a:pPr marL="0" indent="0" algn="ctr">
              <a:buNone/>
            </a:pPr>
            <a:r>
              <a:rPr lang="en-US" sz="2000" b="1" dirty="0">
                <a:solidFill>
                  <a:srgbClr val="10201C"/>
                </a:solidFill>
                <a:latin typeface="Calibri" pitchFamily="34" charset="0"/>
                <a:ea typeface="Calibri" pitchFamily="34" charset="-122"/>
                <a:cs typeface="Calibri" pitchFamily="34" charset="-120"/>
              </a:rPr>
              <a:t>5</a:t>
            </a:r>
            <a:endParaRPr lang="en-US" sz="2000" dirty="0"/>
          </a:p>
        </p:txBody>
      </p:sp>
      <p:sp>
        <p:nvSpPr>
          <p:cNvPr id="27" name="Text 24"/>
          <p:cNvSpPr txBox="1"/>
          <p:nvPr/>
        </p:nvSpPr>
        <p:spPr>
          <a:xfrm>
            <a:off x="9906610" y="2331720"/>
            <a:ext cx="1550822" cy="2468880"/>
          </a:xfrm>
          <a:prstGeom prst="rect">
            <a:avLst/>
          </a:prstGeom>
          <a:noFill/>
          <a:ln/>
        </p:spPr>
        <p:txBody>
          <a:bodyPr wrap="square" lIns="0" tIns="0" rIns="0" bIns="0" rtlCol="0" anchor="t"/>
          <a:lstStyle/>
          <a:p>
            <a:pPr marL="0" indent="0">
              <a:spcAft>
                <a:spcPts val="500"/>
              </a:spcAft>
              <a:buNone/>
            </a:pPr>
            <a:r>
              <a:rPr lang="en-US" sz="2200" b="1" dirty="0">
                <a:solidFill>
                  <a:srgbClr val="FFFFFF"/>
                </a:solidFill>
                <a:latin typeface="Calibri" pitchFamily="34" charset="0"/>
                <a:ea typeface="Calibri" pitchFamily="34" charset="-122"/>
                <a:cs typeface="Calibri" pitchFamily="34" charset="-120"/>
              </a:rPr>
              <a:t>Manage</a:t>
            </a:r>
            <a:endParaRPr lang="en-US" sz="1800" dirty="0"/>
          </a:p>
          <a:p>
            <a:pPr marL="0" indent="0">
              <a:spcAft>
                <a:spcPts val="500"/>
              </a:spcAft>
              <a:buNone/>
            </a:pPr>
            <a:r>
              <a:rPr lang="en-US" sz="1800" dirty="0">
                <a:solidFill>
                  <a:srgbClr val="FFFFFF"/>
                </a:solidFill>
                <a:latin typeface="Calibri" pitchFamily="34" charset="0"/>
                <a:ea typeface="Calibri" pitchFamily="34" charset="-122"/>
                <a:cs typeface="Calibri" pitchFamily="34" charset="-120"/>
              </a:rPr>
              <a:t>One view of workers, projects, assignments and work records.</a:t>
            </a:r>
            <a:endParaRPr lang="en-US" sz="1800" dirty="0"/>
          </a:p>
        </p:txBody>
      </p:sp>
      <p:sp>
        <p:nvSpPr>
          <p:cNvPr id="28" name="Shape 25"/>
          <p:cNvSpPr/>
          <p:nvPr/>
        </p:nvSpPr>
        <p:spPr>
          <a:xfrm>
            <a:off x="548640" y="5212080"/>
            <a:ext cx="11091672" cy="960120"/>
          </a:xfrm>
          <a:prstGeom prst="roundRect">
            <a:avLst>
              <a:gd name="adj" fmla="val 17143"/>
            </a:avLst>
          </a:prstGeom>
          <a:solidFill>
            <a:srgbClr val="10265C"/>
          </a:solidFill>
          <a:ln w="12700">
            <a:solidFill>
              <a:srgbClr val="10265C"/>
            </a:solidFill>
            <a:prstDash val="solid"/>
          </a:ln>
        </p:spPr>
      </p:sp>
      <p:sp>
        <p:nvSpPr>
          <p:cNvPr id="29" name="Text 26"/>
          <p:cNvSpPr txBox="1"/>
          <p:nvPr/>
        </p:nvSpPr>
        <p:spPr>
          <a:xfrm>
            <a:off x="914400" y="5212080"/>
            <a:ext cx="10360152" cy="9601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Hello is the workforce management layer: everything a contractor needs to organize the workforce, in one place.</a:t>
            </a:r>
            <a:endParaRPr lang="en-US" sz="2200" dirty="0"/>
          </a:p>
        </p:txBody>
      </p:sp>
      <p:sp>
        <p:nvSpPr>
          <p:cNvPr id="3" name="Slide Number Placeholder 0"/>
          <p:cNvSpPr>
            <a:spLocks noGrp="1"/>
          </p:cNvSpPr>
          <p:nvPr>
            <p:ph type="sldNum" sz="quarter" idx="4294967295"/>
          </p:nvPr>
        </p:nvSpPr>
        <p:spPr>
          <a:xfrm>
            <a:off x="10881360" y="6400800"/>
            <a:ext cx="758952"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1B3A33"/>
                </a:solidFill>
                <a:latin typeface="Calibri"/>
                <a:ea typeface="Calibri"/>
                <a:cs typeface="Calibri"/>
              </a:defRPr>
            </a:lvl1pPr>
          </a:lstStyle>
          <a:p>
            <a:pPr algn="r"/>
            <a:fld id="{F7021451-1387-4CA6-816F-3879F97B5CBC}" type="slidenum">
              <a:rPr lang="en-US" b="1"/>
              <a:t>4</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68680"/>
          </a:xfrm>
          <a:prstGeom prst="rect">
            <a:avLst/>
          </a:prstGeom>
          <a:noFill/>
          <a:ln/>
        </p:spPr>
        <p:txBody>
          <a:bodyPr wrap="square" lIns="0" tIns="0" rIns="0" bIns="0" rtlCol="0" anchor="ctr"/>
          <a:lstStyle/>
          <a:p>
            <a:pPr marL="0" indent="0" algn="l">
              <a:buNone/>
            </a:pPr>
            <a:r>
              <a:rPr lang="en-US" sz="3800" b="1" dirty="0">
                <a:solidFill>
                  <a:srgbClr val="10201C"/>
                </a:solidFill>
                <a:latin typeface="Calibri" pitchFamily="34" charset="0"/>
                <a:ea typeface="Calibri" pitchFamily="34" charset="-122"/>
                <a:cs typeface="Calibri" pitchFamily="34" charset="-120"/>
              </a:rPr>
              <a:t>From requirement to workforce management</a:t>
            </a:r>
            <a:endParaRPr lang="en-US" sz="3800" dirty="0"/>
          </a:p>
        </p:txBody>
      </p:sp>
      <p:sp>
        <p:nvSpPr>
          <p:cNvPr id="4" name="Shape 1"/>
          <p:cNvSpPr/>
          <p:nvPr/>
        </p:nvSpPr>
        <p:spPr>
          <a:xfrm>
            <a:off x="548640" y="1417320"/>
            <a:ext cx="2464308" cy="2011680"/>
          </a:xfrm>
          <a:prstGeom prst="roundRect">
            <a:avLst>
              <a:gd name="adj" fmla="val 6364"/>
            </a:avLst>
          </a:prstGeom>
          <a:solidFill>
            <a:srgbClr val="FFFFFF"/>
          </a:solidFill>
          <a:ln w="12700">
            <a:solidFill>
              <a:srgbClr val="CFE0D6"/>
            </a:solidFill>
            <a:prstDash val="solid"/>
          </a:ln>
        </p:spPr>
      </p:sp>
      <p:sp>
        <p:nvSpPr>
          <p:cNvPr id="5" name="Shape 2"/>
          <p:cNvSpPr/>
          <p:nvPr/>
        </p:nvSpPr>
        <p:spPr>
          <a:xfrm>
            <a:off x="749808" y="1618488"/>
            <a:ext cx="457200" cy="457200"/>
          </a:xfrm>
          <a:prstGeom prst="ellipse">
            <a:avLst/>
          </a:prstGeom>
          <a:solidFill>
            <a:srgbClr val="F97316"/>
          </a:solidFill>
          <a:ln w="12700">
            <a:solidFill>
              <a:srgbClr val="F97316"/>
            </a:solidFill>
            <a:prstDash val="solid"/>
          </a:ln>
        </p:spPr>
      </p:sp>
      <p:sp>
        <p:nvSpPr>
          <p:cNvPr id="6" name="Text 3"/>
          <p:cNvSpPr txBox="1"/>
          <p:nvPr/>
        </p:nvSpPr>
        <p:spPr>
          <a:xfrm>
            <a:off x="749808" y="1618488"/>
            <a:ext cx="457200" cy="457200"/>
          </a:xfrm>
          <a:prstGeom prst="rect">
            <a:avLst/>
          </a:prstGeom>
          <a:noFill/>
          <a:ln/>
        </p:spPr>
        <p:txBody>
          <a:bodyPr wrap="square" lIns="0" tIns="0" rIns="0" bIns="0" rtlCol="0" anchor="ctr"/>
          <a:lstStyle/>
          <a:p>
            <a:pPr marL="0" indent="0" algn="ctr">
              <a:buNone/>
            </a:pPr>
            <a:r>
              <a:rPr lang="en-US" sz="1800" b="1" dirty="0">
                <a:solidFill>
                  <a:srgbClr val="10201C"/>
                </a:solidFill>
                <a:latin typeface="Calibri" pitchFamily="34" charset="0"/>
                <a:ea typeface="Calibri" pitchFamily="34" charset="-122"/>
                <a:cs typeface="Calibri" pitchFamily="34" charset="-120"/>
              </a:rPr>
              <a:t>1</a:t>
            </a:r>
            <a:endParaRPr lang="en-US" sz="1800" dirty="0"/>
          </a:p>
        </p:txBody>
      </p:sp>
      <p:sp>
        <p:nvSpPr>
          <p:cNvPr id="7" name="Text 4"/>
          <p:cNvSpPr txBox="1"/>
          <p:nvPr/>
        </p:nvSpPr>
        <p:spPr>
          <a:xfrm>
            <a:off x="1325880" y="1600200"/>
            <a:ext cx="1504188" cy="548640"/>
          </a:xfrm>
          <a:prstGeom prst="rect">
            <a:avLst/>
          </a:prstGeom>
          <a:noFill/>
          <a:ln/>
        </p:spPr>
        <p:txBody>
          <a:bodyPr wrap="square" lIns="0" tIns="0" rIns="0" bIns="0" rtlCol="0" anchor="ctr"/>
          <a:lstStyle/>
          <a:p>
            <a:pPr marL="0" indent="0">
              <a:buNone/>
            </a:pPr>
            <a:r>
              <a:rPr lang="en-US" sz="1900" b="1" dirty="0">
                <a:solidFill>
                  <a:srgbClr val="10201C"/>
                </a:solidFill>
                <a:latin typeface="Calibri" pitchFamily="34" charset="0"/>
                <a:ea typeface="Calibri" pitchFamily="34" charset="-122"/>
                <a:cs typeface="Calibri" pitchFamily="34" charset="-120"/>
              </a:rPr>
              <a:t>Contractor</a:t>
            </a:r>
            <a:endParaRPr lang="en-US" sz="1900" dirty="0"/>
          </a:p>
        </p:txBody>
      </p:sp>
      <p:sp>
        <p:nvSpPr>
          <p:cNvPr id="8" name="Text 5"/>
          <p:cNvSpPr txBox="1"/>
          <p:nvPr/>
        </p:nvSpPr>
        <p:spPr>
          <a:xfrm>
            <a:off x="777240" y="2286000"/>
            <a:ext cx="2052828" cy="1051560"/>
          </a:xfrm>
          <a:prstGeom prst="rect">
            <a:avLst/>
          </a:prstGeom>
          <a:noFill/>
          <a:ln/>
        </p:spPr>
        <p:txBody>
          <a:bodyPr wrap="square" lIns="0" tIns="0" rIns="0" bIns="0" rtlCol="0" anchor="t"/>
          <a:lstStyle/>
          <a:p>
            <a:pPr marL="0" indent="0">
              <a:buNone/>
            </a:pPr>
            <a:r>
              <a:rPr lang="en-US" sz="1700" dirty="0">
                <a:solidFill>
                  <a:srgbClr val="1B3A33"/>
                </a:solidFill>
                <a:latin typeface="Calibri" pitchFamily="34" charset="0"/>
                <a:ea typeface="Calibri" pitchFamily="34" charset="-122"/>
                <a:cs typeface="Calibri" pitchFamily="34" charset="-120"/>
              </a:rPr>
              <a:t>Starts a labour requirement.</a:t>
            </a:r>
            <a:endParaRPr lang="en-US" sz="1700" dirty="0"/>
          </a:p>
        </p:txBody>
      </p:sp>
      <p:sp>
        <p:nvSpPr>
          <p:cNvPr id="9" name="Text 6"/>
          <p:cNvSpPr txBox="1"/>
          <p:nvPr/>
        </p:nvSpPr>
        <p:spPr>
          <a:xfrm>
            <a:off x="3012948" y="2103120"/>
            <a:ext cx="411480" cy="548640"/>
          </a:xfrm>
          <a:prstGeom prst="rect">
            <a:avLst/>
          </a:prstGeom>
          <a:noFill/>
          <a:ln/>
        </p:spPr>
        <p:txBody>
          <a:bodyPr wrap="square" lIns="0" tIns="0" rIns="0" bIns="0" rtlCol="0" anchor="ctr"/>
          <a:lstStyle/>
          <a:p>
            <a:pPr marL="0" indent="0" algn="ctr">
              <a:buNone/>
            </a:pPr>
            <a:r>
              <a:rPr lang="en-US" sz="2400" b="1" dirty="0">
                <a:solidFill>
                  <a:srgbClr val="17795A"/>
                </a:solidFill>
                <a:latin typeface="Calibri" pitchFamily="34" charset="0"/>
                <a:ea typeface="Calibri" pitchFamily="34" charset="-122"/>
                <a:cs typeface="Calibri" pitchFamily="34" charset="-120"/>
              </a:rPr>
              <a:t>→</a:t>
            </a:r>
            <a:endParaRPr lang="en-US" sz="2400" dirty="0"/>
          </a:p>
        </p:txBody>
      </p:sp>
      <p:sp>
        <p:nvSpPr>
          <p:cNvPr id="10" name="Shape 7"/>
          <p:cNvSpPr/>
          <p:nvPr/>
        </p:nvSpPr>
        <p:spPr>
          <a:xfrm>
            <a:off x="3424428" y="1417320"/>
            <a:ext cx="2464308" cy="2011680"/>
          </a:xfrm>
          <a:prstGeom prst="roundRect">
            <a:avLst>
              <a:gd name="adj" fmla="val 6364"/>
            </a:avLst>
          </a:prstGeom>
          <a:solidFill>
            <a:srgbClr val="FFFFFF"/>
          </a:solidFill>
          <a:ln w="12700">
            <a:solidFill>
              <a:srgbClr val="CFE0D6"/>
            </a:solidFill>
            <a:prstDash val="solid"/>
          </a:ln>
        </p:spPr>
      </p:sp>
      <p:sp>
        <p:nvSpPr>
          <p:cNvPr id="11" name="Shape 8"/>
          <p:cNvSpPr/>
          <p:nvPr/>
        </p:nvSpPr>
        <p:spPr>
          <a:xfrm>
            <a:off x="3625596" y="1618488"/>
            <a:ext cx="457200" cy="457200"/>
          </a:xfrm>
          <a:prstGeom prst="ellipse">
            <a:avLst/>
          </a:prstGeom>
          <a:solidFill>
            <a:srgbClr val="F97316"/>
          </a:solidFill>
          <a:ln w="12700">
            <a:solidFill>
              <a:srgbClr val="F97316"/>
            </a:solidFill>
            <a:prstDash val="solid"/>
          </a:ln>
        </p:spPr>
      </p:sp>
      <p:sp>
        <p:nvSpPr>
          <p:cNvPr id="12" name="Text 9"/>
          <p:cNvSpPr txBox="1"/>
          <p:nvPr/>
        </p:nvSpPr>
        <p:spPr>
          <a:xfrm>
            <a:off x="3625596" y="1618488"/>
            <a:ext cx="457200" cy="457200"/>
          </a:xfrm>
          <a:prstGeom prst="rect">
            <a:avLst/>
          </a:prstGeom>
          <a:noFill/>
          <a:ln/>
        </p:spPr>
        <p:txBody>
          <a:bodyPr wrap="square" lIns="0" tIns="0" rIns="0" bIns="0" rtlCol="0" anchor="ctr"/>
          <a:lstStyle/>
          <a:p>
            <a:pPr marL="0" indent="0" algn="ctr">
              <a:buNone/>
            </a:pPr>
            <a:r>
              <a:rPr lang="en-US" sz="1800" b="1" dirty="0">
                <a:solidFill>
                  <a:srgbClr val="10201C"/>
                </a:solidFill>
                <a:latin typeface="Calibri" pitchFamily="34" charset="0"/>
                <a:ea typeface="Calibri" pitchFamily="34" charset="-122"/>
                <a:cs typeface="Calibri" pitchFamily="34" charset="-120"/>
              </a:rPr>
              <a:t>2</a:t>
            </a:r>
            <a:endParaRPr lang="en-US" sz="1800" dirty="0"/>
          </a:p>
        </p:txBody>
      </p:sp>
      <p:sp>
        <p:nvSpPr>
          <p:cNvPr id="13" name="Text 10"/>
          <p:cNvSpPr txBox="1"/>
          <p:nvPr/>
        </p:nvSpPr>
        <p:spPr>
          <a:xfrm>
            <a:off x="4201668" y="1600200"/>
            <a:ext cx="1504188" cy="548640"/>
          </a:xfrm>
          <a:prstGeom prst="rect">
            <a:avLst/>
          </a:prstGeom>
          <a:noFill/>
          <a:ln/>
        </p:spPr>
        <p:txBody>
          <a:bodyPr wrap="square" lIns="0" tIns="0" rIns="0" bIns="0" rtlCol="0" anchor="ctr"/>
          <a:lstStyle/>
          <a:p>
            <a:pPr marL="0" indent="0">
              <a:buNone/>
            </a:pPr>
            <a:r>
              <a:rPr lang="en-US" sz="1900" b="1" dirty="0">
                <a:solidFill>
                  <a:srgbClr val="10201C"/>
                </a:solidFill>
                <a:latin typeface="Calibri" pitchFamily="34" charset="0"/>
                <a:ea typeface="Calibri" pitchFamily="34" charset="-122"/>
                <a:cs typeface="Calibri" pitchFamily="34" charset="-120"/>
              </a:rPr>
              <a:t>Create labour requirement</a:t>
            </a:r>
            <a:endParaRPr lang="en-US" sz="1900" dirty="0"/>
          </a:p>
        </p:txBody>
      </p:sp>
      <p:sp>
        <p:nvSpPr>
          <p:cNvPr id="14" name="Text 11"/>
          <p:cNvSpPr txBox="1"/>
          <p:nvPr/>
        </p:nvSpPr>
        <p:spPr>
          <a:xfrm>
            <a:off x="3653028" y="2286000"/>
            <a:ext cx="2052828" cy="1051560"/>
          </a:xfrm>
          <a:prstGeom prst="rect">
            <a:avLst/>
          </a:prstGeom>
          <a:noFill/>
          <a:ln/>
        </p:spPr>
        <p:txBody>
          <a:bodyPr wrap="square" lIns="0" tIns="0" rIns="0" bIns="0" rtlCol="0" anchor="t"/>
          <a:lstStyle/>
          <a:p>
            <a:pPr marL="0" indent="0">
              <a:buNone/>
            </a:pPr>
            <a:r>
              <a:rPr lang="en-US" sz="1700" dirty="0">
                <a:solidFill>
                  <a:srgbClr val="1B3A33"/>
                </a:solidFill>
                <a:latin typeface="Calibri" pitchFamily="34" charset="0"/>
                <a:ea typeface="Calibri" pitchFamily="34" charset="-122"/>
                <a:cs typeface="Calibri" pitchFamily="34" charset="-120"/>
              </a:rPr>
              <a:t>Project · Site · Skills · Number of workers · Wage · Duration</a:t>
            </a:r>
            <a:endParaRPr lang="en-US" sz="1700" dirty="0"/>
          </a:p>
        </p:txBody>
      </p:sp>
      <p:sp>
        <p:nvSpPr>
          <p:cNvPr id="15" name="Text 12"/>
          <p:cNvSpPr txBox="1"/>
          <p:nvPr/>
        </p:nvSpPr>
        <p:spPr>
          <a:xfrm>
            <a:off x="5888736" y="2103120"/>
            <a:ext cx="411480" cy="548640"/>
          </a:xfrm>
          <a:prstGeom prst="rect">
            <a:avLst/>
          </a:prstGeom>
          <a:noFill/>
          <a:ln/>
        </p:spPr>
        <p:txBody>
          <a:bodyPr wrap="square" lIns="0" tIns="0" rIns="0" bIns="0" rtlCol="0" anchor="ctr"/>
          <a:lstStyle/>
          <a:p>
            <a:pPr marL="0" indent="0" algn="ctr">
              <a:buNone/>
            </a:pPr>
            <a:r>
              <a:rPr lang="en-US" sz="2400" b="1" dirty="0">
                <a:solidFill>
                  <a:srgbClr val="17795A"/>
                </a:solidFill>
                <a:latin typeface="Calibri" pitchFamily="34" charset="0"/>
                <a:ea typeface="Calibri" pitchFamily="34" charset="-122"/>
                <a:cs typeface="Calibri" pitchFamily="34" charset="-120"/>
              </a:rPr>
              <a:t>→</a:t>
            </a:r>
            <a:endParaRPr lang="en-US" sz="2400" dirty="0"/>
          </a:p>
        </p:txBody>
      </p:sp>
      <p:sp>
        <p:nvSpPr>
          <p:cNvPr id="16" name="Shape 13"/>
          <p:cNvSpPr/>
          <p:nvPr/>
        </p:nvSpPr>
        <p:spPr>
          <a:xfrm>
            <a:off x="6300216" y="1417320"/>
            <a:ext cx="2464308" cy="2011680"/>
          </a:xfrm>
          <a:prstGeom prst="roundRect">
            <a:avLst>
              <a:gd name="adj" fmla="val 6364"/>
            </a:avLst>
          </a:prstGeom>
          <a:solidFill>
            <a:srgbClr val="17795A"/>
          </a:solidFill>
          <a:ln w="12700">
            <a:solidFill>
              <a:srgbClr val="17795A"/>
            </a:solidFill>
            <a:prstDash val="solid"/>
          </a:ln>
        </p:spPr>
      </p:sp>
      <p:sp>
        <p:nvSpPr>
          <p:cNvPr id="17" name="Shape 14"/>
          <p:cNvSpPr/>
          <p:nvPr/>
        </p:nvSpPr>
        <p:spPr>
          <a:xfrm>
            <a:off x="6501384" y="1618488"/>
            <a:ext cx="457200" cy="457200"/>
          </a:xfrm>
          <a:prstGeom prst="ellipse">
            <a:avLst/>
          </a:prstGeom>
          <a:solidFill>
            <a:srgbClr val="F97316"/>
          </a:solidFill>
          <a:ln w="12700">
            <a:solidFill>
              <a:srgbClr val="F97316"/>
            </a:solidFill>
            <a:prstDash val="solid"/>
          </a:ln>
        </p:spPr>
      </p:sp>
      <p:sp>
        <p:nvSpPr>
          <p:cNvPr id="18" name="Text 15"/>
          <p:cNvSpPr txBox="1"/>
          <p:nvPr/>
        </p:nvSpPr>
        <p:spPr>
          <a:xfrm>
            <a:off x="6501384" y="1618488"/>
            <a:ext cx="457200" cy="457200"/>
          </a:xfrm>
          <a:prstGeom prst="rect">
            <a:avLst/>
          </a:prstGeom>
          <a:noFill/>
          <a:ln/>
        </p:spPr>
        <p:txBody>
          <a:bodyPr wrap="square" lIns="0" tIns="0" rIns="0" bIns="0" rtlCol="0" anchor="ctr"/>
          <a:lstStyle/>
          <a:p>
            <a:pPr marL="0" indent="0" algn="ctr">
              <a:buNone/>
            </a:pPr>
            <a:r>
              <a:rPr lang="en-US" sz="1800" b="1" dirty="0">
                <a:solidFill>
                  <a:srgbClr val="10201C"/>
                </a:solidFill>
                <a:latin typeface="Calibri" pitchFamily="34" charset="0"/>
                <a:ea typeface="Calibri" pitchFamily="34" charset="-122"/>
                <a:cs typeface="Calibri" pitchFamily="34" charset="-120"/>
              </a:rPr>
              <a:t>3</a:t>
            </a:r>
            <a:endParaRPr lang="en-US" sz="1800" dirty="0"/>
          </a:p>
        </p:txBody>
      </p:sp>
      <p:sp>
        <p:nvSpPr>
          <p:cNvPr id="19" name="Text 16"/>
          <p:cNvSpPr txBox="1"/>
          <p:nvPr/>
        </p:nvSpPr>
        <p:spPr>
          <a:xfrm>
            <a:off x="7077456" y="1600200"/>
            <a:ext cx="1504188" cy="54864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Hello matching engine</a:t>
            </a:r>
            <a:endParaRPr lang="en-US" sz="1900" dirty="0"/>
          </a:p>
        </p:txBody>
      </p:sp>
      <p:sp>
        <p:nvSpPr>
          <p:cNvPr id="20" name="Text 17"/>
          <p:cNvSpPr txBox="1"/>
          <p:nvPr/>
        </p:nvSpPr>
        <p:spPr>
          <a:xfrm>
            <a:off x="6528816" y="2286000"/>
            <a:ext cx="2052828" cy="1051560"/>
          </a:xfrm>
          <a:prstGeom prst="rect">
            <a:avLst/>
          </a:prstGeom>
          <a:noFill/>
          <a:ln/>
        </p:spPr>
        <p:txBody>
          <a:bodyPr wrap="square" lIns="0" tIns="0" rIns="0" bIns="0" rtlCol="0" anchor="t"/>
          <a:lstStyle/>
          <a:p>
            <a:pPr marL="0" indent="0">
              <a:buNone/>
            </a:pPr>
            <a:r>
              <a:rPr lang="en-US" sz="1700" dirty="0">
                <a:solidFill>
                  <a:srgbClr val="E2F3EA"/>
                </a:solidFill>
                <a:latin typeface="Calibri" pitchFamily="34" charset="0"/>
                <a:ea typeface="Calibri" pitchFamily="34" charset="-122"/>
                <a:cs typeface="Calibri" pitchFamily="34" charset="-120"/>
              </a:rPr>
              <a:t>Skills · Availability · Location · Work history</a:t>
            </a:r>
            <a:endParaRPr lang="en-US" sz="1700" dirty="0"/>
          </a:p>
        </p:txBody>
      </p:sp>
      <p:sp>
        <p:nvSpPr>
          <p:cNvPr id="21" name="Text 18"/>
          <p:cNvSpPr txBox="1"/>
          <p:nvPr/>
        </p:nvSpPr>
        <p:spPr>
          <a:xfrm>
            <a:off x="8764524" y="2103120"/>
            <a:ext cx="411480" cy="548640"/>
          </a:xfrm>
          <a:prstGeom prst="rect">
            <a:avLst/>
          </a:prstGeom>
          <a:noFill/>
          <a:ln/>
        </p:spPr>
        <p:txBody>
          <a:bodyPr wrap="square" lIns="0" tIns="0" rIns="0" bIns="0" rtlCol="0" anchor="ctr"/>
          <a:lstStyle/>
          <a:p>
            <a:pPr marL="0" indent="0" algn="ctr">
              <a:buNone/>
            </a:pPr>
            <a:r>
              <a:rPr lang="en-US" sz="2400" b="1" dirty="0">
                <a:solidFill>
                  <a:srgbClr val="17795A"/>
                </a:solidFill>
                <a:latin typeface="Calibri" pitchFamily="34" charset="0"/>
                <a:ea typeface="Calibri" pitchFamily="34" charset="-122"/>
                <a:cs typeface="Calibri" pitchFamily="34" charset="-120"/>
              </a:rPr>
              <a:t>→</a:t>
            </a:r>
            <a:endParaRPr lang="en-US" sz="2400" dirty="0"/>
          </a:p>
        </p:txBody>
      </p:sp>
      <p:sp>
        <p:nvSpPr>
          <p:cNvPr id="22" name="Shape 19"/>
          <p:cNvSpPr/>
          <p:nvPr/>
        </p:nvSpPr>
        <p:spPr>
          <a:xfrm>
            <a:off x="9176004" y="1417320"/>
            <a:ext cx="2464308" cy="2011680"/>
          </a:xfrm>
          <a:prstGeom prst="roundRect">
            <a:avLst>
              <a:gd name="adj" fmla="val 6364"/>
            </a:avLst>
          </a:prstGeom>
          <a:solidFill>
            <a:srgbClr val="FFFFFF"/>
          </a:solidFill>
          <a:ln w="12700">
            <a:solidFill>
              <a:srgbClr val="CFE0D6"/>
            </a:solidFill>
            <a:prstDash val="solid"/>
          </a:ln>
        </p:spPr>
      </p:sp>
      <p:sp>
        <p:nvSpPr>
          <p:cNvPr id="23" name="Shape 20"/>
          <p:cNvSpPr/>
          <p:nvPr/>
        </p:nvSpPr>
        <p:spPr>
          <a:xfrm>
            <a:off x="9377172" y="1618488"/>
            <a:ext cx="457200" cy="457200"/>
          </a:xfrm>
          <a:prstGeom prst="ellipse">
            <a:avLst/>
          </a:prstGeom>
          <a:solidFill>
            <a:srgbClr val="F97316"/>
          </a:solidFill>
          <a:ln w="12700">
            <a:solidFill>
              <a:srgbClr val="F97316"/>
            </a:solidFill>
            <a:prstDash val="solid"/>
          </a:ln>
        </p:spPr>
      </p:sp>
      <p:sp>
        <p:nvSpPr>
          <p:cNvPr id="24" name="Text 21"/>
          <p:cNvSpPr txBox="1"/>
          <p:nvPr/>
        </p:nvSpPr>
        <p:spPr>
          <a:xfrm>
            <a:off x="9377172" y="1618488"/>
            <a:ext cx="457200" cy="457200"/>
          </a:xfrm>
          <a:prstGeom prst="rect">
            <a:avLst/>
          </a:prstGeom>
          <a:noFill/>
          <a:ln/>
        </p:spPr>
        <p:txBody>
          <a:bodyPr wrap="square" lIns="0" tIns="0" rIns="0" bIns="0" rtlCol="0" anchor="ctr"/>
          <a:lstStyle/>
          <a:p>
            <a:pPr marL="0" indent="0" algn="ctr">
              <a:buNone/>
            </a:pPr>
            <a:r>
              <a:rPr lang="en-US" sz="1800" b="1" dirty="0">
                <a:solidFill>
                  <a:srgbClr val="10201C"/>
                </a:solidFill>
                <a:latin typeface="Calibri" pitchFamily="34" charset="0"/>
                <a:ea typeface="Calibri" pitchFamily="34" charset="-122"/>
                <a:cs typeface="Calibri" pitchFamily="34" charset="-120"/>
              </a:rPr>
              <a:t>4</a:t>
            </a:r>
            <a:endParaRPr lang="en-US" sz="1800" dirty="0"/>
          </a:p>
        </p:txBody>
      </p:sp>
      <p:sp>
        <p:nvSpPr>
          <p:cNvPr id="25" name="Text 22"/>
          <p:cNvSpPr txBox="1"/>
          <p:nvPr/>
        </p:nvSpPr>
        <p:spPr>
          <a:xfrm>
            <a:off x="9953244" y="1600200"/>
            <a:ext cx="1504188" cy="548640"/>
          </a:xfrm>
          <a:prstGeom prst="rect">
            <a:avLst/>
          </a:prstGeom>
          <a:noFill/>
          <a:ln/>
        </p:spPr>
        <p:txBody>
          <a:bodyPr wrap="square" lIns="0" tIns="0" rIns="0" bIns="0" rtlCol="0" anchor="ctr"/>
          <a:lstStyle/>
          <a:p>
            <a:pPr marL="0" indent="0">
              <a:buNone/>
            </a:pPr>
            <a:r>
              <a:rPr lang="en-US" sz="1900" b="1" dirty="0">
                <a:solidFill>
                  <a:srgbClr val="10201C"/>
                </a:solidFill>
                <a:latin typeface="Calibri" pitchFamily="34" charset="0"/>
                <a:ea typeface="Calibri" pitchFamily="34" charset="-122"/>
                <a:cs typeface="Calibri" pitchFamily="34" charset="-120"/>
              </a:rPr>
              <a:t>Suitable workers</a:t>
            </a:r>
            <a:endParaRPr lang="en-US" sz="1900" dirty="0"/>
          </a:p>
        </p:txBody>
      </p:sp>
      <p:sp>
        <p:nvSpPr>
          <p:cNvPr id="26" name="Text 23"/>
          <p:cNvSpPr txBox="1"/>
          <p:nvPr/>
        </p:nvSpPr>
        <p:spPr>
          <a:xfrm>
            <a:off x="9404604" y="2286000"/>
            <a:ext cx="2052828" cy="1051560"/>
          </a:xfrm>
          <a:prstGeom prst="rect">
            <a:avLst/>
          </a:prstGeom>
          <a:noFill/>
          <a:ln/>
        </p:spPr>
        <p:txBody>
          <a:bodyPr wrap="square" lIns="0" tIns="0" rIns="0" bIns="0" rtlCol="0" anchor="t"/>
          <a:lstStyle/>
          <a:p>
            <a:pPr marL="0" indent="0">
              <a:buNone/>
            </a:pPr>
            <a:r>
              <a:rPr lang="en-US" sz="1700" dirty="0">
                <a:solidFill>
                  <a:srgbClr val="1B3A33"/>
                </a:solidFill>
                <a:latin typeface="Calibri" pitchFamily="34" charset="0"/>
                <a:ea typeface="Calibri" pitchFamily="34" charset="-122"/>
                <a:cs typeface="Calibri" pitchFamily="34" charset="-120"/>
              </a:rPr>
              <a:t>A ranked list of workers who fit.</a:t>
            </a:r>
            <a:endParaRPr lang="en-US" sz="1700" dirty="0"/>
          </a:p>
        </p:txBody>
      </p:sp>
      <p:sp>
        <p:nvSpPr>
          <p:cNvPr id="27" name="Text 24"/>
          <p:cNvSpPr txBox="1"/>
          <p:nvPr/>
        </p:nvSpPr>
        <p:spPr>
          <a:xfrm>
            <a:off x="548640" y="3566160"/>
            <a:ext cx="11091672" cy="457200"/>
          </a:xfrm>
          <a:prstGeom prst="rect">
            <a:avLst/>
          </a:prstGeom>
          <a:noFill/>
          <a:ln/>
        </p:spPr>
        <p:txBody>
          <a:bodyPr wrap="square" lIns="0" tIns="0" rIns="0" bIns="0" rtlCol="0" anchor="ctr"/>
          <a:lstStyle/>
          <a:p>
            <a:pPr marL="0" indent="0" algn="ctr">
              <a:buNone/>
            </a:pPr>
            <a:r>
              <a:rPr lang="en-US" sz="1900" b="1" dirty="0">
                <a:solidFill>
                  <a:srgbClr val="17795A"/>
                </a:solidFill>
                <a:latin typeface="Calibri" pitchFamily="34" charset="0"/>
                <a:ea typeface="Calibri" pitchFamily="34" charset="-122"/>
                <a:cs typeface="Calibri" pitchFamily="34" charset="-120"/>
              </a:rPr>
              <a:t>↓   then the offer goes out and the contractor tracks it</a:t>
            </a:r>
            <a:endParaRPr lang="en-US" sz="1900" dirty="0"/>
          </a:p>
        </p:txBody>
      </p:sp>
      <p:sp>
        <p:nvSpPr>
          <p:cNvPr id="28" name="Shape 25"/>
          <p:cNvSpPr/>
          <p:nvPr/>
        </p:nvSpPr>
        <p:spPr>
          <a:xfrm>
            <a:off x="548640" y="4160520"/>
            <a:ext cx="2464308" cy="2011680"/>
          </a:xfrm>
          <a:prstGeom prst="roundRect">
            <a:avLst>
              <a:gd name="adj" fmla="val 6364"/>
            </a:avLst>
          </a:prstGeom>
          <a:solidFill>
            <a:srgbClr val="FFFFFF"/>
          </a:solidFill>
          <a:ln w="12700">
            <a:solidFill>
              <a:srgbClr val="CFE0D6"/>
            </a:solidFill>
            <a:prstDash val="solid"/>
          </a:ln>
        </p:spPr>
      </p:sp>
      <p:sp>
        <p:nvSpPr>
          <p:cNvPr id="29" name="Shape 26"/>
          <p:cNvSpPr/>
          <p:nvPr/>
        </p:nvSpPr>
        <p:spPr>
          <a:xfrm>
            <a:off x="749808" y="4361688"/>
            <a:ext cx="457200" cy="457200"/>
          </a:xfrm>
          <a:prstGeom prst="ellipse">
            <a:avLst/>
          </a:prstGeom>
          <a:solidFill>
            <a:srgbClr val="F97316"/>
          </a:solidFill>
          <a:ln w="12700">
            <a:solidFill>
              <a:srgbClr val="F97316"/>
            </a:solidFill>
            <a:prstDash val="solid"/>
          </a:ln>
        </p:spPr>
      </p:sp>
      <p:sp>
        <p:nvSpPr>
          <p:cNvPr id="30" name="Text 27"/>
          <p:cNvSpPr txBox="1"/>
          <p:nvPr/>
        </p:nvSpPr>
        <p:spPr>
          <a:xfrm>
            <a:off x="749808" y="4361688"/>
            <a:ext cx="457200" cy="457200"/>
          </a:xfrm>
          <a:prstGeom prst="rect">
            <a:avLst/>
          </a:prstGeom>
          <a:noFill/>
          <a:ln/>
        </p:spPr>
        <p:txBody>
          <a:bodyPr wrap="square" lIns="0" tIns="0" rIns="0" bIns="0" rtlCol="0" anchor="ctr"/>
          <a:lstStyle/>
          <a:p>
            <a:pPr marL="0" indent="0" algn="ctr">
              <a:buNone/>
            </a:pPr>
            <a:r>
              <a:rPr lang="en-US" sz="1800" b="1" dirty="0">
                <a:solidFill>
                  <a:srgbClr val="10201C"/>
                </a:solidFill>
                <a:latin typeface="Calibri" pitchFamily="34" charset="0"/>
                <a:ea typeface="Calibri" pitchFamily="34" charset="-122"/>
                <a:cs typeface="Calibri" pitchFamily="34" charset="-120"/>
              </a:rPr>
              <a:t>5</a:t>
            </a:r>
            <a:endParaRPr lang="en-US" sz="1800" dirty="0"/>
          </a:p>
        </p:txBody>
      </p:sp>
      <p:sp>
        <p:nvSpPr>
          <p:cNvPr id="31" name="Text 28"/>
          <p:cNvSpPr txBox="1"/>
          <p:nvPr/>
        </p:nvSpPr>
        <p:spPr>
          <a:xfrm>
            <a:off x="1325880" y="4343400"/>
            <a:ext cx="1504188" cy="548640"/>
          </a:xfrm>
          <a:prstGeom prst="rect">
            <a:avLst/>
          </a:prstGeom>
          <a:noFill/>
          <a:ln/>
        </p:spPr>
        <p:txBody>
          <a:bodyPr wrap="square" lIns="0" tIns="0" rIns="0" bIns="0" rtlCol="0" anchor="ctr"/>
          <a:lstStyle/>
          <a:p>
            <a:pPr marL="0" indent="0">
              <a:buNone/>
            </a:pPr>
            <a:r>
              <a:rPr lang="en-US" sz="1900" b="1" dirty="0">
                <a:solidFill>
                  <a:srgbClr val="10201C"/>
                </a:solidFill>
                <a:latin typeface="Calibri" pitchFamily="34" charset="0"/>
                <a:ea typeface="Calibri" pitchFamily="34" charset="-122"/>
                <a:cs typeface="Calibri" pitchFamily="34" charset="-120"/>
              </a:rPr>
              <a:t>Offer sent</a:t>
            </a:r>
            <a:endParaRPr lang="en-US" sz="1900" dirty="0"/>
          </a:p>
        </p:txBody>
      </p:sp>
      <p:sp>
        <p:nvSpPr>
          <p:cNvPr id="32" name="Text 29"/>
          <p:cNvSpPr txBox="1"/>
          <p:nvPr/>
        </p:nvSpPr>
        <p:spPr>
          <a:xfrm>
            <a:off x="777240" y="5029200"/>
            <a:ext cx="2052828" cy="1051560"/>
          </a:xfrm>
          <a:prstGeom prst="rect">
            <a:avLst/>
          </a:prstGeom>
          <a:noFill/>
          <a:ln/>
        </p:spPr>
        <p:txBody>
          <a:bodyPr wrap="square" lIns="0" tIns="0" rIns="0" bIns="0" rtlCol="0" anchor="t"/>
          <a:lstStyle/>
          <a:p>
            <a:pPr marL="0" indent="0">
              <a:buNone/>
            </a:pPr>
            <a:r>
              <a:rPr lang="en-US" sz="1700" dirty="0">
                <a:solidFill>
                  <a:srgbClr val="1B3A33"/>
                </a:solidFill>
                <a:latin typeface="Calibri" pitchFamily="34" charset="0"/>
                <a:ea typeface="Calibri" pitchFamily="34" charset="-122"/>
                <a:cs typeface="Calibri" pitchFamily="34" charset="-120"/>
              </a:rPr>
              <a:t>App · SMS · IVR · Call</a:t>
            </a:r>
            <a:endParaRPr lang="en-US" sz="1700" dirty="0"/>
          </a:p>
        </p:txBody>
      </p:sp>
      <p:sp>
        <p:nvSpPr>
          <p:cNvPr id="33" name="Text 30"/>
          <p:cNvSpPr txBox="1"/>
          <p:nvPr/>
        </p:nvSpPr>
        <p:spPr>
          <a:xfrm>
            <a:off x="3012948" y="4846320"/>
            <a:ext cx="411480" cy="548640"/>
          </a:xfrm>
          <a:prstGeom prst="rect">
            <a:avLst/>
          </a:prstGeom>
          <a:noFill/>
          <a:ln/>
        </p:spPr>
        <p:txBody>
          <a:bodyPr wrap="square" lIns="0" tIns="0" rIns="0" bIns="0" rtlCol="0" anchor="ctr"/>
          <a:lstStyle/>
          <a:p>
            <a:pPr marL="0" indent="0" algn="ctr">
              <a:buNone/>
            </a:pPr>
            <a:r>
              <a:rPr lang="en-US" sz="2400" b="1" dirty="0">
                <a:solidFill>
                  <a:srgbClr val="17795A"/>
                </a:solidFill>
                <a:latin typeface="Calibri" pitchFamily="34" charset="0"/>
                <a:ea typeface="Calibri" pitchFamily="34" charset="-122"/>
                <a:cs typeface="Calibri" pitchFamily="34" charset="-120"/>
              </a:rPr>
              <a:t>→</a:t>
            </a:r>
            <a:endParaRPr lang="en-US" sz="2400" dirty="0"/>
          </a:p>
        </p:txBody>
      </p:sp>
      <p:sp>
        <p:nvSpPr>
          <p:cNvPr id="34" name="Shape 31"/>
          <p:cNvSpPr/>
          <p:nvPr/>
        </p:nvSpPr>
        <p:spPr>
          <a:xfrm>
            <a:off x="3424428" y="4160520"/>
            <a:ext cx="2464308" cy="2011680"/>
          </a:xfrm>
          <a:prstGeom prst="roundRect">
            <a:avLst>
              <a:gd name="adj" fmla="val 6364"/>
            </a:avLst>
          </a:prstGeom>
          <a:solidFill>
            <a:srgbClr val="FFFFFF"/>
          </a:solidFill>
          <a:ln w="12700">
            <a:solidFill>
              <a:srgbClr val="CFE0D6"/>
            </a:solidFill>
            <a:prstDash val="solid"/>
          </a:ln>
        </p:spPr>
      </p:sp>
      <p:sp>
        <p:nvSpPr>
          <p:cNvPr id="35" name="Shape 32"/>
          <p:cNvSpPr/>
          <p:nvPr/>
        </p:nvSpPr>
        <p:spPr>
          <a:xfrm>
            <a:off x="3625596" y="4361688"/>
            <a:ext cx="457200" cy="457200"/>
          </a:xfrm>
          <a:prstGeom prst="ellipse">
            <a:avLst/>
          </a:prstGeom>
          <a:solidFill>
            <a:srgbClr val="F97316"/>
          </a:solidFill>
          <a:ln w="12700">
            <a:solidFill>
              <a:srgbClr val="F97316"/>
            </a:solidFill>
            <a:prstDash val="solid"/>
          </a:ln>
        </p:spPr>
      </p:sp>
      <p:sp>
        <p:nvSpPr>
          <p:cNvPr id="36" name="Text 33"/>
          <p:cNvSpPr txBox="1"/>
          <p:nvPr/>
        </p:nvSpPr>
        <p:spPr>
          <a:xfrm>
            <a:off x="3625596" y="4361688"/>
            <a:ext cx="457200" cy="457200"/>
          </a:xfrm>
          <a:prstGeom prst="rect">
            <a:avLst/>
          </a:prstGeom>
          <a:noFill/>
          <a:ln/>
        </p:spPr>
        <p:txBody>
          <a:bodyPr wrap="square" lIns="0" tIns="0" rIns="0" bIns="0" rtlCol="0" anchor="ctr"/>
          <a:lstStyle/>
          <a:p>
            <a:pPr marL="0" indent="0" algn="ctr">
              <a:buNone/>
            </a:pPr>
            <a:r>
              <a:rPr lang="en-US" sz="1800" b="1" dirty="0">
                <a:solidFill>
                  <a:srgbClr val="10201C"/>
                </a:solidFill>
                <a:latin typeface="Calibri" pitchFamily="34" charset="0"/>
                <a:ea typeface="Calibri" pitchFamily="34" charset="-122"/>
                <a:cs typeface="Calibri" pitchFamily="34" charset="-120"/>
              </a:rPr>
              <a:t>6</a:t>
            </a:r>
            <a:endParaRPr lang="en-US" sz="1800" dirty="0"/>
          </a:p>
        </p:txBody>
      </p:sp>
      <p:sp>
        <p:nvSpPr>
          <p:cNvPr id="37" name="Text 34"/>
          <p:cNvSpPr txBox="1"/>
          <p:nvPr/>
        </p:nvSpPr>
        <p:spPr>
          <a:xfrm>
            <a:off x="4201668" y="4343400"/>
            <a:ext cx="1504188" cy="548640"/>
          </a:xfrm>
          <a:prstGeom prst="rect">
            <a:avLst/>
          </a:prstGeom>
          <a:noFill/>
          <a:ln/>
        </p:spPr>
        <p:txBody>
          <a:bodyPr wrap="square" lIns="0" tIns="0" rIns="0" bIns="0" rtlCol="0" anchor="ctr"/>
          <a:lstStyle/>
          <a:p>
            <a:pPr marL="0" indent="0">
              <a:buNone/>
            </a:pPr>
            <a:r>
              <a:rPr lang="en-US" sz="1900" b="1" dirty="0">
                <a:solidFill>
                  <a:srgbClr val="10201C"/>
                </a:solidFill>
                <a:latin typeface="Calibri" pitchFamily="34" charset="0"/>
                <a:ea typeface="Calibri" pitchFamily="34" charset="-122"/>
                <a:cs typeface="Calibri" pitchFamily="34" charset="-120"/>
              </a:rPr>
              <a:t>Accept or reject</a:t>
            </a:r>
            <a:endParaRPr lang="en-US" sz="1900" dirty="0"/>
          </a:p>
        </p:txBody>
      </p:sp>
      <p:sp>
        <p:nvSpPr>
          <p:cNvPr id="38" name="Text 35"/>
          <p:cNvSpPr txBox="1"/>
          <p:nvPr/>
        </p:nvSpPr>
        <p:spPr>
          <a:xfrm>
            <a:off x="3653028" y="5029200"/>
            <a:ext cx="2052828" cy="1051560"/>
          </a:xfrm>
          <a:prstGeom prst="rect">
            <a:avLst/>
          </a:prstGeom>
          <a:noFill/>
          <a:ln/>
        </p:spPr>
        <p:txBody>
          <a:bodyPr wrap="square" lIns="0" tIns="0" rIns="0" bIns="0" rtlCol="0" anchor="t"/>
          <a:lstStyle/>
          <a:p>
            <a:pPr marL="0" indent="0">
              <a:buNone/>
            </a:pPr>
            <a:r>
              <a:rPr lang="en-US" sz="1700" dirty="0">
                <a:solidFill>
                  <a:srgbClr val="1B3A33"/>
                </a:solidFill>
                <a:latin typeface="Calibri" pitchFamily="34" charset="0"/>
                <a:ea typeface="Calibri" pitchFamily="34" charset="-122"/>
                <a:cs typeface="Calibri" pitchFamily="34" charset="-120"/>
              </a:rPr>
              <a:t>The worker answers on their own device.</a:t>
            </a:r>
            <a:endParaRPr lang="en-US" sz="1700" dirty="0"/>
          </a:p>
        </p:txBody>
      </p:sp>
      <p:sp>
        <p:nvSpPr>
          <p:cNvPr id="39" name="Text 36"/>
          <p:cNvSpPr txBox="1"/>
          <p:nvPr/>
        </p:nvSpPr>
        <p:spPr>
          <a:xfrm>
            <a:off x="5888736" y="4846320"/>
            <a:ext cx="411480" cy="548640"/>
          </a:xfrm>
          <a:prstGeom prst="rect">
            <a:avLst/>
          </a:prstGeom>
          <a:noFill/>
          <a:ln/>
        </p:spPr>
        <p:txBody>
          <a:bodyPr wrap="square" lIns="0" tIns="0" rIns="0" bIns="0" rtlCol="0" anchor="ctr"/>
          <a:lstStyle/>
          <a:p>
            <a:pPr marL="0" indent="0" algn="ctr">
              <a:buNone/>
            </a:pPr>
            <a:r>
              <a:rPr lang="en-US" sz="2400" b="1" dirty="0">
                <a:solidFill>
                  <a:srgbClr val="17795A"/>
                </a:solidFill>
                <a:latin typeface="Calibri" pitchFamily="34" charset="0"/>
                <a:ea typeface="Calibri" pitchFamily="34" charset="-122"/>
                <a:cs typeface="Calibri" pitchFamily="34" charset="-120"/>
              </a:rPr>
              <a:t>→</a:t>
            </a:r>
            <a:endParaRPr lang="en-US" sz="2400" dirty="0"/>
          </a:p>
        </p:txBody>
      </p:sp>
      <p:sp>
        <p:nvSpPr>
          <p:cNvPr id="40" name="Shape 37"/>
          <p:cNvSpPr/>
          <p:nvPr/>
        </p:nvSpPr>
        <p:spPr>
          <a:xfrm>
            <a:off x="6300216" y="4160520"/>
            <a:ext cx="2464308" cy="2011680"/>
          </a:xfrm>
          <a:prstGeom prst="roundRect">
            <a:avLst>
              <a:gd name="adj" fmla="val 6364"/>
            </a:avLst>
          </a:prstGeom>
          <a:solidFill>
            <a:srgbClr val="FFFFFF"/>
          </a:solidFill>
          <a:ln w="12700">
            <a:solidFill>
              <a:srgbClr val="CFE0D6"/>
            </a:solidFill>
            <a:prstDash val="solid"/>
          </a:ln>
        </p:spPr>
      </p:sp>
      <p:sp>
        <p:nvSpPr>
          <p:cNvPr id="41" name="Shape 38"/>
          <p:cNvSpPr/>
          <p:nvPr/>
        </p:nvSpPr>
        <p:spPr>
          <a:xfrm>
            <a:off x="6501384" y="4361688"/>
            <a:ext cx="457200" cy="457200"/>
          </a:xfrm>
          <a:prstGeom prst="ellipse">
            <a:avLst/>
          </a:prstGeom>
          <a:solidFill>
            <a:srgbClr val="F97316"/>
          </a:solidFill>
          <a:ln w="12700">
            <a:solidFill>
              <a:srgbClr val="F97316"/>
            </a:solidFill>
            <a:prstDash val="solid"/>
          </a:ln>
        </p:spPr>
      </p:sp>
      <p:sp>
        <p:nvSpPr>
          <p:cNvPr id="42" name="Text 39"/>
          <p:cNvSpPr txBox="1"/>
          <p:nvPr/>
        </p:nvSpPr>
        <p:spPr>
          <a:xfrm>
            <a:off x="6501384" y="4361688"/>
            <a:ext cx="457200" cy="457200"/>
          </a:xfrm>
          <a:prstGeom prst="rect">
            <a:avLst/>
          </a:prstGeom>
          <a:noFill/>
          <a:ln/>
        </p:spPr>
        <p:txBody>
          <a:bodyPr wrap="square" lIns="0" tIns="0" rIns="0" bIns="0" rtlCol="0" anchor="ctr"/>
          <a:lstStyle/>
          <a:p>
            <a:pPr marL="0" indent="0" algn="ctr">
              <a:buNone/>
            </a:pPr>
            <a:r>
              <a:rPr lang="en-US" sz="1800" b="1" dirty="0">
                <a:solidFill>
                  <a:srgbClr val="10201C"/>
                </a:solidFill>
                <a:latin typeface="Calibri" pitchFamily="34" charset="0"/>
                <a:ea typeface="Calibri" pitchFamily="34" charset="-122"/>
                <a:cs typeface="Calibri" pitchFamily="34" charset="-120"/>
              </a:rPr>
              <a:t>7</a:t>
            </a:r>
            <a:endParaRPr lang="en-US" sz="1800" dirty="0"/>
          </a:p>
        </p:txBody>
      </p:sp>
      <p:sp>
        <p:nvSpPr>
          <p:cNvPr id="43" name="Text 40"/>
          <p:cNvSpPr txBox="1"/>
          <p:nvPr/>
        </p:nvSpPr>
        <p:spPr>
          <a:xfrm>
            <a:off x="7077456" y="4343400"/>
            <a:ext cx="1504188" cy="548640"/>
          </a:xfrm>
          <a:prstGeom prst="rect">
            <a:avLst/>
          </a:prstGeom>
          <a:noFill/>
          <a:ln/>
        </p:spPr>
        <p:txBody>
          <a:bodyPr wrap="square" lIns="0" tIns="0" rIns="0" bIns="0" rtlCol="0" anchor="ctr"/>
          <a:lstStyle/>
          <a:p>
            <a:pPr marL="0" indent="0">
              <a:buNone/>
            </a:pPr>
            <a:r>
              <a:rPr lang="en-US" sz="1900" b="1" dirty="0">
                <a:solidFill>
                  <a:srgbClr val="10201C"/>
                </a:solidFill>
                <a:latin typeface="Calibri" pitchFamily="34" charset="0"/>
                <a:ea typeface="Calibri" pitchFamily="34" charset="-122"/>
                <a:cs typeface="Calibri" pitchFamily="34" charset="-120"/>
              </a:rPr>
              <a:t>Worker assigned</a:t>
            </a:r>
            <a:endParaRPr lang="en-US" sz="1900" dirty="0"/>
          </a:p>
        </p:txBody>
      </p:sp>
      <p:sp>
        <p:nvSpPr>
          <p:cNvPr id="44" name="Text 41"/>
          <p:cNvSpPr txBox="1"/>
          <p:nvPr/>
        </p:nvSpPr>
        <p:spPr>
          <a:xfrm>
            <a:off x="6528816" y="5029200"/>
            <a:ext cx="2052828" cy="1051560"/>
          </a:xfrm>
          <a:prstGeom prst="rect">
            <a:avLst/>
          </a:prstGeom>
          <a:noFill/>
          <a:ln/>
        </p:spPr>
        <p:txBody>
          <a:bodyPr wrap="square" lIns="0" tIns="0" rIns="0" bIns="0" rtlCol="0" anchor="t"/>
          <a:lstStyle/>
          <a:p>
            <a:pPr marL="0" indent="0">
              <a:buNone/>
            </a:pPr>
            <a:r>
              <a:rPr lang="en-US" sz="1700" dirty="0">
                <a:solidFill>
                  <a:srgbClr val="1B3A33"/>
                </a:solidFill>
                <a:latin typeface="Calibri" pitchFamily="34" charset="0"/>
                <a:ea typeface="Calibri" pitchFamily="34" charset="-122"/>
                <a:cs typeface="Calibri" pitchFamily="34" charset="-120"/>
              </a:rPr>
              <a:t>Placed on the project and site.</a:t>
            </a:r>
            <a:endParaRPr lang="en-US" sz="1700" dirty="0"/>
          </a:p>
        </p:txBody>
      </p:sp>
      <p:sp>
        <p:nvSpPr>
          <p:cNvPr id="45" name="Text 42"/>
          <p:cNvSpPr txBox="1"/>
          <p:nvPr/>
        </p:nvSpPr>
        <p:spPr>
          <a:xfrm>
            <a:off x="8764524" y="4846320"/>
            <a:ext cx="411480" cy="548640"/>
          </a:xfrm>
          <a:prstGeom prst="rect">
            <a:avLst/>
          </a:prstGeom>
          <a:noFill/>
          <a:ln/>
        </p:spPr>
        <p:txBody>
          <a:bodyPr wrap="square" lIns="0" tIns="0" rIns="0" bIns="0" rtlCol="0" anchor="ctr"/>
          <a:lstStyle/>
          <a:p>
            <a:pPr marL="0" indent="0" algn="ctr">
              <a:buNone/>
            </a:pPr>
            <a:r>
              <a:rPr lang="en-US" sz="2400" b="1" dirty="0">
                <a:solidFill>
                  <a:srgbClr val="17795A"/>
                </a:solidFill>
                <a:latin typeface="Calibri" pitchFamily="34" charset="0"/>
                <a:ea typeface="Calibri" pitchFamily="34" charset="-122"/>
                <a:cs typeface="Calibri" pitchFamily="34" charset="-120"/>
              </a:rPr>
              <a:t>→</a:t>
            </a:r>
            <a:endParaRPr lang="en-US" sz="2400" dirty="0"/>
          </a:p>
        </p:txBody>
      </p:sp>
      <p:sp>
        <p:nvSpPr>
          <p:cNvPr id="46" name="Shape 43"/>
          <p:cNvSpPr/>
          <p:nvPr/>
        </p:nvSpPr>
        <p:spPr>
          <a:xfrm>
            <a:off x="9176004" y="4160520"/>
            <a:ext cx="2464308" cy="2011680"/>
          </a:xfrm>
          <a:prstGeom prst="roundRect">
            <a:avLst>
              <a:gd name="adj" fmla="val 6364"/>
            </a:avLst>
          </a:prstGeom>
          <a:solidFill>
            <a:srgbClr val="0B2B26"/>
          </a:solidFill>
          <a:ln w="12700">
            <a:solidFill>
              <a:srgbClr val="0B2B26"/>
            </a:solidFill>
            <a:prstDash val="solid"/>
          </a:ln>
        </p:spPr>
      </p:sp>
      <p:sp>
        <p:nvSpPr>
          <p:cNvPr id="47" name="Shape 44"/>
          <p:cNvSpPr/>
          <p:nvPr/>
        </p:nvSpPr>
        <p:spPr>
          <a:xfrm>
            <a:off x="9377172" y="4361688"/>
            <a:ext cx="457200" cy="457200"/>
          </a:xfrm>
          <a:prstGeom prst="ellipse">
            <a:avLst/>
          </a:prstGeom>
          <a:solidFill>
            <a:srgbClr val="F97316"/>
          </a:solidFill>
          <a:ln w="12700">
            <a:solidFill>
              <a:srgbClr val="F97316"/>
            </a:solidFill>
            <a:prstDash val="solid"/>
          </a:ln>
        </p:spPr>
      </p:sp>
      <p:sp>
        <p:nvSpPr>
          <p:cNvPr id="48" name="Text 45"/>
          <p:cNvSpPr txBox="1"/>
          <p:nvPr/>
        </p:nvSpPr>
        <p:spPr>
          <a:xfrm>
            <a:off x="9377172" y="4361688"/>
            <a:ext cx="457200" cy="457200"/>
          </a:xfrm>
          <a:prstGeom prst="rect">
            <a:avLst/>
          </a:prstGeom>
          <a:noFill/>
          <a:ln/>
        </p:spPr>
        <p:txBody>
          <a:bodyPr wrap="square" lIns="0" tIns="0" rIns="0" bIns="0" rtlCol="0" anchor="ctr"/>
          <a:lstStyle/>
          <a:p>
            <a:pPr marL="0" indent="0" algn="ctr">
              <a:buNone/>
            </a:pPr>
            <a:r>
              <a:rPr lang="en-US" sz="1800" b="1" dirty="0">
                <a:solidFill>
                  <a:srgbClr val="10201C"/>
                </a:solidFill>
                <a:latin typeface="Calibri" pitchFamily="34" charset="0"/>
                <a:ea typeface="Calibri" pitchFamily="34" charset="-122"/>
                <a:cs typeface="Calibri" pitchFamily="34" charset="-120"/>
              </a:rPr>
              <a:t>8</a:t>
            </a:r>
            <a:endParaRPr lang="en-US" sz="1800" dirty="0"/>
          </a:p>
        </p:txBody>
      </p:sp>
      <p:sp>
        <p:nvSpPr>
          <p:cNvPr id="49" name="Text 46"/>
          <p:cNvSpPr txBox="1"/>
          <p:nvPr/>
        </p:nvSpPr>
        <p:spPr>
          <a:xfrm>
            <a:off x="9953244" y="4343400"/>
            <a:ext cx="1504188" cy="54864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Contractor dashboard</a:t>
            </a:r>
            <a:endParaRPr lang="en-US" sz="1900" dirty="0"/>
          </a:p>
        </p:txBody>
      </p:sp>
      <p:sp>
        <p:nvSpPr>
          <p:cNvPr id="50" name="Text 47"/>
          <p:cNvSpPr txBox="1"/>
          <p:nvPr/>
        </p:nvSpPr>
        <p:spPr>
          <a:xfrm>
            <a:off x="9404604" y="5029200"/>
            <a:ext cx="2052828" cy="1051560"/>
          </a:xfrm>
          <a:prstGeom prst="rect">
            <a:avLst/>
          </a:prstGeom>
          <a:noFill/>
          <a:ln/>
        </p:spPr>
        <p:txBody>
          <a:bodyPr wrap="square" lIns="0" tIns="0" rIns="0" bIns="0" rtlCol="0" anchor="t"/>
          <a:lstStyle/>
          <a:p>
            <a:pPr marL="0" indent="0">
              <a:buNone/>
            </a:pPr>
            <a:r>
              <a:rPr lang="en-US" sz="1700" dirty="0">
                <a:solidFill>
                  <a:srgbClr val="CFE3DB"/>
                </a:solidFill>
                <a:latin typeface="Calibri" pitchFamily="34" charset="0"/>
                <a:ea typeface="Calibri" pitchFamily="34" charset="-122"/>
                <a:cs typeface="Calibri" pitchFamily="34" charset="-120"/>
              </a:rPr>
              <a:t>Workforce · Projects · Assignments · Work records</a:t>
            </a:r>
            <a:endParaRPr lang="en-US" sz="1700" dirty="0"/>
          </a:p>
        </p:txBody>
      </p:sp>
      <p:sp>
        <p:nvSpPr>
          <p:cNvPr id="3" name="Slide Number Placeholder 0"/>
          <p:cNvSpPr>
            <a:spLocks noGrp="1"/>
          </p:cNvSpPr>
          <p:nvPr>
            <p:ph type="sldNum" sz="quarter" idx="4294967295"/>
          </p:nvPr>
        </p:nvSpPr>
        <p:spPr>
          <a:xfrm>
            <a:off x="10881360" y="6400800"/>
            <a:ext cx="758952"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1B3A33"/>
                </a:solidFill>
                <a:latin typeface="Calibri"/>
                <a:ea typeface="Calibri"/>
                <a:cs typeface="Calibri"/>
              </a:defRPr>
            </a:lvl1pPr>
          </a:lstStyle>
          <a:p>
            <a:pPr algn="r"/>
            <a:fld id="{F7021451-1387-4CA6-816F-3879F97B5CBC}" type="slidenum">
              <a:rPr lang="en-US" b="1"/>
              <a:t>5</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600">
        <p14:prism isContent="1" isInverted="1"/>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68680"/>
          </a:xfrm>
          <a:prstGeom prst="rect">
            <a:avLst/>
          </a:prstGeom>
          <a:noFill/>
          <a:ln/>
        </p:spPr>
        <p:txBody>
          <a:bodyPr wrap="square" lIns="0" tIns="0" rIns="0" bIns="0" rtlCol="0" anchor="ctr"/>
          <a:lstStyle/>
          <a:p>
            <a:pPr marL="0" indent="0" algn="l">
              <a:buNone/>
            </a:pPr>
            <a:r>
              <a:rPr lang="en-US" sz="3800" b="1" dirty="0">
                <a:solidFill>
                  <a:srgbClr val="10201C"/>
                </a:solidFill>
                <a:latin typeface="Calibri" pitchFamily="34" charset="0"/>
                <a:ea typeface="Calibri" pitchFamily="34" charset="-122"/>
                <a:cs typeface="Calibri" pitchFamily="34" charset="-120"/>
              </a:rPr>
              <a:t>What makes Hello different</a:t>
            </a:r>
            <a:endParaRPr lang="en-US" sz="3800" dirty="0"/>
          </a:p>
        </p:txBody>
      </p:sp>
      <p:sp>
        <p:nvSpPr>
          <p:cNvPr id="4" name="Shape 1"/>
          <p:cNvSpPr/>
          <p:nvPr/>
        </p:nvSpPr>
        <p:spPr>
          <a:xfrm>
            <a:off x="548640" y="1417320"/>
            <a:ext cx="5431536" cy="1828800"/>
          </a:xfrm>
          <a:prstGeom prst="roundRect">
            <a:avLst>
              <a:gd name="adj" fmla="val 9000"/>
            </a:avLst>
          </a:prstGeom>
          <a:solidFill>
            <a:srgbClr val="F3F8F4"/>
          </a:solidFill>
          <a:ln w="12700">
            <a:solidFill>
              <a:srgbClr val="F3F8F4"/>
            </a:solidFill>
            <a:prstDash val="solid"/>
          </a:ln>
        </p:spPr>
      </p:sp>
      <p:sp>
        <p:nvSpPr>
          <p:cNvPr id="5" name="Text 2"/>
          <p:cNvSpPr txBox="1"/>
          <p:nvPr/>
        </p:nvSpPr>
        <p:spPr>
          <a:xfrm>
            <a:off x="868680" y="1618488"/>
            <a:ext cx="4791456" cy="457200"/>
          </a:xfrm>
          <a:prstGeom prst="rect">
            <a:avLst/>
          </a:prstGeom>
          <a:noFill/>
          <a:ln/>
        </p:spPr>
        <p:txBody>
          <a:bodyPr wrap="square" lIns="0" tIns="0" rIns="0" bIns="0" rtlCol="0" anchor="t"/>
          <a:lstStyle/>
          <a:p>
            <a:pPr marL="0" indent="0">
              <a:buNone/>
            </a:pPr>
            <a:r>
              <a:rPr lang="en-US" sz="2400" b="1" dirty="0">
                <a:solidFill>
                  <a:srgbClr val="F97316"/>
                </a:solidFill>
                <a:latin typeface="Calibri" pitchFamily="34" charset="0"/>
                <a:ea typeface="Calibri" pitchFamily="34" charset="-122"/>
                <a:cs typeface="Calibri" pitchFamily="34" charset="-120"/>
              </a:rPr>
              <a:t>01  </a:t>
            </a:r>
            <a:r>
              <a:rPr lang="en-US" sz="2400" b="1" dirty="0">
                <a:solidFill>
                  <a:srgbClr val="10201C"/>
                </a:solidFill>
                <a:latin typeface="Calibri" pitchFamily="34" charset="0"/>
                <a:ea typeface="Calibri" pitchFamily="34" charset="-122"/>
                <a:cs typeface="Calibri" pitchFamily="34" charset="-120"/>
              </a:rPr>
              <a:t>Workforce-first</a:t>
            </a:r>
            <a:endParaRPr lang="en-US" sz="1800" dirty="0"/>
          </a:p>
        </p:txBody>
      </p:sp>
      <p:sp>
        <p:nvSpPr>
          <p:cNvPr id="6" name="Text 3"/>
          <p:cNvSpPr txBox="1"/>
          <p:nvPr/>
        </p:nvSpPr>
        <p:spPr>
          <a:xfrm>
            <a:off x="868680" y="2148840"/>
            <a:ext cx="4791456" cy="914400"/>
          </a:xfrm>
          <a:prstGeom prst="rect">
            <a:avLst/>
          </a:prstGeom>
          <a:noFill/>
          <a:ln/>
        </p:spPr>
        <p:txBody>
          <a:bodyPr wrap="square" lIns="0" tIns="0" rIns="0" bIns="0" rtlCol="0" anchor="t"/>
          <a:lstStyle/>
          <a:p>
            <a:pPr marL="0" indent="0">
              <a:buNone/>
            </a:pPr>
            <a:r>
              <a:rPr lang="en-US" sz="2000" dirty="0">
                <a:solidFill>
                  <a:srgbClr val="1B3A33"/>
                </a:solidFill>
                <a:latin typeface="Calibri" pitchFamily="34" charset="0"/>
                <a:ea typeface="Calibri" pitchFamily="34" charset="-122"/>
                <a:cs typeface="Calibri" pitchFamily="34" charset="-120"/>
              </a:rPr>
              <a:t>Built around what a contractor must manage, not only who to hire.</a:t>
            </a:r>
            <a:endParaRPr lang="en-US" sz="2000" dirty="0"/>
          </a:p>
        </p:txBody>
      </p:sp>
      <p:sp>
        <p:nvSpPr>
          <p:cNvPr id="7" name="Shape 4"/>
          <p:cNvSpPr/>
          <p:nvPr/>
        </p:nvSpPr>
        <p:spPr>
          <a:xfrm>
            <a:off x="6208776" y="1417320"/>
            <a:ext cx="5431536" cy="1828800"/>
          </a:xfrm>
          <a:prstGeom prst="roundRect">
            <a:avLst>
              <a:gd name="adj" fmla="val 9000"/>
            </a:avLst>
          </a:prstGeom>
          <a:solidFill>
            <a:srgbClr val="F3F8F4"/>
          </a:solidFill>
          <a:ln w="12700">
            <a:solidFill>
              <a:srgbClr val="F3F8F4"/>
            </a:solidFill>
            <a:prstDash val="solid"/>
          </a:ln>
        </p:spPr>
      </p:sp>
      <p:sp>
        <p:nvSpPr>
          <p:cNvPr id="8" name="Text 5"/>
          <p:cNvSpPr txBox="1"/>
          <p:nvPr/>
        </p:nvSpPr>
        <p:spPr>
          <a:xfrm>
            <a:off x="6528816" y="1618488"/>
            <a:ext cx="4791456" cy="457200"/>
          </a:xfrm>
          <a:prstGeom prst="rect">
            <a:avLst/>
          </a:prstGeom>
          <a:noFill/>
          <a:ln/>
        </p:spPr>
        <p:txBody>
          <a:bodyPr wrap="square" lIns="0" tIns="0" rIns="0" bIns="0" rtlCol="0" anchor="t"/>
          <a:lstStyle/>
          <a:p>
            <a:pPr marL="0" indent="0">
              <a:buNone/>
            </a:pPr>
            <a:r>
              <a:rPr lang="en-US" sz="2400" b="1" dirty="0">
                <a:solidFill>
                  <a:srgbClr val="F97316"/>
                </a:solidFill>
                <a:latin typeface="Calibri" pitchFamily="34" charset="0"/>
                <a:ea typeface="Calibri" pitchFamily="34" charset="-122"/>
                <a:cs typeface="Calibri" pitchFamily="34" charset="-120"/>
              </a:rPr>
              <a:t>02  </a:t>
            </a:r>
            <a:r>
              <a:rPr lang="en-US" sz="2400" b="1" dirty="0">
                <a:solidFill>
                  <a:srgbClr val="10201C"/>
                </a:solidFill>
                <a:latin typeface="Calibri" pitchFamily="34" charset="0"/>
                <a:ea typeface="Calibri" pitchFamily="34" charset="-122"/>
                <a:cs typeface="Calibri" pitchFamily="34" charset="-120"/>
              </a:rPr>
              <a:t>Multi-channel worker access</a:t>
            </a:r>
            <a:endParaRPr lang="en-US" sz="1800" dirty="0"/>
          </a:p>
        </p:txBody>
      </p:sp>
      <p:sp>
        <p:nvSpPr>
          <p:cNvPr id="9" name="Text 6"/>
          <p:cNvSpPr txBox="1"/>
          <p:nvPr/>
        </p:nvSpPr>
        <p:spPr>
          <a:xfrm>
            <a:off x="6528816" y="2148840"/>
            <a:ext cx="4791456" cy="914400"/>
          </a:xfrm>
          <a:prstGeom prst="rect">
            <a:avLst/>
          </a:prstGeom>
          <a:noFill/>
          <a:ln/>
        </p:spPr>
        <p:txBody>
          <a:bodyPr wrap="square" lIns="0" tIns="0" rIns="0" bIns="0" rtlCol="0" anchor="t"/>
          <a:lstStyle/>
          <a:p>
            <a:pPr marL="0" indent="0">
              <a:buNone/>
            </a:pPr>
            <a:r>
              <a:rPr lang="en-US" sz="2000" dirty="0">
                <a:solidFill>
                  <a:srgbClr val="1B3A33"/>
                </a:solidFill>
                <a:latin typeface="Calibri" pitchFamily="34" charset="0"/>
                <a:ea typeface="Calibri" pitchFamily="34" charset="-122"/>
                <a:cs typeface="Calibri" pitchFamily="34" charset="-120"/>
              </a:rPr>
              <a:t>Technology adapts to the worker, not the other way around.</a:t>
            </a:r>
            <a:endParaRPr lang="en-US" sz="2000" dirty="0"/>
          </a:p>
        </p:txBody>
      </p:sp>
      <p:sp>
        <p:nvSpPr>
          <p:cNvPr id="10" name="Shape 7"/>
          <p:cNvSpPr/>
          <p:nvPr/>
        </p:nvSpPr>
        <p:spPr>
          <a:xfrm>
            <a:off x="548640" y="3429000"/>
            <a:ext cx="5431536" cy="1828800"/>
          </a:xfrm>
          <a:prstGeom prst="roundRect">
            <a:avLst>
              <a:gd name="adj" fmla="val 9000"/>
            </a:avLst>
          </a:prstGeom>
          <a:solidFill>
            <a:srgbClr val="F3F8F4"/>
          </a:solidFill>
          <a:ln w="12700">
            <a:solidFill>
              <a:srgbClr val="F3F8F4"/>
            </a:solidFill>
            <a:prstDash val="solid"/>
          </a:ln>
        </p:spPr>
      </p:sp>
      <p:sp>
        <p:nvSpPr>
          <p:cNvPr id="11" name="Text 8"/>
          <p:cNvSpPr txBox="1"/>
          <p:nvPr/>
        </p:nvSpPr>
        <p:spPr>
          <a:xfrm>
            <a:off x="868680" y="3630168"/>
            <a:ext cx="4791456" cy="457200"/>
          </a:xfrm>
          <a:prstGeom prst="rect">
            <a:avLst/>
          </a:prstGeom>
          <a:noFill/>
          <a:ln/>
        </p:spPr>
        <p:txBody>
          <a:bodyPr wrap="square" lIns="0" tIns="0" rIns="0" bIns="0" rtlCol="0" anchor="t"/>
          <a:lstStyle/>
          <a:p>
            <a:pPr marL="0" indent="0">
              <a:buNone/>
            </a:pPr>
            <a:r>
              <a:rPr lang="en-US" sz="2400" b="1" dirty="0">
                <a:solidFill>
                  <a:srgbClr val="F97316"/>
                </a:solidFill>
                <a:latin typeface="Calibri" pitchFamily="34" charset="0"/>
                <a:ea typeface="Calibri" pitchFamily="34" charset="-122"/>
                <a:cs typeface="Calibri" pitchFamily="34" charset="-120"/>
              </a:rPr>
              <a:t>03  </a:t>
            </a:r>
            <a:r>
              <a:rPr lang="en-US" sz="2400" b="1" dirty="0">
                <a:solidFill>
                  <a:srgbClr val="10201C"/>
                </a:solidFill>
                <a:latin typeface="Calibri" pitchFamily="34" charset="0"/>
                <a:ea typeface="Calibri" pitchFamily="34" charset="-122"/>
                <a:cs typeface="Calibri" pitchFamily="34" charset="-120"/>
              </a:rPr>
              <a:t>Structured workforce data</a:t>
            </a:r>
            <a:endParaRPr lang="en-US" sz="1800" dirty="0"/>
          </a:p>
        </p:txBody>
      </p:sp>
      <p:sp>
        <p:nvSpPr>
          <p:cNvPr id="12" name="Text 9"/>
          <p:cNvSpPr txBox="1"/>
          <p:nvPr/>
        </p:nvSpPr>
        <p:spPr>
          <a:xfrm>
            <a:off x="868680" y="4160520"/>
            <a:ext cx="4791456" cy="914400"/>
          </a:xfrm>
          <a:prstGeom prst="rect">
            <a:avLst/>
          </a:prstGeom>
          <a:noFill/>
          <a:ln/>
        </p:spPr>
        <p:txBody>
          <a:bodyPr wrap="square" lIns="0" tIns="0" rIns="0" bIns="0" rtlCol="0" anchor="t"/>
          <a:lstStyle/>
          <a:p>
            <a:pPr marL="0" indent="0">
              <a:buNone/>
            </a:pPr>
            <a:r>
              <a:rPr lang="en-US" sz="2000" dirty="0">
                <a:solidFill>
                  <a:srgbClr val="1B3A33"/>
                </a:solidFill>
                <a:latin typeface="Calibri" pitchFamily="34" charset="0"/>
                <a:ea typeface="Calibri" pitchFamily="34" charset="-122"/>
                <a:cs typeface="Calibri" pitchFamily="34" charset="-120"/>
              </a:rPr>
              <a:t>Skills, availability, assignments, work history and profiles, in one place.</a:t>
            </a:r>
            <a:endParaRPr lang="en-US" sz="2000" dirty="0"/>
          </a:p>
        </p:txBody>
      </p:sp>
      <p:sp>
        <p:nvSpPr>
          <p:cNvPr id="13" name="Shape 10"/>
          <p:cNvSpPr/>
          <p:nvPr/>
        </p:nvSpPr>
        <p:spPr>
          <a:xfrm>
            <a:off x="6208776" y="3429000"/>
            <a:ext cx="5431536" cy="1828800"/>
          </a:xfrm>
          <a:prstGeom prst="roundRect">
            <a:avLst>
              <a:gd name="adj" fmla="val 9000"/>
            </a:avLst>
          </a:prstGeom>
          <a:solidFill>
            <a:srgbClr val="F3F8F4"/>
          </a:solidFill>
          <a:ln w="12700">
            <a:solidFill>
              <a:srgbClr val="F3F8F4"/>
            </a:solidFill>
            <a:prstDash val="solid"/>
          </a:ln>
        </p:spPr>
      </p:sp>
      <p:sp>
        <p:nvSpPr>
          <p:cNvPr id="14" name="Text 11"/>
          <p:cNvSpPr txBox="1"/>
          <p:nvPr/>
        </p:nvSpPr>
        <p:spPr>
          <a:xfrm>
            <a:off x="6528816" y="3630168"/>
            <a:ext cx="4791456" cy="457200"/>
          </a:xfrm>
          <a:prstGeom prst="rect">
            <a:avLst/>
          </a:prstGeom>
          <a:noFill/>
          <a:ln/>
        </p:spPr>
        <p:txBody>
          <a:bodyPr wrap="square" lIns="0" tIns="0" rIns="0" bIns="0" rtlCol="0" anchor="t"/>
          <a:lstStyle/>
          <a:p>
            <a:pPr marL="0" indent="0">
              <a:buNone/>
            </a:pPr>
            <a:r>
              <a:rPr lang="en-US" sz="2400" b="1" dirty="0">
                <a:solidFill>
                  <a:srgbClr val="F97316"/>
                </a:solidFill>
                <a:latin typeface="Calibri" pitchFamily="34" charset="0"/>
                <a:ea typeface="Calibri" pitchFamily="34" charset="-122"/>
                <a:cs typeface="Calibri" pitchFamily="34" charset="-120"/>
              </a:rPr>
              <a:t>04  </a:t>
            </a:r>
            <a:r>
              <a:rPr lang="en-US" sz="2400" b="1" dirty="0">
                <a:solidFill>
                  <a:srgbClr val="10201C"/>
                </a:solidFill>
                <a:latin typeface="Calibri" pitchFamily="34" charset="0"/>
                <a:ea typeface="Calibri" pitchFamily="34" charset="-122"/>
                <a:cs typeface="Calibri" pitchFamily="34" charset="-120"/>
              </a:rPr>
              <a:t>Reusable workforce</a:t>
            </a:r>
            <a:endParaRPr lang="en-US" sz="1800" dirty="0"/>
          </a:p>
        </p:txBody>
      </p:sp>
      <p:sp>
        <p:nvSpPr>
          <p:cNvPr id="15" name="Text 12"/>
          <p:cNvSpPr txBox="1"/>
          <p:nvPr/>
        </p:nvSpPr>
        <p:spPr>
          <a:xfrm>
            <a:off x="6528816" y="4160520"/>
            <a:ext cx="4791456" cy="914400"/>
          </a:xfrm>
          <a:prstGeom prst="rect">
            <a:avLst/>
          </a:prstGeom>
          <a:noFill/>
          <a:ln/>
        </p:spPr>
        <p:txBody>
          <a:bodyPr wrap="square" lIns="0" tIns="0" rIns="0" bIns="0" rtlCol="0" anchor="t"/>
          <a:lstStyle/>
          <a:p>
            <a:pPr marL="0" indent="0">
              <a:buNone/>
            </a:pPr>
            <a:r>
              <a:rPr lang="en-US" sz="2000" dirty="0">
                <a:solidFill>
                  <a:srgbClr val="1B3A33"/>
                </a:solidFill>
                <a:latin typeface="Calibri" pitchFamily="34" charset="0"/>
                <a:ea typeface="Calibri" pitchFamily="34" charset="-122"/>
                <a:cs typeface="Calibri" pitchFamily="34" charset="-120"/>
              </a:rPr>
              <a:t>Previous workers and stored profiles make the next requirement faster.</a:t>
            </a:r>
            <a:endParaRPr lang="en-US" sz="2000" dirty="0"/>
          </a:p>
        </p:txBody>
      </p:sp>
      <p:sp>
        <p:nvSpPr>
          <p:cNvPr id="16" name="Shape 13"/>
          <p:cNvSpPr/>
          <p:nvPr/>
        </p:nvSpPr>
        <p:spPr>
          <a:xfrm>
            <a:off x="6528816" y="2834640"/>
            <a:ext cx="1234440" cy="384048"/>
          </a:xfrm>
          <a:prstGeom prst="roundRect">
            <a:avLst>
              <a:gd name="adj" fmla="val 50000"/>
            </a:avLst>
          </a:prstGeom>
          <a:solidFill>
            <a:srgbClr val="E2F3EA"/>
          </a:solidFill>
          <a:ln w="12700">
            <a:solidFill>
              <a:srgbClr val="E2F3EA"/>
            </a:solidFill>
            <a:prstDash val="solid"/>
          </a:ln>
        </p:spPr>
      </p:sp>
      <p:sp>
        <p:nvSpPr>
          <p:cNvPr id="17" name="Text 14"/>
          <p:cNvSpPr txBox="1"/>
          <p:nvPr/>
        </p:nvSpPr>
        <p:spPr>
          <a:xfrm>
            <a:off x="6528816" y="2834640"/>
            <a:ext cx="1234440" cy="384048"/>
          </a:xfrm>
          <a:prstGeom prst="rect">
            <a:avLst/>
          </a:prstGeom>
          <a:noFill/>
          <a:ln/>
        </p:spPr>
        <p:txBody>
          <a:bodyPr wrap="square" lIns="0" tIns="0" rIns="0" bIns="0" rtlCol="0" anchor="ctr"/>
          <a:lstStyle/>
          <a:p>
            <a:pPr marL="0" indent="0" algn="ctr">
              <a:buNone/>
            </a:pPr>
            <a:r>
              <a:rPr lang="en-US" sz="1500" b="1" dirty="0">
                <a:solidFill>
                  <a:srgbClr val="17795A"/>
                </a:solidFill>
                <a:latin typeface="Calibri" pitchFamily="34" charset="0"/>
                <a:ea typeface="Calibri" pitchFamily="34" charset="-122"/>
                <a:cs typeface="Calibri" pitchFamily="34" charset="-120"/>
              </a:rPr>
              <a:t>Smartphone</a:t>
            </a:r>
            <a:endParaRPr lang="en-US" sz="1500" dirty="0"/>
          </a:p>
        </p:txBody>
      </p:sp>
      <p:sp>
        <p:nvSpPr>
          <p:cNvPr id="18" name="Shape 15"/>
          <p:cNvSpPr/>
          <p:nvPr/>
        </p:nvSpPr>
        <p:spPr>
          <a:xfrm>
            <a:off x="7872984" y="2834640"/>
            <a:ext cx="777240" cy="384048"/>
          </a:xfrm>
          <a:prstGeom prst="roundRect">
            <a:avLst>
              <a:gd name="adj" fmla="val 50000"/>
            </a:avLst>
          </a:prstGeom>
          <a:solidFill>
            <a:srgbClr val="E2F3EA"/>
          </a:solidFill>
          <a:ln w="12700">
            <a:solidFill>
              <a:srgbClr val="E2F3EA"/>
            </a:solidFill>
            <a:prstDash val="solid"/>
          </a:ln>
        </p:spPr>
      </p:sp>
      <p:sp>
        <p:nvSpPr>
          <p:cNvPr id="19" name="Text 16"/>
          <p:cNvSpPr txBox="1"/>
          <p:nvPr/>
        </p:nvSpPr>
        <p:spPr>
          <a:xfrm>
            <a:off x="7872984" y="2834640"/>
            <a:ext cx="777240" cy="384048"/>
          </a:xfrm>
          <a:prstGeom prst="rect">
            <a:avLst/>
          </a:prstGeom>
          <a:noFill/>
          <a:ln/>
        </p:spPr>
        <p:txBody>
          <a:bodyPr wrap="square" lIns="0" tIns="0" rIns="0" bIns="0" rtlCol="0" anchor="ctr"/>
          <a:lstStyle/>
          <a:p>
            <a:pPr marL="0" indent="0" algn="ctr">
              <a:buNone/>
            </a:pPr>
            <a:r>
              <a:rPr lang="en-US" sz="1500" b="1" dirty="0">
                <a:solidFill>
                  <a:srgbClr val="17795A"/>
                </a:solidFill>
                <a:latin typeface="Calibri" pitchFamily="34" charset="0"/>
                <a:ea typeface="Calibri" pitchFamily="34" charset="-122"/>
                <a:cs typeface="Calibri" pitchFamily="34" charset="-120"/>
              </a:rPr>
              <a:t>SMS</a:t>
            </a:r>
            <a:endParaRPr lang="en-US" sz="1500" dirty="0"/>
          </a:p>
        </p:txBody>
      </p:sp>
      <p:sp>
        <p:nvSpPr>
          <p:cNvPr id="20" name="Shape 17"/>
          <p:cNvSpPr/>
          <p:nvPr/>
        </p:nvSpPr>
        <p:spPr>
          <a:xfrm>
            <a:off x="8759952" y="2834640"/>
            <a:ext cx="777240" cy="384048"/>
          </a:xfrm>
          <a:prstGeom prst="roundRect">
            <a:avLst>
              <a:gd name="adj" fmla="val 50000"/>
            </a:avLst>
          </a:prstGeom>
          <a:solidFill>
            <a:srgbClr val="E2F3EA"/>
          </a:solidFill>
          <a:ln w="12700">
            <a:solidFill>
              <a:srgbClr val="E2F3EA"/>
            </a:solidFill>
            <a:prstDash val="solid"/>
          </a:ln>
        </p:spPr>
      </p:sp>
      <p:sp>
        <p:nvSpPr>
          <p:cNvPr id="21" name="Text 18"/>
          <p:cNvSpPr txBox="1"/>
          <p:nvPr/>
        </p:nvSpPr>
        <p:spPr>
          <a:xfrm>
            <a:off x="8759952" y="2834640"/>
            <a:ext cx="777240" cy="384048"/>
          </a:xfrm>
          <a:prstGeom prst="rect">
            <a:avLst/>
          </a:prstGeom>
          <a:noFill/>
          <a:ln/>
        </p:spPr>
        <p:txBody>
          <a:bodyPr wrap="square" lIns="0" tIns="0" rIns="0" bIns="0" rtlCol="0" anchor="ctr"/>
          <a:lstStyle/>
          <a:p>
            <a:pPr marL="0" indent="0" algn="ctr">
              <a:buNone/>
            </a:pPr>
            <a:r>
              <a:rPr lang="en-US" sz="1500" b="1" dirty="0">
                <a:solidFill>
                  <a:srgbClr val="17795A"/>
                </a:solidFill>
                <a:latin typeface="Calibri" pitchFamily="34" charset="0"/>
                <a:ea typeface="Calibri" pitchFamily="34" charset="-122"/>
                <a:cs typeface="Calibri" pitchFamily="34" charset="-120"/>
              </a:rPr>
              <a:t>IVR</a:t>
            </a:r>
            <a:endParaRPr lang="en-US" sz="1500" dirty="0"/>
          </a:p>
        </p:txBody>
      </p:sp>
      <p:sp>
        <p:nvSpPr>
          <p:cNvPr id="22" name="Shape 19"/>
          <p:cNvSpPr/>
          <p:nvPr/>
        </p:nvSpPr>
        <p:spPr>
          <a:xfrm>
            <a:off x="9646920" y="2834640"/>
            <a:ext cx="1188720" cy="384048"/>
          </a:xfrm>
          <a:prstGeom prst="roundRect">
            <a:avLst>
              <a:gd name="adj" fmla="val 50000"/>
            </a:avLst>
          </a:prstGeom>
          <a:solidFill>
            <a:srgbClr val="E2F3EA"/>
          </a:solidFill>
          <a:ln w="12700">
            <a:solidFill>
              <a:srgbClr val="E2F3EA"/>
            </a:solidFill>
            <a:prstDash val="solid"/>
          </a:ln>
        </p:spPr>
      </p:sp>
      <p:sp>
        <p:nvSpPr>
          <p:cNvPr id="23" name="Text 20"/>
          <p:cNvSpPr txBox="1"/>
          <p:nvPr/>
        </p:nvSpPr>
        <p:spPr>
          <a:xfrm>
            <a:off x="9646920" y="2834640"/>
            <a:ext cx="1188720" cy="384048"/>
          </a:xfrm>
          <a:prstGeom prst="rect">
            <a:avLst/>
          </a:prstGeom>
          <a:noFill/>
          <a:ln/>
        </p:spPr>
        <p:txBody>
          <a:bodyPr wrap="square" lIns="0" tIns="0" rIns="0" bIns="0" rtlCol="0" anchor="ctr"/>
          <a:lstStyle/>
          <a:p>
            <a:pPr marL="0" indent="0" algn="ctr">
              <a:buNone/>
            </a:pPr>
            <a:r>
              <a:rPr lang="en-US" sz="1500" b="1" dirty="0">
                <a:solidFill>
                  <a:srgbClr val="17795A"/>
                </a:solidFill>
                <a:latin typeface="Calibri" pitchFamily="34" charset="0"/>
                <a:ea typeface="Calibri" pitchFamily="34" charset="-122"/>
                <a:cs typeface="Calibri" pitchFamily="34" charset="-120"/>
              </a:rPr>
              <a:t>Auto call</a:t>
            </a:r>
            <a:endParaRPr lang="en-US" sz="1500" dirty="0"/>
          </a:p>
        </p:txBody>
      </p:sp>
      <p:sp>
        <p:nvSpPr>
          <p:cNvPr id="24" name="Shape 21"/>
          <p:cNvSpPr/>
          <p:nvPr/>
        </p:nvSpPr>
        <p:spPr>
          <a:xfrm>
            <a:off x="548640" y="5440680"/>
            <a:ext cx="11091672" cy="777240"/>
          </a:xfrm>
          <a:prstGeom prst="roundRect">
            <a:avLst>
              <a:gd name="adj" fmla="val 21176"/>
            </a:avLst>
          </a:prstGeom>
          <a:solidFill>
            <a:srgbClr val="F97316"/>
          </a:solidFill>
          <a:ln w="12700">
            <a:solidFill>
              <a:srgbClr val="F97316"/>
            </a:solidFill>
            <a:prstDash val="solid"/>
          </a:ln>
        </p:spPr>
      </p:sp>
      <p:sp>
        <p:nvSpPr>
          <p:cNvPr id="25" name="Text 22"/>
          <p:cNvSpPr txBox="1"/>
          <p:nvPr/>
        </p:nvSpPr>
        <p:spPr>
          <a:xfrm>
            <a:off x="914400" y="5440680"/>
            <a:ext cx="10360152" cy="777240"/>
          </a:xfrm>
          <a:prstGeom prst="rect">
            <a:avLst/>
          </a:prstGeom>
          <a:noFill/>
          <a:ln/>
        </p:spPr>
        <p:txBody>
          <a:bodyPr wrap="square" lIns="0" tIns="0" rIns="0" bIns="0" rtlCol="0" anchor="ctr"/>
          <a:lstStyle/>
          <a:p>
            <a:pPr marL="0" indent="0">
              <a:buNone/>
            </a:pPr>
            <a:r>
              <a:rPr lang="en-US" sz="2200" b="1" dirty="0">
                <a:solidFill>
                  <a:srgbClr val="10201C"/>
                </a:solidFill>
                <a:latin typeface="Calibri" pitchFamily="34" charset="0"/>
                <a:ea typeface="Calibri" pitchFamily="34" charset="-122"/>
                <a:cs typeface="Calibri" pitchFamily="34" charset="-120"/>
              </a:rPr>
              <a:t>“Hello turns a contractor's scattered worker network into an organized, reusable workforce.”</a:t>
            </a:r>
            <a:endParaRPr lang="en-US" sz="2200" dirty="0"/>
          </a:p>
        </p:txBody>
      </p:sp>
      <p:sp>
        <p:nvSpPr>
          <p:cNvPr id="3" name="Slide Number Placeholder 0"/>
          <p:cNvSpPr>
            <a:spLocks noGrp="1"/>
          </p:cNvSpPr>
          <p:nvPr>
            <p:ph type="sldNum" sz="quarter" idx="4294967295"/>
          </p:nvPr>
        </p:nvSpPr>
        <p:spPr>
          <a:xfrm>
            <a:off x="10881360" y="6400800"/>
            <a:ext cx="758952"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1B3A33"/>
                </a:solidFill>
                <a:latin typeface="Calibri"/>
                <a:ea typeface="Calibri"/>
                <a:cs typeface="Calibri"/>
              </a:defRPr>
            </a:lvl1pPr>
          </a:lstStyle>
          <a:p>
            <a:pPr algn="r"/>
            <a:fld id="{F7021451-1387-4CA6-816F-3879F97B5CBC}" type="slidenum">
              <a:rPr lang="en-US" b="1"/>
              <a:t>6</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250">
        <p14:switch dir="r"/>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68680"/>
          </a:xfrm>
          <a:prstGeom prst="rect">
            <a:avLst/>
          </a:prstGeom>
          <a:noFill/>
          <a:ln/>
        </p:spPr>
        <p:txBody>
          <a:bodyPr wrap="square" lIns="0" tIns="0" rIns="0" bIns="0" rtlCol="0" anchor="ctr"/>
          <a:lstStyle/>
          <a:p>
            <a:pPr marL="0" indent="0" algn="l">
              <a:buNone/>
            </a:pPr>
            <a:r>
              <a:rPr lang="en-US" sz="3800" b="1" dirty="0">
                <a:solidFill>
                  <a:srgbClr val="F2F7F4"/>
                </a:solidFill>
                <a:latin typeface="Calibri" pitchFamily="34" charset="0"/>
                <a:ea typeface="Calibri" pitchFamily="34" charset="-122"/>
                <a:cs typeface="Calibri" pitchFamily="34" charset="-120"/>
              </a:rPr>
              <a:t>Built as a modular platform</a:t>
            </a:r>
            <a:endParaRPr lang="en-US" sz="3800" dirty="0"/>
          </a:p>
        </p:txBody>
      </p:sp>
      <p:sp>
        <p:nvSpPr>
          <p:cNvPr id="4" name="Shape 1"/>
          <p:cNvSpPr/>
          <p:nvPr/>
        </p:nvSpPr>
        <p:spPr>
          <a:xfrm>
            <a:off x="548640" y="1417320"/>
            <a:ext cx="6766560" cy="914400"/>
          </a:xfrm>
          <a:prstGeom prst="roundRect">
            <a:avLst>
              <a:gd name="adj" fmla="val 16000"/>
            </a:avLst>
          </a:prstGeom>
          <a:solidFill>
            <a:srgbClr val="2563EB"/>
          </a:solidFill>
          <a:ln w="12700">
            <a:solidFill>
              <a:srgbClr val="2563EB"/>
            </a:solidFill>
            <a:prstDash val="solid"/>
          </a:ln>
        </p:spPr>
      </p:sp>
      <p:sp>
        <p:nvSpPr>
          <p:cNvPr id="5" name="Text 2"/>
          <p:cNvSpPr txBox="1"/>
          <p:nvPr/>
        </p:nvSpPr>
        <p:spPr>
          <a:xfrm>
            <a:off x="822960" y="1554480"/>
            <a:ext cx="6217920" cy="731520"/>
          </a:xfrm>
          <a:prstGeom prst="rect">
            <a:avLst/>
          </a:prstGeom>
          <a:noFill/>
          <a:ln/>
        </p:spPr>
        <p:txBody>
          <a:bodyPr wrap="square" lIns="0" tIns="0" rIns="0" bIns="0" rtlCol="0" anchor="t"/>
          <a:lstStyle/>
          <a:p>
            <a:pPr marL="0" indent="0">
              <a:spcAft>
                <a:spcPts val="500"/>
              </a:spcAft>
              <a:buNone/>
            </a:pPr>
            <a:r>
              <a:rPr lang="en-US" sz="2200" b="1" dirty="0">
                <a:solidFill>
                  <a:srgbClr val="FFFFFF"/>
                </a:solidFill>
                <a:latin typeface="Calibri" pitchFamily="34" charset="0"/>
                <a:ea typeface="Calibri" pitchFamily="34" charset="-122"/>
                <a:cs typeface="Calibri" pitchFamily="34" charset="-120"/>
              </a:rPr>
              <a:t>Frontend</a:t>
            </a:r>
            <a:endParaRPr lang="en-US" sz="1800" dirty="0"/>
          </a:p>
          <a:p>
            <a:pPr marL="0" indent="0">
              <a:spcAft>
                <a:spcPts val="500"/>
              </a:spcAft>
              <a:buNone/>
            </a:pPr>
            <a:r>
              <a:rPr lang="en-US" sz="1700" dirty="0">
                <a:solidFill>
                  <a:srgbClr val="E5ECFF"/>
                </a:solidFill>
                <a:latin typeface="Calibri" pitchFamily="34" charset="0"/>
                <a:ea typeface="Calibri" pitchFamily="34" charset="-122"/>
                <a:cs typeface="Calibri" pitchFamily="34" charset="-120"/>
              </a:rPr>
              <a:t>HTML · CSS · JavaScript · TypeScript</a:t>
            </a:r>
            <a:endParaRPr lang="en-US" sz="1800" dirty="0"/>
          </a:p>
        </p:txBody>
      </p:sp>
      <p:sp>
        <p:nvSpPr>
          <p:cNvPr id="6" name="Text 3"/>
          <p:cNvSpPr txBox="1"/>
          <p:nvPr/>
        </p:nvSpPr>
        <p:spPr>
          <a:xfrm>
            <a:off x="548640" y="2340864"/>
            <a:ext cx="6766560" cy="310896"/>
          </a:xfrm>
          <a:prstGeom prst="rect">
            <a:avLst/>
          </a:prstGeom>
          <a:noFill/>
          <a:ln/>
        </p:spPr>
        <p:txBody>
          <a:bodyPr wrap="square" lIns="0" tIns="0" rIns="0" bIns="0" rtlCol="0" anchor="ctr"/>
          <a:lstStyle/>
          <a:p>
            <a:pPr marL="0" indent="0" algn="ctr">
              <a:buNone/>
            </a:pPr>
            <a:r>
              <a:rPr lang="en-US" sz="2600" b="1" dirty="0">
                <a:solidFill>
                  <a:srgbClr val="F97316"/>
                </a:solidFill>
                <a:latin typeface="Calibri" pitchFamily="34" charset="0"/>
                <a:ea typeface="Calibri" pitchFamily="34" charset="-122"/>
                <a:cs typeface="Calibri" pitchFamily="34" charset="-120"/>
              </a:rPr>
              <a:t>↓</a:t>
            </a:r>
            <a:endParaRPr lang="en-US" sz="2600" dirty="0"/>
          </a:p>
        </p:txBody>
      </p:sp>
      <p:sp>
        <p:nvSpPr>
          <p:cNvPr id="7" name="Shape 4"/>
          <p:cNvSpPr/>
          <p:nvPr/>
        </p:nvSpPr>
        <p:spPr>
          <a:xfrm>
            <a:off x="548640" y="2670048"/>
            <a:ext cx="6766560" cy="841248"/>
          </a:xfrm>
          <a:prstGeom prst="roundRect">
            <a:avLst>
              <a:gd name="adj" fmla="val 17391"/>
            </a:avLst>
          </a:prstGeom>
          <a:solidFill>
            <a:srgbClr val="FFFFFF"/>
          </a:solidFill>
          <a:ln w="12700">
            <a:solidFill>
              <a:srgbClr val="FFFFFF"/>
            </a:solidFill>
            <a:prstDash val="solid"/>
          </a:ln>
        </p:spPr>
      </p:sp>
      <p:sp>
        <p:nvSpPr>
          <p:cNvPr id="8" name="Text 5"/>
          <p:cNvSpPr txBox="1"/>
          <p:nvPr/>
        </p:nvSpPr>
        <p:spPr>
          <a:xfrm>
            <a:off x="822960" y="2807208"/>
            <a:ext cx="6217920" cy="621792"/>
          </a:xfrm>
          <a:prstGeom prst="rect">
            <a:avLst/>
          </a:prstGeom>
          <a:noFill/>
          <a:ln/>
        </p:spPr>
        <p:txBody>
          <a:bodyPr wrap="square" lIns="0" tIns="0" rIns="0" bIns="0" rtlCol="0" anchor="t"/>
          <a:lstStyle/>
          <a:p>
            <a:pPr marL="0" indent="0">
              <a:spcAft>
                <a:spcPts val="500"/>
              </a:spcAft>
              <a:buNone/>
            </a:pPr>
            <a:r>
              <a:rPr lang="en-US" b="1" dirty="0">
                <a:solidFill>
                  <a:srgbClr val="10201C"/>
                </a:solidFill>
                <a:latin typeface="Calibri" pitchFamily="34" charset="0"/>
                <a:ea typeface="Calibri" pitchFamily="34" charset="-122"/>
                <a:cs typeface="Calibri" pitchFamily="34" charset="-120"/>
              </a:rPr>
              <a:t>REST API</a:t>
            </a:r>
            <a:endParaRPr lang="en-US" b="1" dirty="0"/>
          </a:p>
          <a:p>
            <a:pPr marL="0" indent="0">
              <a:spcAft>
                <a:spcPts val="500"/>
              </a:spcAft>
              <a:buNone/>
            </a:pPr>
            <a:r>
              <a:rPr lang="en-US" b="1" dirty="0" err="1">
                <a:solidFill>
                  <a:srgbClr val="1B3A33"/>
                </a:solidFill>
                <a:latin typeface="Calibri" pitchFamily="34" charset="0"/>
                <a:ea typeface="Calibri" pitchFamily="34" charset="-122"/>
                <a:cs typeface="Calibri" pitchFamily="34" charset="-120"/>
              </a:rPr>
              <a:t>FastAPI</a:t>
            </a:r>
            <a:r>
              <a:rPr lang="en-US" b="1" dirty="0">
                <a:solidFill>
                  <a:srgbClr val="1B3A33"/>
                </a:solidFill>
                <a:latin typeface="Calibri" pitchFamily="34" charset="0"/>
                <a:ea typeface="Calibri" pitchFamily="34" charset="-122"/>
                <a:cs typeface="Calibri" pitchFamily="34" charset="-120"/>
              </a:rPr>
              <a:t>  |  PYTHON</a:t>
            </a:r>
            <a:endParaRPr lang="en-US" b="1" dirty="0"/>
          </a:p>
        </p:txBody>
      </p:sp>
      <p:sp>
        <p:nvSpPr>
          <p:cNvPr id="9" name="Text 6"/>
          <p:cNvSpPr txBox="1"/>
          <p:nvPr/>
        </p:nvSpPr>
        <p:spPr>
          <a:xfrm>
            <a:off x="548640" y="3529584"/>
            <a:ext cx="6766560" cy="310896"/>
          </a:xfrm>
          <a:prstGeom prst="rect">
            <a:avLst/>
          </a:prstGeom>
          <a:noFill/>
          <a:ln/>
        </p:spPr>
        <p:txBody>
          <a:bodyPr wrap="square" lIns="0" tIns="0" rIns="0" bIns="0" rtlCol="0" anchor="ctr"/>
          <a:lstStyle/>
          <a:p>
            <a:pPr marL="0" indent="0" algn="ctr">
              <a:buNone/>
            </a:pPr>
            <a:r>
              <a:rPr lang="en-US" sz="2600" b="1" dirty="0">
                <a:solidFill>
                  <a:srgbClr val="F97316"/>
                </a:solidFill>
                <a:latin typeface="Calibri" pitchFamily="34" charset="0"/>
                <a:ea typeface="Calibri" pitchFamily="34" charset="-122"/>
                <a:cs typeface="Calibri" pitchFamily="34" charset="-120"/>
              </a:rPr>
              <a:t>↓</a:t>
            </a:r>
            <a:endParaRPr lang="en-US" sz="2600" dirty="0"/>
          </a:p>
        </p:txBody>
      </p:sp>
      <p:sp>
        <p:nvSpPr>
          <p:cNvPr id="10" name="Shape 7"/>
          <p:cNvSpPr/>
          <p:nvPr/>
        </p:nvSpPr>
        <p:spPr>
          <a:xfrm>
            <a:off x="548640" y="3858768"/>
            <a:ext cx="2133600" cy="914400"/>
          </a:xfrm>
          <a:prstGeom prst="roundRect">
            <a:avLst>
              <a:gd name="adj" fmla="val 16000"/>
            </a:avLst>
          </a:prstGeom>
          <a:solidFill>
            <a:srgbClr val="E2F3EA"/>
          </a:solidFill>
          <a:ln w="12700">
            <a:solidFill>
              <a:srgbClr val="E2F3EA"/>
            </a:solidFill>
            <a:prstDash val="solid"/>
          </a:ln>
        </p:spPr>
      </p:sp>
      <p:sp>
        <p:nvSpPr>
          <p:cNvPr id="11" name="Text 8"/>
          <p:cNvSpPr txBox="1"/>
          <p:nvPr/>
        </p:nvSpPr>
        <p:spPr>
          <a:xfrm>
            <a:off x="685800" y="3858768"/>
            <a:ext cx="1859280" cy="914400"/>
          </a:xfrm>
          <a:prstGeom prst="rect">
            <a:avLst/>
          </a:prstGeom>
          <a:noFill/>
          <a:ln/>
        </p:spPr>
        <p:txBody>
          <a:bodyPr wrap="square" lIns="0" tIns="0" rIns="0" bIns="0" rtlCol="0" anchor="ctr"/>
          <a:lstStyle/>
          <a:p>
            <a:pPr marL="0" indent="0" algn="ctr">
              <a:buNone/>
            </a:pPr>
            <a:r>
              <a:rPr lang="en-US" sz="1900" b="1" dirty="0">
                <a:solidFill>
                  <a:srgbClr val="17795A"/>
                </a:solidFill>
                <a:latin typeface="Calibri" pitchFamily="34" charset="0"/>
                <a:ea typeface="Calibri" pitchFamily="34" charset="-122"/>
                <a:cs typeface="Calibri" pitchFamily="34" charset="-120"/>
              </a:rPr>
              <a:t>Matching logic</a:t>
            </a:r>
            <a:endParaRPr lang="en-US" sz="1900" dirty="0"/>
          </a:p>
        </p:txBody>
      </p:sp>
      <p:sp>
        <p:nvSpPr>
          <p:cNvPr id="12" name="Shape 9"/>
          <p:cNvSpPr/>
          <p:nvPr/>
        </p:nvSpPr>
        <p:spPr>
          <a:xfrm>
            <a:off x="2865120" y="3858768"/>
            <a:ext cx="2133600" cy="914400"/>
          </a:xfrm>
          <a:prstGeom prst="roundRect">
            <a:avLst>
              <a:gd name="adj" fmla="val 16000"/>
            </a:avLst>
          </a:prstGeom>
          <a:solidFill>
            <a:srgbClr val="E2F3EA"/>
          </a:solidFill>
          <a:ln w="12700">
            <a:solidFill>
              <a:srgbClr val="E2F3EA"/>
            </a:solidFill>
            <a:prstDash val="solid"/>
          </a:ln>
        </p:spPr>
      </p:sp>
      <p:sp>
        <p:nvSpPr>
          <p:cNvPr id="13" name="Text 10"/>
          <p:cNvSpPr txBox="1"/>
          <p:nvPr/>
        </p:nvSpPr>
        <p:spPr>
          <a:xfrm>
            <a:off x="3002280" y="3858768"/>
            <a:ext cx="1859280" cy="914400"/>
          </a:xfrm>
          <a:prstGeom prst="rect">
            <a:avLst/>
          </a:prstGeom>
          <a:noFill/>
          <a:ln/>
        </p:spPr>
        <p:txBody>
          <a:bodyPr wrap="square" lIns="0" tIns="0" rIns="0" bIns="0" rtlCol="0" anchor="ctr"/>
          <a:lstStyle/>
          <a:p>
            <a:pPr marL="0" indent="0" algn="ctr">
              <a:buNone/>
            </a:pPr>
            <a:r>
              <a:rPr lang="en-US" sz="1900" b="1" dirty="0">
                <a:solidFill>
                  <a:srgbClr val="17795A"/>
                </a:solidFill>
                <a:latin typeface="Calibri" pitchFamily="34" charset="0"/>
                <a:ea typeface="Calibri" pitchFamily="34" charset="-122"/>
                <a:cs typeface="Calibri" pitchFamily="34" charset="-120"/>
              </a:rPr>
              <a:t>Workforce management</a:t>
            </a:r>
            <a:endParaRPr lang="en-US" sz="1900" dirty="0"/>
          </a:p>
        </p:txBody>
      </p:sp>
      <p:sp>
        <p:nvSpPr>
          <p:cNvPr id="14" name="Shape 11"/>
          <p:cNvSpPr/>
          <p:nvPr/>
        </p:nvSpPr>
        <p:spPr>
          <a:xfrm>
            <a:off x="5181600" y="3858768"/>
            <a:ext cx="2133600" cy="914400"/>
          </a:xfrm>
          <a:prstGeom prst="roundRect">
            <a:avLst>
              <a:gd name="adj" fmla="val 16000"/>
            </a:avLst>
          </a:prstGeom>
          <a:solidFill>
            <a:srgbClr val="E2F3EA"/>
          </a:solidFill>
          <a:ln w="12700">
            <a:solidFill>
              <a:srgbClr val="E2F3EA"/>
            </a:solidFill>
            <a:prstDash val="solid"/>
          </a:ln>
        </p:spPr>
      </p:sp>
      <p:sp>
        <p:nvSpPr>
          <p:cNvPr id="15" name="Text 12"/>
          <p:cNvSpPr txBox="1"/>
          <p:nvPr/>
        </p:nvSpPr>
        <p:spPr>
          <a:xfrm>
            <a:off x="5318760" y="3858768"/>
            <a:ext cx="1859280" cy="914400"/>
          </a:xfrm>
          <a:prstGeom prst="rect">
            <a:avLst/>
          </a:prstGeom>
          <a:noFill/>
          <a:ln/>
        </p:spPr>
        <p:txBody>
          <a:bodyPr wrap="square" lIns="0" tIns="0" rIns="0" bIns="0" rtlCol="0" anchor="ctr"/>
          <a:lstStyle/>
          <a:p>
            <a:pPr marL="0" indent="0" algn="ctr">
              <a:buNone/>
            </a:pPr>
            <a:r>
              <a:rPr lang="en-US" sz="1900" b="1" dirty="0">
                <a:solidFill>
                  <a:srgbClr val="17795A"/>
                </a:solidFill>
                <a:latin typeface="Calibri" pitchFamily="34" charset="0"/>
                <a:ea typeface="Calibri" pitchFamily="34" charset="-122"/>
                <a:cs typeface="Calibri" pitchFamily="34" charset="-120"/>
              </a:rPr>
              <a:t>Projects and assignments</a:t>
            </a:r>
            <a:endParaRPr lang="en-US" sz="1900" dirty="0"/>
          </a:p>
        </p:txBody>
      </p:sp>
      <p:sp>
        <p:nvSpPr>
          <p:cNvPr id="16" name="Text 13"/>
          <p:cNvSpPr txBox="1"/>
          <p:nvPr/>
        </p:nvSpPr>
        <p:spPr>
          <a:xfrm>
            <a:off x="548640" y="4791456"/>
            <a:ext cx="6766560" cy="310896"/>
          </a:xfrm>
          <a:prstGeom prst="rect">
            <a:avLst/>
          </a:prstGeom>
          <a:noFill/>
          <a:ln/>
        </p:spPr>
        <p:txBody>
          <a:bodyPr wrap="square" lIns="0" tIns="0" rIns="0" bIns="0" rtlCol="0" anchor="ctr"/>
          <a:lstStyle/>
          <a:p>
            <a:pPr marL="0" indent="0" algn="ctr">
              <a:buNone/>
            </a:pPr>
            <a:r>
              <a:rPr lang="en-US" sz="2600" b="1" dirty="0">
                <a:solidFill>
                  <a:srgbClr val="F97316"/>
                </a:solidFill>
                <a:latin typeface="Calibri" pitchFamily="34" charset="0"/>
                <a:ea typeface="Calibri" pitchFamily="34" charset="-122"/>
                <a:cs typeface="Calibri" pitchFamily="34" charset="-120"/>
              </a:rPr>
              <a:t>↓</a:t>
            </a:r>
            <a:endParaRPr lang="en-US" sz="2600" dirty="0"/>
          </a:p>
        </p:txBody>
      </p:sp>
      <p:sp>
        <p:nvSpPr>
          <p:cNvPr id="17" name="Shape 14"/>
          <p:cNvSpPr/>
          <p:nvPr/>
        </p:nvSpPr>
        <p:spPr>
          <a:xfrm>
            <a:off x="548640" y="5120640"/>
            <a:ext cx="6766560" cy="1051560"/>
          </a:xfrm>
          <a:prstGeom prst="roundRect">
            <a:avLst>
              <a:gd name="adj" fmla="val 13913"/>
            </a:avLst>
          </a:prstGeom>
          <a:solidFill>
            <a:srgbClr val="17795A"/>
          </a:solidFill>
          <a:ln w="12700">
            <a:solidFill>
              <a:srgbClr val="17795A"/>
            </a:solidFill>
            <a:prstDash val="solid"/>
          </a:ln>
        </p:spPr>
      </p:sp>
      <p:sp>
        <p:nvSpPr>
          <p:cNvPr id="18" name="Text 15"/>
          <p:cNvSpPr txBox="1"/>
          <p:nvPr/>
        </p:nvSpPr>
        <p:spPr>
          <a:xfrm>
            <a:off x="822960" y="5257800"/>
            <a:ext cx="6217920" cy="868680"/>
          </a:xfrm>
          <a:prstGeom prst="rect">
            <a:avLst/>
          </a:prstGeom>
          <a:noFill/>
          <a:ln/>
        </p:spPr>
        <p:txBody>
          <a:bodyPr wrap="square" lIns="0" tIns="0" rIns="0" bIns="0" rtlCol="0" anchor="t"/>
          <a:lstStyle/>
          <a:p>
            <a:pPr marL="0" indent="0">
              <a:spcAft>
                <a:spcPts val="500"/>
              </a:spcAft>
              <a:buNone/>
            </a:pPr>
            <a:r>
              <a:rPr lang="en-US" sz="2200" b="1" dirty="0">
                <a:solidFill>
                  <a:srgbClr val="FFFFFF"/>
                </a:solidFill>
                <a:latin typeface="Calibri" pitchFamily="34" charset="0"/>
                <a:ea typeface="Calibri" pitchFamily="34" charset="-122"/>
                <a:cs typeface="Calibri" pitchFamily="34" charset="-120"/>
              </a:rPr>
              <a:t>PostgreSQL database</a:t>
            </a:r>
            <a:endParaRPr lang="en-US" sz="1800" dirty="0"/>
          </a:p>
          <a:p>
            <a:pPr marL="0" indent="0">
              <a:spcAft>
                <a:spcPts val="500"/>
              </a:spcAft>
              <a:buNone/>
            </a:pPr>
            <a:r>
              <a:rPr lang="en-US" sz="1700" dirty="0">
                <a:solidFill>
                  <a:srgbClr val="E2F3EA"/>
                </a:solidFill>
                <a:latin typeface="Calibri" pitchFamily="34" charset="0"/>
                <a:ea typeface="Calibri" pitchFamily="34" charset="-122"/>
                <a:cs typeface="Calibri" pitchFamily="34" charset="-120"/>
              </a:rPr>
              <a:t>with the PostGIS extension</a:t>
            </a:r>
            <a:endParaRPr lang="en-US" sz="1800" dirty="0"/>
          </a:p>
        </p:txBody>
      </p:sp>
      <p:sp>
        <p:nvSpPr>
          <p:cNvPr id="19" name="Shape 16"/>
          <p:cNvSpPr/>
          <p:nvPr/>
        </p:nvSpPr>
        <p:spPr>
          <a:xfrm>
            <a:off x="7589520" y="1417320"/>
            <a:ext cx="4050792" cy="1097280"/>
          </a:xfrm>
          <a:prstGeom prst="roundRect">
            <a:avLst>
              <a:gd name="adj" fmla="val 13333"/>
            </a:avLst>
          </a:prstGeom>
          <a:solidFill>
            <a:srgbClr val="173B7A"/>
          </a:solidFill>
          <a:ln w="12700">
            <a:solidFill>
              <a:srgbClr val="173B7A"/>
            </a:solidFill>
            <a:prstDash val="solid"/>
          </a:ln>
        </p:spPr>
      </p:sp>
      <p:sp>
        <p:nvSpPr>
          <p:cNvPr id="20" name="Text 17"/>
          <p:cNvSpPr txBox="1"/>
          <p:nvPr/>
        </p:nvSpPr>
        <p:spPr>
          <a:xfrm>
            <a:off x="7845552" y="1554480"/>
            <a:ext cx="3566160" cy="914400"/>
          </a:xfrm>
          <a:prstGeom prst="rect">
            <a:avLst/>
          </a:prstGeom>
          <a:noFill/>
          <a:ln/>
        </p:spPr>
        <p:txBody>
          <a:bodyPr wrap="square" lIns="0" tIns="0" rIns="0" bIns="0" rtlCol="0" anchor="t"/>
          <a:lstStyle/>
          <a:p>
            <a:pPr marL="0" indent="0">
              <a:spcAft>
                <a:spcPts val="500"/>
              </a:spcAft>
              <a:buNone/>
            </a:pPr>
            <a:r>
              <a:rPr lang="en-US" sz="2100" b="1" dirty="0">
                <a:solidFill>
                  <a:srgbClr val="FFFFFF"/>
                </a:solidFill>
                <a:latin typeface="Calibri" pitchFamily="34" charset="0"/>
                <a:ea typeface="Calibri" pitchFamily="34" charset="-122"/>
                <a:cs typeface="Calibri" pitchFamily="34" charset="-120"/>
              </a:rPr>
              <a:t>Frontend</a:t>
            </a:r>
            <a:endParaRPr lang="en-US" sz="1800" dirty="0"/>
          </a:p>
          <a:p>
            <a:pPr marL="0" indent="0">
              <a:spcAft>
                <a:spcPts val="500"/>
              </a:spcAft>
              <a:buNone/>
            </a:pPr>
            <a:r>
              <a:rPr lang="en-US" sz="1700" dirty="0">
                <a:solidFill>
                  <a:srgbClr val="CFE3DB"/>
                </a:solidFill>
                <a:latin typeface="Calibri" pitchFamily="34" charset="0"/>
                <a:ea typeface="Calibri" pitchFamily="34" charset="-122"/>
                <a:cs typeface="Calibri" pitchFamily="34" charset="-120"/>
              </a:rPr>
              <a:t>The user interface and interactions.</a:t>
            </a:r>
            <a:endParaRPr lang="en-US" sz="1800" dirty="0"/>
          </a:p>
        </p:txBody>
      </p:sp>
      <p:sp>
        <p:nvSpPr>
          <p:cNvPr id="21" name="Shape 18"/>
          <p:cNvSpPr/>
          <p:nvPr/>
        </p:nvSpPr>
        <p:spPr>
          <a:xfrm>
            <a:off x="7589520" y="2606040"/>
            <a:ext cx="4050792" cy="1097280"/>
          </a:xfrm>
          <a:prstGeom prst="roundRect">
            <a:avLst>
              <a:gd name="adj" fmla="val 13333"/>
            </a:avLst>
          </a:prstGeom>
          <a:solidFill>
            <a:srgbClr val="173B7A"/>
          </a:solidFill>
          <a:ln w="12700">
            <a:solidFill>
              <a:srgbClr val="173B7A"/>
            </a:solidFill>
            <a:prstDash val="solid"/>
          </a:ln>
        </p:spPr>
      </p:sp>
      <p:sp>
        <p:nvSpPr>
          <p:cNvPr id="22" name="Text 19"/>
          <p:cNvSpPr txBox="1"/>
          <p:nvPr/>
        </p:nvSpPr>
        <p:spPr>
          <a:xfrm>
            <a:off x="7845552" y="2743200"/>
            <a:ext cx="3566160" cy="914400"/>
          </a:xfrm>
          <a:prstGeom prst="rect">
            <a:avLst/>
          </a:prstGeom>
          <a:noFill/>
          <a:ln/>
        </p:spPr>
        <p:txBody>
          <a:bodyPr wrap="square" lIns="0" tIns="0" rIns="0" bIns="0" rtlCol="0" anchor="t"/>
          <a:lstStyle/>
          <a:p>
            <a:pPr marL="0" indent="0">
              <a:spcAft>
                <a:spcPts val="500"/>
              </a:spcAft>
              <a:buNone/>
            </a:pPr>
            <a:r>
              <a:rPr lang="en-US" sz="2100" b="1" dirty="0">
                <a:solidFill>
                  <a:srgbClr val="FFFFFF"/>
                </a:solidFill>
                <a:latin typeface="Calibri" pitchFamily="34" charset="0"/>
                <a:ea typeface="Calibri" pitchFamily="34" charset="-122"/>
                <a:cs typeface="Calibri" pitchFamily="34" charset="-120"/>
              </a:rPr>
              <a:t>FastAPI</a:t>
            </a:r>
            <a:endParaRPr lang="en-US" sz="1800" dirty="0"/>
          </a:p>
          <a:p>
            <a:pPr marL="0" indent="0">
              <a:spcAft>
                <a:spcPts val="500"/>
              </a:spcAft>
              <a:buNone/>
            </a:pPr>
            <a:r>
              <a:rPr lang="en-US" sz="1700" dirty="0">
                <a:solidFill>
                  <a:srgbClr val="CFE3DB"/>
                </a:solidFill>
                <a:latin typeface="Calibri" pitchFamily="34" charset="0"/>
                <a:ea typeface="Calibri" pitchFamily="34" charset="-122"/>
                <a:cs typeface="Calibri" pitchFamily="34" charset="-120"/>
              </a:rPr>
              <a:t>Backend APIs and business logic.</a:t>
            </a:r>
            <a:endParaRPr lang="en-US" sz="1800" dirty="0"/>
          </a:p>
        </p:txBody>
      </p:sp>
      <p:sp>
        <p:nvSpPr>
          <p:cNvPr id="23" name="Shape 20"/>
          <p:cNvSpPr/>
          <p:nvPr/>
        </p:nvSpPr>
        <p:spPr>
          <a:xfrm>
            <a:off x="7589520" y="3794760"/>
            <a:ext cx="4050792" cy="1097280"/>
          </a:xfrm>
          <a:prstGeom prst="roundRect">
            <a:avLst>
              <a:gd name="adj" fmla="val 13333"/>
            </a:avLst>
          </a:prstGeom>
          <a:solidFill>
            <a:srgbClr val="173B7A"/>
          </a:solidFill>
          <a:ln w="12700">
            <a:solidFill>
              <a:srgbClr val="173B7A"/>
            </a:solidFill>
            <a:prstDash val="solid"/>
          </a:ln>
        </p:spPr>
      </p:sp>
      <p:sp>
        <p:nvSpPr>
          <p:cNvPr id="24" name="Text 21"/>
          <p:cNvSpPr txBox="1"/>
          <p:nvPr/>
        </p:nvSpPr>
        <p:spPr>
          <a:xfrm>
            <a:off x="7845552" y="3931920"/>
            <a:ext cx="3566160" cy="914400"/>
          </a:xfrm>
          <a:prstGeom prst="rect">
            <a:avLst/>
          </a:prstGeom>
          <a:noFill/>
          <a:ln/>
        </p:spPr>
        <p:txBody>
          <a:bodyPr wrap="square" lIns="0" tIns="0" rIns="0" bIns="0" rtlCol="0" anchor="t"/>
          <a:lstStyle/>
          <a:p>
            <a:pPr marL="0" indent="0">
              <a:spcAft>
                <a:spcPts val="500"/>
              </a:spcAft>
              <a:buNone/>
            </a:pPr>
            <a:r>
              <a:rPr lang="en-US" sz="2100" b="1" dirty="0">
                <a:solidFill>
                  <a:srgbClr val="FFFFFF"/>
                </a:solidFill>
                <a:latin typeface="Calibri" pitchFamily="34" charset="0"/>
                <a:ea typeface="Calibri" pitchFamily="34" charset="-122"/>
                <a:cs typeface="Calibri" pitchFamily="34" charset="-120"/>
              </a:rPr>
              <a:t>PostgreSQL</a:t>
            </a:r>
            <a:endParaRPr lang="en-US" sz="1800" dirty="0"/>
          </a:p>
          <a:p>
            <a:pPr marL="0" indent="0">
              <a:spcAft>
                <a:spcPts val="500"/>
              </a:spcAft>
              <a:buNone/>
            </a:pPr>
            <a:r>
              <a:rPr lang="en-US" sz="1700" dirty="0">
                <a:solidFill>
                  <a:srgbClr val="CFE3DB"/>
                </a:solidFill>
                <a:latin typeface="Calibri" pitchFamily="34" charset="0"/>
                <a:ea typeface="Calibri" pitchFamily="34" charset="-122"/>
                <a:cs typeface="Calibri" pitchFamily="34" charset="-120"/>
              </a:rPr>
              <a:t>Worker, contractor, project and assignment data.</a:t>
            </a:r>
            <a:endParaRPr lang="en-US" sz="1800" dirty="0"/>
          </a:p>
        </p:txBody>
      </p:sp>
      <p:sp>
        <p:nvSpPr>
          <p:cNvPr id="25" name="Shape 22"/>
          <p:cNvSpPr/>
          <p:nvPr/>
        </p:nvSpPr>
        <p:spPr>
          <a:xfrm>
            <a:off x="7589520" y="4983480"/>
            <a:ext cx="4050792" cy="1097280"/>
          </a:xfrm>
          <a:prstGeom prst="roundRect">
            <a:avLst>
              <a:gd name="adj" fmla="val 13333"/>
            </a:avLst>
          </a:prstGeom>
          <a:solidFill>
            <a:srgbClr val="173B7A"/>
          </a:solidFill>
          <a:ln w="12700">
            <a:solidFill>
              <a:srgbClr val="173B7A"/>
            </a:solidFill>
            <a:prstDash val="solid"/>
          </a:ln>
        </p:spPr>
      </p:sp>
      <p:sp>
        <p:nvSpPr>
          <p:cNvPr id="26" name="Text 23"/>
          <p:cNvSpPr txBox="1"/>
          <p:nvPr/>
        </p:nvSpPr>
        <p:spPr>
          <a:xfrm>
            <a:off x="7845552" y="5120640"/>
            <a:ext cx="3566160" cy="914400"/>
          </a:xfrm>
          <a:prstGeom prst="rect">
            <a:avLst/>
          </a:prstGeom>
          <a:noFill/>
          <a:ln/>
        </p:spPr>
        <p:txBody>
          <a:bodyPr wrap="square" lIns="0" tIns="0" rIns="0" bIns="0" rtlCol="0" anchor="t"/>
          <a:lstStyle/>
          <a:p>
            <a:pPr marL="0" indent="0">
              <a:spcAft>
                <a:spcPts val="500"/>
              </a:spcAft>
              <a:buNone/>
            </a:pPr>
            <a:r>
              <a:rPr lang="en-US" sz="2100" b="1" dirty="0">
                <a:solidFill>
                  <a:srgbClr val="FFFFFF"/>
                </a:solidFill>
                <a:latin typeface="Calibri" pitchFamily="34" charset="0"/>
                <a:ea typeface="Calibri" pitchFamily="34" charset="-122"/>
                <a:cs typeface="Calibri" pitchFamily="34" charset="-120"/>
              </a:rPr>
              <a:t>PostGIS</a:t>
            </a:r>
            <a:endParaRPr lang="en-US" sz="1800" dirty="0"/>
          </a:p>
          <a:p>
            <a:pPr marL="0" indent="0">
              <a:spcAft>
                <a:spcPts val="500"/>
              </a:spcAft>
              <a:buNone/>
            </a:pPr>
            <a:r>
              <a:rPr lang="en-US" sz="1700" dirty="0">
                <a:solidFill>
                  <a:srgbClr val="CFE3DB"/>
                </a:solidFill>
                <a:latin typeface="Calibri" pitchFamily="34" charset="0"/>
                <a:ea typeface="Calibri" pitchFamily="34" charset="-122"/>
                <a:cs typeface="Calibri" pitchFamily="34" charset="-120"/>
              </a:rPr>
              <a:t>Geographic matching capability, for finding workers near a site.</a:t>
            </a:r>
            <a:endParaRPr lang="en-US" sz="1800" dirty="0"/>
          </a:p>
        </p:txBody>
      </p:sp>
      <p:sp>
        <p:nvSpPr>
          <p:cNvPr id="3" name="Slide Number Placeholder 0"/>
          <p:cNvSpPr>
            <a:spLocks noGrp="1"/>
          </p:cNvSpPr>
          <p:nvPr>
            <p:ph type="sldNum" sz="quarter" idx="4294967295"/>
          </p:nvPr>
        </p:nvSpPr>
        <p:spPr>
          <a:xfrm>
            <a:off x="10881360" y="6400800"/>
            <a:ext cx="758952"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CFE3DB"/>
                </a:solidFill>
                <a:latin typeface="Calibri"/>
                <a:ea typeface="Calibri"/>
                <a:cs typeface="Calibri"/>
              </a:defRPr>
            </a:lvl1pPr>
          </a:lstStyle>
          <a:p>
            <a:pPr algn="r"/>
            <a:fld id="{F7021451-1387-4CA6-816F-3879F97B5CBC}" type="slidenum">
              <a:rPr lang="en-US" b="1"/>
              <a:t>7</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68680"/>
          </a:xfrm>
          <a:prstGeom prst="rect">
            <a:avLst/>
          </a:prstGeom>
          <a:noFill/>
          <a:ln/>
        </p:spPr>
        <p:txBody>
          <a:bodyPr wrap="square" lIns="0" tIns="0" rIns="0" bIns="0" rtlCol="0" anchor="ctr"/>
          <a:lstStyle/>
          <a:p>
            <a:pPr marL="0" indent="0" algn="l">
              <a:buNone/>
            </a:pPr>
            <a:r>
              <a:rPr lang="en-US" sz="3800" b="1" dirty="0">
                <a:solidFill>
                  <a:srgbClr val="10201C"/>
                </a:solidFill>
                <a:latin typeface="Calibri" pitchFamily="34" charset="0"/>
                <a:ea typeface="Calibri" pitchFamily="34" charset="-122"/>
                <a:cs typeface="Calibri" pitchFamily="34" charset="-120"/>
              </a:rPr>
              <a:t>How the components work together</a:t>
            </a:r>
            <a:endParaRPr lang="en-US" sz="3800" dirty="0"/>
          </a:p>
        </p:txBody>
      </p:sp>
      <p:sp>
        <p:nvSpPr>
          <p:cNvPr id="4" name="Shape 1"/>
          <p:cNvSpPr/>
          <p:nvPr/>
        </p:nvSpPr>
        <p:spPr>
          <a:xfrm>
            <a:off x="548640" y="1417320"/>
            <a:ext cx="2011680" cy="3520440"/>
          </a:xfrm>
          <a:prstGeom prst="roundRect">
            <a:avLst>
              <a:gd name="adj" fmla="val 9091"/>
            </a:avLst>
          </a:prstGeom>
          <a:solidFill>
            <a:schemeClr val="tx1">
              <a:lumMod val="25000"/>
              <a:lumOff val="75000"/>
            </a:schemeClr>
          </a:solidFill>
          <a:ln w="12700">
            <a:solidFill>
              <a:srgbClr val="CFE0D6"/>
            </a:solidFill>
            <a:prstDash val="solid"/>
          </a:ln>
        </p:spPr>
      </p:sp>
      <p:sp>
        <p:nvSpPr>
          <p:cNvPr id="5" name="Text 2"/>
          <p:cNvSpPr txBox="1"/>
          <p:nvPr/>
        </p:nvSpPr>
        <p:spPr>
          <a:xfrm>
            <a:off x="777240" y="1645920"/>
            <a:ext cx="1554480" cy="3108960"/>
          </a:xfrm>
          <a:prstGeom prst="rect">
            <a:avLst/>
          </a:prstGeom>
          <a:noFill/>
          <a:ln/>
        </p:spPr>
        <p:txBody>
          <a:bodyPr wrap="square" lIns="0" tIns="0" rIns="0" bIns="0" rtlCol="0" anchor="t"/>
          <a:lstStyle/>
          <a:p>
            <a:pPr marL="0" indent="0" algn="ctr">
              <a:spcAft>
                <a:spcPts val="800"/>
              </a:spcAft>
              <a:buNone/>
            </a:pPr>
            <a:r>
              <a:rPr lang="en-US" sz="1500" b="1" dirty="0">
                <a:solidFill>
                  <a:srgbClr val="3C4A46"/>
                </a:solidFill>
                <a:latin typeface="Calibri" pitchFamily="34" charset="0"/>
                <a:ea typeface="Calibri" pitchFamily="34" charset="-122"/>
                <a:cs typeface="Calibri" pitchFamily="34" charset="-120"/>
              </a:rPr>
              <a:t>USER</a:t>
            </a:r>
            <a:endParaRPr lang="en-US" sz="1800" dirty="0"/>
          </a:p>
          <a:p>
            <a:pPr marL="0" indent="0" algn="ctr">
              <a:spcAft>
                <a:spcPts val="800"/>
              </a:spcAft>
              <a:buNone/>
            </a:pPr>
            <a:r>
              <a:rPr lang="en-US" sz="2400" b="1" dirty="0">
                <a:solidFill>
                  <a:srgbClr val="10201C"/>
                </a:solidFill>
                <a:latin typeface="Calibri" pitchFamily="34" charset="0"/>
                <a:ea typeface="Calibri" pitchFamily="34" charset="-122"/>
                <a:cs typeface="Calibri" pitchFamily="34" charset="-120"/>
              </a:rPr>
              <a:t>Contractor</a:t>
            </a:r>
            <a:endParaRPr lang="en-US" sz="1800" dirty="0"/>
          </a:p>
          <a:p>
            <a:pPr marL="0" indent="0" algn="ctr">
              <a:spcAft>
                <a:spcPts val="800"/>
              </a:spcAft>
              <a:buNone/>
            </a:pPr>
            <a:r>
              <a:rPr lang="en-US" sz="1800" dirty="0">
                <a:solidFill>
                  <a:srgbClr val="1B3A33"/>
                </a:solidFill>
                <a:latin typeface="Calibri" pitchFamily="34" charset="0"/>
                <a:ea typeface="Calibri" pitchFamily="34" charset="-122"/>
                <a:cs typeface="Calibri" pitchFamily="34" charset="-120"/>
              </a:rPr>
              <a:t>Web or mobile interface.</a:t>
            </a:r>
            <a:endParaRPr lang="en-US" sz="1800" dirty="0"/>
          </a:p>
        </p:txBody>
      </p:sp>
      <p:sp>
        <p:nvSpPr>
          <p:cNvPr id="6" name="Text 3"/>
          <p:cNvSpPr txBox="1"/>
          <p:nvPr/>
        </p:nvSpPr>
        <p:spPr>
          <a:xfrm>
            <a:off x="2560320" y="2651760"/>
            <a:ext cx="283464" cy="548640"/>
          </a:xfrm>
          <a:prstGeom prst="rect">
            <a:avLst/>
          </a:prstGeom>
          <a:noFill/>
          <a:ln/>
        </p:spPr>
        <p:txBody>
          <a:bodyPr wrap="square" lIns="0" tIns="0" rIns="0" bIns="0" rtlCol="0" anchor="ctr"/>
          <a:lstStyle/>
          <a:p>
            <a:pPr marL="0" indent="0" algn="ctr">
              <a:buNone/>
            </a:pPr>
            <a:r>
              <a:rPr lang="en-US" sz="2400" b="1" dirty="0">
                <a:solidFill>
                  <a:srgbClr val="1D4ED8"/>
                </a:solidFill>
                <a:latin typeface="Calibri" pitchFamily="34" charset="0"/>
                <a:ea typeface="Calibri" pitchFamily="34" charset="-122"/>
                <a:cs typeface="Calibri" pitchFamily="34" charset="-120"/>
              </a:rPr>
              <a:t>→</a:t>
            </a:r>
            <a:endParaRPr lang="en-US" sz="2400" dirty="0"/>
          </a:p>
        </p:txBody>
      </p:sp>
      <p:sp>
        <p:nvSpPr>
          <p:cNvPr id="7" name="Shape 4"/>
          <p:cNvSpPr/>
          <p:nvPr/>
        </p:nvSpPr>
        <p:spPr>
          <a:xfrm>
            <a:off x="2843784" y="1417320"/>
            <a:ext cx="2240280" cy="3520440"/>
          </a:xfrm>
          <a:prstGeom prst="roundRect">
            <a:avLst>
              <a:gd name="adj" fmla="val 8163"/>
            </a:avLst>
          </a:prstGeom>
          <a:solidFill>
            <a:schemeClr val="bg2">
              <a:lumMod val="75000"/>
            </a:schemeClr>
          </a:solidFill>
          <a:ln w="12700">
            <a:solidFill>
              <a:schemeClr val="accent1"/>
            </a:solidFill>
            <a:prstDash val="solid"/>
          </a:ln>
        </p:spPr>
      </p:sp>
      <p:sp>
        <p:nvSpPr>
          <p:cNvPr id="8" name="Text 5"/>
          <p:cNvSpPr txBox="1"/>
          <p:nvPr/>
        </p:nvSpPr>
        <p:spPr>
          <a:xfrm>
            <a:off x="3072384" y="1645920"/>
            <a:ext cx="1783080" cy="3108960"/>
          </a:xfrm>
          <a:prstGeom prst="rect">
            <a:avLst/>
          </a:prstGeom>
          <a:noFill/>
          <a:ln/>
        </p:spPr>
        <p:txBody>
          <a:bodyPr wrap="square" lIns="0" tIns="0" rIns="0" bIns="0" rtlCol="0" anchor="t"/>
          <a:lstStyle/>
          <a:p>
            <a:pPr marL="0" indent="0" algn="ctr">
              <a:spcAft>
                <a:spcPts val="800"/>
              </a:spcAft>
              <a:buNone/>
            </a:pPr>
            <a:r>
              <a:rPr lang="en-US" sz="1500" b="1" dirty="0">
                <a:solidFill>
                  <a:schemeClr val="accent1">
                    <a:lumMod val="75000"/>
                  </a:schemeClr>
                </a:solidFill>
                <a:latin typeface="Calibri" pitchFamily="34" charset="0"/>
                <a:ea typeface="Calibri" pitchFamily="34" charset="-122"/>
                <a:cs typeface="Calibri" pitchFamily="34" charset="-120"/>
              </a:rPr>
              <a:t>INTERFACE</a:t>
            </a:r>
            <a:endParaRPr lang="en-US" sz="1800" dirty="0">
              <a:solidFill>
                <a:schemeClr val="accent1">
                  <a:lumMod val="75000"/>
                </a:schemeClr>
              </a:solidFill>
            </a:endParaRPr>
          </a:p>
          <a:p>
            <a:pPr marL="0" indent="0" algn="ctr">
              <a:spcAft>
                <a:spcPts val="800"/>
              </a:spcAft>
              <a:buNone/>
            </a:pPr>
            <a:r>
              <a:rPr lang="en-US" sz="2400" b="1" dirty="0">
                <a:solidFill>
                  <a:srgbClr val="10201C"/>
                </a:solidFill>
                <a:latin typeface="Calibri" pitchFamily="34" charset="0"/>
                <a:ea typeface="Calibri" pitchFamily="34" charset="-122"/>
                <a:cs typeface="Calibri" pitchFamily="34" charset="-120"/>
              </a:rPr>
              <a:t>Hello frontend</a:t>
            </a:r>
            <a:endParaRPr lang="en-US" sz="1800" dirty="0"/>
          </a:p>
          <a:p>
            <a:pPr marL="0" indent="0" algn="ctr">
              <a:spcAft>
                <a:spcPts val="800"/>
              </a:spcAft>
              <a:buNone/>
            </a:pPr>
            <a:r>
              <a:rPr lang="en-US" sz="1800" dirty="0">
                <a:solidFill>
                  <a:srgbClr val="1B3A33"/>
                </a:solidFill>
                <a:latin typeface="Calibri" pitchFamily="34" charset="0"/>
                <a:ea typeface="Calibri" pitchFamily="34" charset="-122"/>
                <a:cs typeface="Calibri" pitchFamily="34" charset="-120"/>
              </a:rPr>
              <a:t>HTML · CSS · JS · TS. Sends API requests.</a:t>
            </a:r>
            <a:endParaRPr lang="en-US" sz="1800" dirty="0"/>
          </a:p>
        </p:txBody>
      </p:sp>
      <p:sp>
        <p:nvSpPr>
          <p:cNvPr id="9" name="Text 6"/>
          <p:cNvSpPr txBox="1"/>
          <p:nvPr/>
        </p:nvSpPr>
        <p:spPr>
          <a:xfrm>
            <a:off x="5084064" y="2651760"/>
            <a:ext cx="283464" cy="548640"/>
          </a:xfrm>
          <a:prstGeom prst="rect">
            <a:avLst/>
          </a:prstGeom>
          <a:noFill/>
          <a:ln/>
        </p:spPr>
        <p:txBody>
          <a:bodyPr wrap="square" lIns="0" tIns="0" rIns="0" bIns="0" rtlCol="0" anchor="ctr"/>
          <a:lstStyle/>
          <a:p>
            <a:pPr marL="0" indent="0" algn="ctr">
              <a:buNone/>
            </a:pPr>
            <a:r>
              <a:rPr lang="en-US" sz="2400" b="1" dirty="0">
                <a:solidFill>
                  <a:srgbClr val="1D4ED8"/>
                </a:solidFill>
                <a:latin typeface="Calibri" pitchFamily="34" charset="0"/>
                <a:ea typeface="Calibri" pitchFamily="34" charset="-122"/>
                <a:cs typeface="Calibri" pitchFamily="34" charset="-120"/>
              </a:rPr>
              <a:t>→</a:t>
            </a:r>
            <a:endParaRPr lang="en-US" sz="2400" dirty="0"/>
          </a:p>
        </p:txBody>
      </p:sp>
      <p:sp>
        <p:nvSpPr>
          <p:cNvPr id="10" name="Shape 7"/>
          <p:cNvSpPr/>
          <p:nvPr/>
        </p:nvSpPr>
        <p:spPr>
          <a:xfrm>
            <a:off x="5367528" y="1417320"/>
            <a:ext cx="3017520" cy="3520440"/>
          </a:xfrm>
          <a:prstGeom prst="roundRect">
            <a:avLst>
              <a:gd name="adj" fmla="val 6061"/>
            </a:avLst>
          </a:prstGeom>
          <a:solidFill>
            <a:schemeClr val="bg2">
              <a:lumMod val="75000"/>
            </a:schemeClr>
          </a:solidFill>
          <a:ln w="12700">
            <a:solidFill>
              <a:srgbClr val="E2F3EA"/>
            </a:solidFill>
            <a:prstDash val="solid"/>
          </a:ln>
        </p:spPr>
      </p:sp>
      <p:sp>
        <p:nvSpPr>
          <p:cNvPr id="11" name="Text 8"/>
          <p:cNvSpPr txBox="1"/>
          <p:nvPr/>
        </p:nvSpPr>
        <p:spPr>
          <a:xfrm>
            <a:off x="5596128" y="1645920"/>
            <a:ext cx="2560320" cy="3108960"/>
          </a:xfrm>
          <a:prstGeom prst="rect">
            <a:avLst/>
          </a:prstGeom>
          <a:noFill/>
          <a:ln/>
        </p:spPr>
        <p:txBody>
          <a:bodyPr wrap="square" lIns="0" tIns="0" rIns="0" bIns="0" rtlCol="0" anchor="t"/>
          <a:lstStyle/>
          <a:p>
            <a:pPr marL="0" indent="0" algn="ctr">
              <a:spcAft>
                <a:spcPts val="800"/>
              </a:spcAft>
              <a:buNone/>
            </a:pPr>
            <a:r>
              <a:rPr lang="en-US" sz="1500" b="1" dirty="0">
                <a:solidFill>
                  <a:schemeClr val="accent1">
                    <a:lumMod val="75000"/>
                  </a:schemeClr>
                </a:solidFill>
                <a:latin typeface="Calibri" pitchFamily="34" charset="0"/>
                <a:ea typeface="Calibri" pitchFamily="34" charset="-122"/>
                <a:cs typeface="Calibri" pitchFamily="34" charset="-120"/>
              </a:rPr>
              <a:t>LOGIC</a:t>
            </a:r>
            <a:endParaRPr lang="en-US" sz="1800" dirty="0">
              <a:solidFill>
                <a:schemeClr val="accent1">
                  <a:lumMod val="75000"/>
                </a:schemeClr>
              </a:solidFill>
            </a:endParaRPr>
          </a:p>
          <a:p>
            <a:pPr marL="0" indent="0" algn="ctr">
              <a:spcAft>
                <a:spcPts val="800"/>
              </a:spcAft>
              <a:buNone/>
            </a:pPr>
            <a:r>
              <a:rPr lang="en-US" sz="2400" b="1" dirty="0">
                <a:solidFill>
                  <a:schemeClr val="bg2">
                    <a:lumMod val="10000"/>
                  </a:schemeClr>
                </a:solidFill>
                <a:latin typeface="Calibri" pitchFamily="34" charset="0"/>
                <a:ea typeface="Calibri" pitchFamily="34" charset="-122"/>
                <a:cs typeface="Calibri" pitchFamily="34" charset="-120"/>
              </a:rPr>
              <a:t>FastAPI backend</a:t>
            </a:r>
            <a:endParaRPr lang="en-US" sz="1800" dirty="0">
              <a:solidFill>
                <a:schemeClr val="bg2">
                  <a:lumMod val="10000"/>
                </a:schemeClr>
              </a:solidFill>
            </a:endParaRPr>
          </a:p>
          <a:p>
            <a:pPr marL="0" indent="0" algn="ctr">
              <a:spcAft>
                <a:spcPts val="800"/>
              </a:spcAft>
              <a:buNone/>
            </a:pPr>
            <a:r>
              <a:rPr lang="en-US" sz="1800" dirty="0">
                <a:solidFill>
                  <a:srgbClr val="1B3A33"/>
                </a:solidFill>
                <a:latin typeface="Calibri" pitchFamily="34" charset="0"/>
                <a:ea typeface="Calibri" pitchFamily="34" charset="-122"/>
                <a:cs typeface="Calibri" pitchFamily="34" charset="-120"/>
              </a:rPr>
              <a:t>Workforce logic · Matching · Assignments · Project management · Offer delivery</a:t>
            </a:r>
            <a:endParaRPr lang="en-US" sz="1800" dirty="0"/>
          </a:p>
        </p:txBody>
      </p:sp>
      <p:sp>
        <p:nvSpPr>
          <p:cNvPr id="12" name="Text 9"/>
          <p:cNvSpPr txBox="1"/>
          <p:nvPr/>
        </p:nvSpPr>
        <p:spPr>
          <a:xfrm>
            <a:off x="8385048" y="2651760"/>
            <a:ext cx="283464" cy="548640"/>
          </a:xfrm>
          <a:prstGeom prst="rect">
            <a:avLst/>
          </a:prstGeom>
          <a:noFill/>
          <a:ln/>
        </p:spPr>
        <p:txBody>
          <a:bodyPr wrap="square" lIns="0" tIns="0" rIns="0" bIns="0" rtlCol="0" anchor="ctr"/>
          <a:lstStyle/>
          <a:p>
            <a:pPr marL="0" indent="0" algn="ctr">
              <a:buNone/>
            </a:pPr>
            <a:r>
              <a:rPr lang="en-US" sz="2400" b="1" dirty="0">
                <a:solidFill>
                  <a:srgbClr val="1D4ED8"/>
                </a:solidFill>
                <a:latin typeface="Calibri" pitchFamily="34" charset="0"/>
                <a:ea typeface="Calibri" pitchFamily="34" charset="-122"/>
                <a:cs typeface="Calibri" pitchFamily="34" charset="-120"/>
              </a:rPr>
              <a:t>→</a:t>
            </a:r>
            <a:endParaRPr lang="en-US" sz="2400" dirty="0"/>
          </a:p>
        </p:txBody>
      </p:sp>
      <p:sp>
        <p:nvSpPr>
          <p:cNvPr id="13" name="Shape 10"/>
          <p:cNvSpPr/>
          <p:nvPr/>
        </p:nvSpPr>
        <p:spPr>
          <a:xfrm>
            <a:off x="8668512" y="1417320"/>
            <a:ext cx="3090672" cy="3520440"/>
          </a:xfrm>
          <a:prstGeom prst="roundRect">
            <a:avLst>
              <a:gd name="adj" fmla="val 5917"/>
            </a:avLst>
          </a:prstGeom>
          <a:solidFill>
            <a:srgbClr val="0B2B26"/>
          </a:solidFill>
          <a:ln w="12700">
            <a:solidFill>
              <a:srgbClr val="0B2B26"/>
            </a:solidFill>
            <a:prstDash val="solid"/>
          </a:ln>
        </p:spPr>
      </p:sp>
      <p:sp>
        <p:nvSpPr>
          <p:cNvPr id="14" name="Text 11"/>
          <p:cNvSpPr txBox="1"/>
          <p:nvPr/>
        </p:nvSpPr>
        <p:spPr>
          <a:xfrm>
            <a:off x="8897112" y="1645920"/>
            <a:ext cx="2633472" cy="3108960"/>
          </a:xfrm>
          <a:prstGeom prst="rect">
            <a:avLst/>
          </a:prstGeom>
          <a:noFill/>
          <a:ln/>
        </p:spPr>
        <p:txBody>
          <a:bodyPr wrap="square" lIns="0" tIns="0" rIns="0" bIns="0" rtlCol="0" anchor="t"/>
          <a:lstStyle/>
          <a:p>
            <a:pPr marL="0" indent="0" algn="ctr">
              <a:spcAft>
                <a:spcPts val="800"/>
              </a:spcAft>
              <a:buNone/>
            </a:pPr>
            <a:r>
              <a:rPr lang="en-US" sz="1500" b="1" dirty="0">
                <a:solidFill>
                  <a:srgbClr val="F97316"/>
                </a:solidFill>
                <a:latin typeface="Calibri" pitchFamily="34" charset="0"/>
                <a:ea typeface="Calibri" pitchFamily="34" charset="-122"/>
                <a:cs typeface="Calibri" pitchFamily="34" charset="-120"/>
              </a:rPr>
              <a:t>DATA</a:t>
            </a:r>
            <a:endParaRPr lang="en-US" sz="1800" dirty="0"/>
          </a:p>
          <a:p>
            <a:pPr marL="0" indent="0" algn="ctr">
              <a:spcAft>
                <a:spcPts val="800"/>
              </a:spcAft>
              <a:buNone/>
            </a:pPr>
            <a:r>
              <a:rPr lang="en-US" sz="2400" b="1" dirty="0">
                <a:solidFill>
                  <a:srgbClr val="FFFFFF"/>
                </a:solidFill>
                <a:latin typeface="Calibri" pitchFamily="34" charset="0"/>
                <a:ea typeface="Calibri" pitchFamily="34" charset="-122"/>
                <a:cs typeface="Calibri" pitchFamily="34" charset="-120"/>
              </a:rPr>
              <a:t>PostgreSQL</a:t>
            </a:r>
            <a:endParaRPr lang="en-US" sz="1800" dirty="0"/>
          </a:p>
          <a:p>
            <a:pPr marL="0" indent="0" algn="ctr">
              <a:spcAft>
                <a:spcPts val="800"/>
              </a:spcAft>
              <a:buNone/>
            </a:pPr>
            <a:r>
              <a:rPr lang="en-US" sz="1800" dirty="0">
                <a:solidFill>
                  <a:srgbClr val="CFE3DB"/>
                </a:solidFill>
                <a:latin typeface="Calibri" pitchFamily="34" charset="0"/>
                <a:ea typeface="Calibri" pitchFamily="34" charset="-122"/>
                <a:cs typeface="Calibri" pitchFamily="34" charset="-120"/>
              </a:rPr>
              <a:t>Workers · Contractors · Projects · Skills · Assignments · Work records</a:t>
            </a:r>
            <a:endParaRPr lang="en-US" sz="1800" dirty="0"/>
          </a:p>
          <a:p>
            <a:pPr marL="0" indent="0" algn="ctr">
              <a:spcAft>
                <a:spcPts val="800"/>
              </a:spcAft>
              <a:buNone/>
            </a:pPr>
            <a:r>
              <a:rPr lang="en-US" sz="1800" dirty="0">
                <a:solidFill>
                  <a:srgbClr val="CFE3DB"/>
                </a:solidFill>
                <a:latin typeface="Calibri" pitchFamily="34" charset="0"/>
                <a:ea typeface="Calibri" pitchFamily="34" charset="-122"/>
                <a:cs typeface="Calibri" pitchFamily="34" charset="-120"/>
              </a:rPr>
              <a:t>+ PostGIS geographic queries</a:t>
            </a:r>
            <a:endParaRPr lang="en-US" sz="1800" dirty="0"/>
          </a:p>
        </p:txBody>
      </p:sp>
      <p:sp>
        <p:nvSpPr>
          <p:cNvPr id="15" name="Shape 12"/>
          <p:cNvSpPr/>
          <p:nvPr/>
        </p:nvSpPr>
        <p:spPr>
          <a:xfrm>
            <a:off x="548640" y="5212080"/>
            <a:ext cx="11091672" cy="1005840"/>
          </a:xfrm>
          <a:prstGeom prst="roundRect">
            <a:avLst>
              <a:gd name="adj" fmla="val 16364"/>
            </a:avLst>
          </a:prstGeom>
          <a:solidFill>
            <a:srgbClr val="10265C"/>
          </a:solidFill>
          <a:ln w="12700">
            <a:solidFill>
              <a:srgbClr val="10265C"/>
            </a:solidFill>
            <a:prstDash val="solid"/>
          </a:ln>
        </p:spPr>
      </p:sp>
      <p:sp>
        <p:nvSpPr>
          <p:cNvPr id="16" name="Text 13"/>
          <p:cNvSpPr txBox="1"/>
          <p:nvPr/>
        </p:nvSpPr>
        <p:spPr>
          <a:xfrm>
            <a:off x="914400" y="5212080"/>
            <a:ext cx="10360152" cy="100584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Frontend handles interaction  →  FastAPI handles logic  →  PostgreSQL stores the workforce  →  PostGIS supports geographic matching.</a:t>
            </a:r>
            <a:endParaRPr lang="en-US" sz="2000" dirty="0"/>
          </a:p>
        </p:txBody>
      </p:sp>
      <p:sp>
        <p:nvSpPr>
          <p:cNvPr id="25" name="Slide Number Placeholder 0"/>
          <p:cNvSpPr>
            <a:spLocks noGrp="1"/>
          </p:cNvSpPr>
          <p:nvPr>
            <p:ph type="sldNum" sz="quarter" idx="4294967295"/>
          </p:nvPr>
        </p:nvSpPr>
        <p:spPr>
          <a:xfrm>
            <a:off x="10881360" y="6400800"/>
            <a:ext cx="758952"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1B3A33"/>
                </a:solidFill>
                <a:latin typeface="Calibri"/>
                <a:ea typeface="Calibri"/>
                <a:cs typeface="Calibri"/>
              </a:defRPr>
            </a:lvl1pPr>
          </a:lstStyle>
          <a:p>
            <a:pPr algn="r"/>
            <a:fld id="{F7021451-1387-4CA6-816F-3879F97B5CBC}" type="slidenum">
              <a:rPr lang="en-US" b="1"/>
              <a:t>8</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250">
        <p14:flip dir="r"/>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68680"/>
          </a:xfrm>
          <a:prstGeom prst="rect">
            <a:avLst/>
          </a:prstGeom>
          <a:noFill/>
          <a:ln/>
        </p:spPr>
        <p:txBody>
          <a:bodyPr wrap="square" lIns="0" tIns="0" rIns="0" bIns="0" rtlCol="0" anchor="ctr"/>
          <a:lstStyle/>
          <a:p>
            <a:pPr marL="0" indent="0" algn="l">
              <a:buNone/>
            </a:pPr>
            <a:r>
              <a:rPr lang="en-US" sz="3800" b="1" dirty="0">
                <a:solidFill>
                  <a:srgbClr val="10201C"/>
                </a:solidFill>
                <a:latin typeface="Calibri" pitchFamily="34" charset="0"/>
                <a:ea typeface="Calibri" pitchFamily="34" charset="-122"/>
                <a:cs typeface="Calibri" pitchFamily="34" charset="-120"/>
              </a:rPr>
              <a:t>Designed to be built, tested and scaled</a:t>
            </a:r>
            <a:endParaRPr lang="en-US" sz="3800" dirty="0"/>
          </a:p>
        </p:txBody>
      </p:sp>
      <p:sp>
        <p:nvSpPr>
          <p:cNvPr id="4" name="Shape 1"/>
          <p:cNvSpPr/>
          <p:nvPr/>
        </p:nvSpPr>
        <p:spPr>
          <a:xfrm>
            <a:off x="548640" y="1417320"/>
            <a:ext cx="2670048" cy="1051560"/>
          </a:xfrm>
          <a:prstGeom prst="roundRect">
            <a:avLst>
              <a:gd name="adj" fmla="val 12174"/>
            </a:avLst>
          </a:prstGeom>
          <a:solidFill>
            <a:srgbClr val="F3F8F4"/>
          </a:solidFill>
          <a:ln w="12700">
            <a:solidFill>
              <a:srgbClr val="F3F8F4"/>
            </a:solidFill>
            <a:prstDash val="solid"/>
          </a:ln>
        </p:spPr>
      </p:sp>
      <p:sp>
        <p:nvSpPr>
          <p:cNvPr id="5" name="Text 2"/>
          <p:cNvSpPr txBox="1"/>
          <p:nvPr/>
        </p:nvSpPr>
        <p:spPr>
          <a:xfrm>
            <a:off x="749808" y="1527048"/>
            <a:ext cx="2304288" cy="868680"/>
          </a:xfrm>
          <a:prstGeom prst="rect">
            <a:avLst/>
          </a:prstGeom>
          <a:noFill/>
          <a:ln/>
        </p:spPr>
        <p:txBody>
          <a:bodyPr wrap="square" lIns="0" tIns="0" rIns="0" bIns="0" rtlCol="0" anchor="t"/>
          <a:lstStyle/>
          <a:p>
            <a:pPr marL="0" indent="0">
              <a:spcAft>
                <a:spcPts val="500"/>
              </a:spcAft>
              <a:buNone/>
            </a:pPr>
            <a:r>
              <a:rPr lang="en-US" sz="1800" b="1" dirty="0">
                <a:solidFill>
                  <a:srgbClr val="C2410C"/>
                </a:solidFill>
                <a:latin typeface="Calibri" pitchFamily="34" charset="0"/>
                <a:ea typeface="Calibri" pitchFamily="34" charset="-122"/>
                <a:cs typeface="Calibri" pitchFamily="34" charset="-120"/>
              </a:rPr>
              <a:t>0–3 h</a:t>
            </a:r>
            <a:endParaRPr lang="en-US" sz="1800" dirty="0"/>
          </a:p>
          <a:p>
            <a:pPr marL="0" indent="0">
              <a:spcAft>
                <a:spcPts val="500"/>
              </a:spcAft>
              <a:buNone/>
            </a:pPr>
            <a:r>
              <a:rPr lang="en-US" sz="1700" dirty="0">
                <a:solidFill>
                  <a:srgbClr val="10201C"/>
                </a:solidFill>
                <a:latin typeface="Calibri" pitchFamily="34" charset="0"/>
                <a:ea typeface="Calibri" pitchFamily="34" charset="-122"/>
                <a:cs typeface="Calibri" pitchFamily="34" charset="-120"/>
              </a:rPr>
              <a:t>Database schema, core entities</a:t>
            </a:r>
            <a:endParaRPr lang="en-US" sz="1800" dirty="0"/>
          </a:p>
        </p:txBody>
      </p:sp>
      <p:sp>
        <p:nvSpPr>
          <p:cNvPr id="6" name="Shape 3"/>
          <p:cNvSpPr/>
          <p:nvPr/>
        </p:nvSpPr>
        <p:spPr>
          <a:xfrm>
            <a:off x="3355848" y="1417320"/>
            <a:ext cx="2670048" cy="1051560"/>
          </a:xfrm>
          <a:prstGeom prst="roundRect">
            <a:avLst>
              <a:gd name="adj" fmla="val 12174"/>
            </a:avLst>
          </a:prstGeom>
          <a:solidFill>
            <a:srgbClr val="F3F8F4"/>
          </a:solidFill>
          <a:ln w="12700">
            <a:solidFill>
              <a:srgbClr val="F3F8F4"/>
            </a:solidFill>
            <a:prstDash val="solid"/>
          </a:ln>
        </p:spPr>
      </p:sp>
      <p:sp>
        <p:nvSpPr>
          <p:cNvPr id="7" name="Text 4"/>
          <p:cNvSpPr txBox="1"/>
          <p:nvPr/>
        </p:nvSpPr>
        <p:spPr>
          <a:xfrm>
            <a:off x="3557016" y="1527048"/>
            <a:ext cx="2304288" cy="868680"/>
          </a:xfrm>
          <a:prstGeom prst="rect">
            <a:avLst/>
          </a:prstGeom>
          <a:noFill/>
          <a:ln/>
        </p:spPr>
        <p:txBody>
          <a:bodyPr wrap="square" lIns="0" tIns="0" rIns="0" bIns="0" rtlCol="0" anchor="t"/>
          <a:lstStyle/>
          <a:p>
            <a:pPr marL="0" indent="0">
              <a:spcAft>
                <a:spcPts val="500"/>
              </a:spcAft>
              <a:buNone/>
            </a:pPr>
            <a:r>
              <a:rPr lang="en-US" sz="1800" b="1" dirty="0">
                <a:solidFill>
                  <a:srgbClr val="C2410C"/>
                </a:solidFill>
                <a:latin typeface="Calibri" pitchFamily="34" charset="0"/>
                <a:ea typeface="Calibri" pitchFamily="34" charset="-122"/>
                <a:cs typeface="Calibri" pitchFamily="34" charset="-120"/>
              </a:rPr>
              <a:t>3–6 h</a:t>
            </a:r>
            <a:endParaRPr lang="en-US" sz="1800" dirty="0"/>
          </a:p>
          <a:p>
            <a:pPr marL="0" indent="0">
              <a:spcAft>
                <a:spcPts val="500"/>
              </a:spcAft>
              <a:buNone/>
            </a:pPr>
            <a:r>
              <a:rPr lang="en-US" sz="1700" dirty="0">
                <a:solidFill>
                  <a:srgbClr val="10201C"/>
                </a:solidFill>
                <a:latin typeface="Calibri" pitchFamily="34" charset="0"/>
                <a:ea typeface="Calibri" pitchFamily="34" charset="-122"/>
                <a:cs typeface="Calibri" pitchFamily="34" charset="-120"/>
              </a:rPr>
              <a:t>Contractor and worker profiles</a:t>
            </a:r>
            <a:endParaRPr lang="en-US" sz="1800" dirty="0"/>
          </a:p>
        </p:txBody>
      </p:sp>
      <p:sp>
        <p:nvSpPr>
          <p:cNvPr id="8" name="Shape 5"/>
          <p:cNvSpPr/>
          <p:nvPr/>
        </p:nvSpPr>
        <p:spPr>
          <a:xfrm>
            <a:off x="6163056" y="1417320"/>
            <a:ext cx="2670048" cy="1051560"/>
          </a:xfrm>
          <a:prstGeom prst="roundRect">
            <a:avLst>
              <a:gd name="adj" fmla="val 12174"/>
            </a:avLst>
          </a:prstGeom>
          <a:solidFill>
            <a:srgbClr val="F3F8F4"/>
          </a:solidFill>
          <a:ln w="12700">
            <a:solidFill>
              <a:srgbClr val="F3F8F4"/>
            </a:solidFill>
            <a:prstDash val="solid"/>
          </a:ln>
        </p:spPr>
      </p:sp>
      <p:sp>
        <p:nvSpPr>
          <p:cNvPr id="9" name="Text 6"/>
          <p:cNvSpPr txBox="1"/>
          <p:nvPr/>
        </p:nvSpPr>
        <p:spPr>
          <a:xfrm>
            <a:off x="6364224" y="1527048"/>
            <a:ext cx="2304288" cy="868680"/>
          </a:xfrm>
          <a:prstGeom prst="rect">
            <a:avLst/>
          </a:prstGeom>
          <a:noFill/>
          <a:ln/>
        </p:spPr>
        <p:txBody>
          <a:bodyPr wrap="square" lIns="0" tIns="0" rIns="0" bIns="0" rtlCol="0" anchor="t"/>
          <a:lstStyle/>
          <a:p>
            <a:pPr marL="0" indent="0">
              <a:spcAft>
                <a:spcPts val="500"/>
              </a:spcAft>
              <a:buNone/>
            </a:pPr>
            <a:r>
              <a:rPr lang="en-US" sz="1800" b="1" dirty="0">
                <a:solidFill>
                  <a:srgbClr val="C2410C"/>
                </a:solidFill>
                <a:latin typeface="Calibri" pitchFamily="34" charset="0"/>
                <a:ea typeface="Calibri" pitchFamily="34" charset="-122"/>
                <a:cs typeface="Calibri" pitchFamily="34" charset="-120"/>
              </a:rPr>
              <a:t>6–10 h</a:t>
            </a:r>
            <a:endParaRPr lang="en-US" sz="1800" dirty="0"/>
          </a:p>
          <a:p>
            <a:pPr marL="0" indent="0">
              <a:spcAft>
                <a:spcPts val="500"/>
              </a:spcAft>
              <a:buNone/>
            </a:pPr>
            <a:r>
              <a:rPr lang="en-US" sz="1700" dirty="0">
                <a:solidFill>
                  <a:srgbClr val="10201C"/>
                </a:solidFill>
                <a:latin typeface="Calibri" pitchFamily="34" charset="0"/>
                <a:ea typeface="Calibri" pitchFamily="34" charset="-122"/>
                <a:cs typeface="Calibri" pitchFamily="34" charset="-120"/>
              </a:rPr>
              <a:t>Labour requirement creation</a:t>
            </a:r>
            <a:endParaRPr lang="en-US" sz="1800" dirty="0"/>
          </a:p>
        </p:txBody>
      </p:sp>
      <p:sp>
        <p:nvSpPr>
          <p:cNvPr id="10" name="Shape 7"/>
          <p:cNvSpPr/>
          <p:nvPr/>
        </p:nvSpPr>
        <p:spPr>
          <a:xfrm>
            <a:off x="8970264" y="1417320"/>
            <a:ext cx="2670048" cy="1051560"/>
          </a:xfrm>
          <a:prstGeom prst="roundRect">
            <a:avLst>
              <a:gd name="adj" fmla="val 12174"/>
            </a:avLst>
          </a:prstGeom>
          <a:solidFill>
            <a:srgbClr val="F3F8F4"/>
          </a:solidFill>
          <a:ln w="12700">
            <a:solidFill>
              <a:srgbClr val="F3F8F4"/>
            </a:solidFill>
            <a:prstDash val="solid"/>
          </a:ln>
        </p:spPr>
      </p:sp>
      <p:sp>
        <p:nvSpPr>
          <p:cNvPr id="11" name="Text 8"/>
          <p:cNvSpPr txBox="1"/>
          <p:nvPr/>
        </p:nvSpPr>
        <p:spPr>
          <a:xfrm>
            <a:off x="9171432" y="1527048"/>
            <a:ext cx="2304288" cy="868680"/>
          </a:xfrm>
          <a:prstGeom prst="rect">
            <a:avLst/>
          </a:prstGeom>
          <a:noFill/>
          <a:ln/>
        </p:spPr>
        <p:txBody>
          <a:bodyPr wrap="square" lIns="0" tIns="0" rIns="0" bIns="0" rtlCol="0" anchor="t"/>
          <a:lstStyle/>
          <a:p>
            <a:pPr marL="0" indent="0">
              <a:spcAft>
                <a:spcPts val="500"/>
              </a:spcAft>
              <a:buNone/>
            </a:pPr>
            <a:r>
              <a:rPr lang="en-US" sz="1800" b="1" dirty="0">
                <a:solidFill>
                  <a:srgbClr val="C2410C"/>
                </a:solidFill>
                <a:latin typeface="Calibri" pitchFamily="34" charset="0"/>
                <a:ea typeface="Calibri" pitchFamily="34" charset="-122"/>
                <a:cs typeface="Calibri" pitchFamily="34" charset="-120"/>
              </a:rPr>
              <a:t>10–14 h</a:t>
            </a:r>
            <a:endParaRPr lang="en-US" sz="1800" dirty="0"/>
          </a:p>
          <a:p>
            <a:pPr marL="0" indent="0">
              <a:spcAft>
                <a:spcPts val="500"/>
              </a:spcAft>
              <a:buNone/>
            </a:pPr>
            <a:r>
              <a:rPr lang="en-US" sz="1700" dirty="0">
                <a:solidFill>
                  <a:srgbClr val="10201C"/>
                </a:solidFill>
                <a:latin typeface="Calibri" pitchFamily="34" charset="0"/>
                <a:ea typeface="Calibri" pitchFamily="34" charset="-122"/>
                <a:cs typeface="Calibri" pitchFamily="34" charset="-120"/>
              </a:rPr>
              <a:t>Worker matching logic</a:t>
            </a:r>
            <a:endParaRPr lang="en-US" sz="1800" dirty="0"/>
          </a:p>
        </p:txBody>
      </p:sp>
      <p:sp>
        <p:nvSpPr>
          <p:cNvPr id="12" name="Shape 9"/>
          <p:cNvSpPr/>
          <p:nvPr/>
        </p:nvSpPr>
        <p:spPr>
          <a:xfrm>
            <a:off x="548640" y="2606040"/>
            <a:ext cx="2670048" cy="1051560"/>
          </a:xfrm>
          <a:prstGeom prst="roundRect">
            <a:avLst>
              <a:gd name="adj" fmla="val 12174"/>
            </a:avLst>
          </a:prstGeom>
          <a:solidFill>
            <a:srgbClr val="F3F8F4"/>
          </a:solidFill>
          <a:ln w="12700">
            <a:solidFill>
              <a:srgbClr val="F3F8F4"/>
            </a:solidFill>
            <a:prstDash val="solid"/>
          </a:ln>
        </p:spPr>
      </p:sp>
      <p:sp>
        <p:nvSpPr>
          <p:cNvPr id="13" name="Text 10"/>
          <p:cNvSpPr txBox="1"/>
          <p:nvPr/>
        </p:nvSpPr>
        <p:spPr>
          <a:xfrm>
            <a:off x="749808" y="2715768"/>
            <a:ext cx="2304288" cy="868680"/>
          </a:xfrm>
          <a:prstGeom prst="rect">
            <a:avLst/>
          </a:prstGeom>
          <a:noFill/>
          <a:ln/>
        </p:spPr>
        <p:txBody>
          <a:bodyPr wrap="square" lIns="0" tIns="0" rIns="0" bIns="0" rtlCol="0" anchor="t"/>
          <a:lstStyle/>
          <a:p>
            <a:pPr marL="0" indent="0">
              <a:spcAft>
                <a:spcPts val="500"/>
              </a:spcAft>
              <a:buNone/>
            </a:pPr>
            <a:r>
              <a:rPr lang="en-US" sz="1800" b="1" dirty="0">
                <a:solidFill>
                  <a:srgbClr val="C2410C"/>
                </a:solidFill>
                <a:latin typeface="Calibri" pitchFamily="34" charset="0"/>
                <a:ea typeface="Calibri" pitchFamily="34" charset="-122"/>
                <a:cs typeface="Calibri" pitchFamily="34" charset="-120"/>
              </a:rPr>
              <a:t>14–17 h</a:t>
            </a:r>
            <a:endParaRPr lang="en-US" sz="1800" dirty="0"/>
          </a:p>
          <a:p>
            <a:pPr marL="0" indent="0">
              <a:spcAft>
                <a:spcPts val="500"/>
              </a:spcAft>
              <a:buNone/>
            </a:pPr>
            <a:r>
              <a:rPr lang="en-US" sz="1700" dirty="0">
                <a:solidFill>
                  <a:srgbClr val="10201C"/>
                </a:solidFill>
                <a:latin typeface="Calibri" pitchFamily="34" charset="0"/>
                <a:ea typeface="Calibri" pitchFamily="34" charset="-122"/>
                <a:cs typeface="Calibri" pitchFamily="34" charset="-120"/>
              </a:rPr>
              <a:t>Offer and accept or reject</a:t>
            </a:r>
            <a:endParaRPr lang="en-US" sz="1800" dirty="0"/>
          </a:p>
        </p:txBody>
      </p:sp>
      <p:sp>
        <p:nvSpPr>
          <p:cNvPr id="14" name="Shape 11"/>
          <p:cNvSpPr/>
          <p:nvPr/>
        </p:nvSpPr>
        <p:spPr>
          <a:xfrm>
            <a:off x="3355848" y="2606040"/>
            <a:ext cx="2670048" cy="1051560"/>
          </a:xfrm>
          <a:prstGeom prst="roundRect">
            <a:avLst>
              <a:gd name="adj" fmla="val 12174"/>
            </a:avLst>
          </a:prstGeom>
          <a:solidFill>
            <a:srgbClr val="F3F8F4"/>
          </a:solidFill>
          <a:ln w="12700">
            <a:solidFill>
              <a:srgbClr val="F3F8F4"/>
            </a:solidFill>
            <a:prstDash val="solid"/>
          </a:ln>
        </p:spPr>
      </p:sp>
      <p:sp>
        <p:nvSpPr>
          <p:cNvPr id="15" name="Text 12"/>
          <p:cNvSpPr txBox="1"/>
          <p:nvPr/>
        </p:nvSpPr>
        <p:spPr>
          <a:xfrm>
            <a:off x="3557016" y="2715768"/>
            <a:ext cx="2304288" cy="868680"/>
          </a:xfrm>
          <a:prstGeom prst="rect">
            <a:avLst/>
          </a:prstGeom>
          <a:noFill/>
          <a:ln/>
        </p:spPr>
        <p:txBody>
          <a:bodyPr wrap="square" lIns="0" tIns="0" rIns="0" bIns="0" rtlCol="0" anchor="t"/>
          <a:lstStyle/>
          <a:p>
            <a:pPr marL="0" indent="0">
              <a:spcAft>
                <a:spcPts val="500"/>
              </a:spcAft>
              <a:buNone/>
            </a:pPr>
            <a:r>
              <a:rPr lang="en-US" sz="1800" b="1" dirty="0">
                <a:solidFill>
                  <a:srgbClr val="C2410C"/>
                </a:solidFill>
                <a:latin typeface="Calibri" pitchFamily="34" charset="0"/>
                <a:ea typeface="Calibri" pitchFamily="34" charset="-122"/>
                <a:cs typeface="Calibri" pitchFamily="34" charset="-120"/>
              </a:rPr>
              <a:t>17–20 h</a:t>
            </a:r>
            <a:endParaRPr lang="en-US" sz="1800" dirty="0"/>
          </a:p>
          <a:p>
            <a:pPr marL="0" indent="0">
              <a:spcAft>
                <a:spcPts val="500"/>
              </a:spcAft>
              <a:buNone/>
            </a:pPr>
            <a:r>
              <a:rPr lang="en-US" sz="1700" dirty="0">
                <a:solidFill>
                  <a:srgbClr val="10201C"/>
                </a:solidFill>
                <a:latin typeface="Calibri" pitchFamily="34" charset="0"/>
                <a:ea typeface="Calibri" pitchFamily="34" charset="-122"/>
                <a:cs typeface="Calibri" pitchFamily="34" charset="-120"/>
              </a:rPr>
              <a:t>Projects and assignments</a:t>
            </a:r>
            <a:endParaRPr lang="en-US" sz="1800" dirty="0"/>
          </a:p>
        </p:txBody>
      </p:sp>
      <p:sp>
        <p:nvSpPr>
          <p:cNvPr id="16" name="Shape 13"/>
          <p:cNvSpPr/>
          <p:nvPr/>
        </p:nvSpPr>
        <p:spPr>
          <a:xfrm>
            <a:off x="6163056" y="2606040"/>
            <a:ext cx="2670048" cy="1051560"/>
          </a:xfrm>
          <a:prstGeom prst="roundRect">
            <a:avLst>
              <a:gd name="adj" fmla="val 12174"/>
            </a:avLst>
          </a:prstGeom>
          <a:solidFill>
            <a:srgbClr val="F3F8F4"/>
          </a:solidFill>
          <a:ln w="12700">
            <a:solidFill>
              <a:srgbClr val="F3F8F4"/>
            </a:solidFill>
            <a:prstDash val="solid"/>
          </a:ln>
        </p:spPr>
      </p:sp>
      <p:sp>
        <p:nvSpPr>
          <p:cNvPr id="17" name="Text 14"/>
          <p:cNvSpPr txBox="1"/>
          <p:nvPr/>
        </p:nvSpPr>
        <p:spPr>
          <a:xfrm>
            <a:off x="6364224" y="2715768"/>
            <a:ext cx="2304288" cy="868680"/>
          </a:xfrm>
          <a:prstGeom prst="rect">
            <a:avLst/>
          </a:prstGeom>
          <a:noFill/>
          <a:ln/>
        </p:spPr>
        <p:txBody>
          <a:bodyPr wrap="square" lIns="0" tIns="0" rIns="0" bIns="0" rtlCol="0" anchor="t"/>
          <a:lstStyle/>
          <a:p>
            <a:pPr marL="0" indent="0">
              <a:spcAft>
                <a:spcPts val="500"/>
              </a:spcAft>
              <a:buNone/>
            </a:pPr>
            <a:r>
              <a:rPr lang="en-US" sz="1800" b="1" dirty="0">
                <a:solidFill>
                  <a:srgbClr val="C2410C"/>
                </a:solidFill>
                <a:latin typeface="Calibri" pitchFamily="34" charset="0"/>
                <a:ea typeface="Calibri" pitchFamily="34" charset="-122"/>
                <a:cs typeface="Calibri" pitchFamily="34" charset="-120"/>
              </a:rPr>
              <a:t>20–22 h</a:t>
            </a:r>
            <a:endParaRPr lang="en-US" sz="1800" dirty="0"/>
          </a:p>
          <a:p>
            <a:pPr marL="0" indent="0">
              <a:spcAft>
                <a:spcPts val="500"/>
              </a:spcAft>
              <a:buNone/>
            </a:pPr>
            <a:r>
              <a:rPr lang="en-US" sz="1700" dirty="0">
                <a:solidFill>
                  <a:srgbClr val="10201C"/>
                </a:solidFill>
                <a:latin typeface="Calibri" pitchFamily="34" charset="0"/>
                <a:ea typeface="Calibri" pitchFamily="34" charset="-122"/>
                <a:cs typeface="Calibri" pitchFamily="34" charset="-120"/>
              </a:rPr>
              <a:t>Dashboard and UI integration</a:t>
            </a:r>
            <a:endParaRPr lang="en-US" sz="1800" dirty="0"/>
          </a:p>
        </p:txBody>
      </p:sp>
      <p:sp>
        <p:nvSpPr>
          <p:cNvPr id="18" name="Shape 15"/>
          <p:cNvSpPr/>
          <p:nvPr/>
        </p:nvSpPr>
        <p:spPr>
          <a:xfrm>
            <a:off x="8970264" y="2606040"/>
            <a:ext cx="2670048" cy="1051560"/>
          </a:xfrm>
          <a:prstGeom prst="roundRect">
            <a:avLst>
              <a:gd name="adj" fmla="val 12174"/>
            </a:avLst>
          </a:prstGeom>
          <a:solidFill>
            <a:srgbClr val="F3F8F4"/>
          </a:solidFill>
          <a:ln w="12700">
            <a:solidFill>
              <a:srgbClr val="F3F8F4"/>
            </a:solidFill>
            <a:prstDash val="solid"/>
          </a:ln>
        </p:spPr>
      </p:sp>
      <p:sp>
        <p:nvSpPr>
          <p:cNvPr id="19" name="Text 16"/>
          <p:cNvSpPr txBox="1"/>
          <p:nvPr/>
        </p:nvSpPr>
        <p:spPr>
          <a:xfrm>
            <a:off x="9171432" y="2715768"/>
            <a:ext cx="2304288" cy="868680"/>
          </a:xfrm>
          <a:prstGeom prst="rect">
            <a:avLst/>
          </a:prstGeom>
          <a:noFill/>
          <a:ln/>
        </p:spPr>
        <p:txBody>
          <a:bodyPr wrap="square" lIns="0" tIns="0" rIns="0" bIns="0" rtlCol="0" anchor="t"/>
          <a:lstStyle/>
          <a:p>
            <a:pPr marL="0" indent="0">
              <a:spcAft>
                <a:spcPts val="500"/>
              </a:spcAft>
              <a:buNone/>
            </a:pPr>
            <a:r>
              <a:rPr lang="en-US" sz="1800" b="1" dirty="0">
                <a:solidFill>
                  <a:srgbClr val="C2410C"/>
                </a:solidFill>
                <a:latin typeface="Calibri" pitchFamily="34" charset="0"/>
                <a:ea typeface="Calibri" pitchFamily="34" charset="-122"/>
                <a:cs typeface="Calibri" pitchFamily="34" charset="-120"/>
              </a:rPr>
              <a:t>22–24 h</a:t>
            </a:r>
            <a:endParaRPr lang="en-US" sz="1800" dirty="0"/>
          </a:p>
          <a:p>
            <a:pPr marL="0" indent="0">
              <a:spcAft>
                <a:spcPts val="500"/>
              </a:spcAft>
              <a:buNone/>
            </a:pPr>
            <a:r>
              <a:rPr lang="en-US" sz="1700" dirty="0">
                <a:solidFill>
                  <a:srgbClr val="10201C"/>
                </a:solidFill>
                <a:latin typeface="Calibri" pitchFamily="34" charset="0"/>
                <a:ea typeface="Calibri" pitchFamily="34" charset="-122"/>
                <a:cs typeface="Calibri" pitchFamily="34" charset="-120"/>
              </a:rPr>
              <a:t>Testing and demo preparation</a:t>
            </a:r>
            <a:endParaRPr lang="en-US" sz="1800" dirty="0"/>
          </a:p>
        </p:txBody>
      </p:sp>
      <p:sp>
        <p:nvSpPr>
          <p:cNvPr id="20" name="Shape 17"/>
          <p:cNvSpPr/>
          <p:nvPr/>
        </p:nvSpPr>
        <p:spPr>
          <a:xfrm>
            <a:off x="548640" y="3840480"/>
            <a:ext cx="1371600" cy="384048"/>
          </a:xfrm>
          <a:prstGeom prst="roundRect">
            <a:avLst>
              <a:gd name="adj" fmla="val 50000"/>
            </a:avLst>
          </a:prstGeom>
          <a:solidFill>
            <a:srgbClr val="F97316"/>
          </a:solidFill>
          <a:ln w="12700">
            <a:solidFill>
              <a:srgbClr val="F97316"/>
            </a:solidFill>
            <a:prstDash val="solid"/>
          </a:ln>
        </p:spPr>
      </p:sp>
      <p:sp>
        <p:nvSpPr>
          <p:cNvPr id="21" name="Text 18"/>
          <p:cNvSpPr txBox="1"/>
          <p:nvPr/>
        </p:nvSpPr>
        <p:spPr>
          <a:xfrm>
            <a:off x="548640" y="3840480"/>
            <a:ext cx="1371600" cy="384048"/>
          </a:xfrm>
          <a:prstGeom prst="rect">
            <a:avLst/>
          </a:prstGeom>
          <a:noFill/>
          <a:ln/>
        </p:spPr>
        <p:txBody>
          <a:bodyPr wrap="square" lIns="0" tIns="0" rIns="0" bIns="0" rtlCol="0" anchor="ctr"/>
          <a:lstStyle/>
          <a:p>
            <a:pPr marL="0" indent="0" algn="ctr">
              <a:buNone/>
            </a:pPr>
            <a:r>
              <a:rPr lang="en-US" sz="1500" b="1" dirty="0">
                <a:solidFill>
                  <a:srgbClr val="10201C"/>
                </a:solidFill>
                <a:latin typeface="Calibri" pitchFamily="34" charset="0"/>
                <a:ea typeface="Calibri" pitchFamily="34" charset="-122"/>
                <a:cs typeface="Calibri" pitchFamily="34" charset="-120"/>
              </a:rPr>
              <a:t>MVP DEMO</a:t>
            </a:r>
            <a:endParaRPr lang="en-US" sz="1500" dirty="0"/>
          </a:p>
        </p:txBody>
      </p:sp>
      <p:sp>
        <p:nvSpPr>
          <p:cNvPr id="22" name="Shape 19"/>
          <p:cNvSpPr/>
          <p:nvPr/>
        </p:nvSpPr>
        <p:spPr>
          <a:xfrm>
            <a:off x="2057400" y="3840480"/>
            <a:ext cx="1975104" cy="384048"/>
          </a:xfrm>
          <a:prstGeom prst="roundRect">
            <a:avLst>
              <a:gd name="adj" fmla="val 50000"/>
            </a:avLst>
          </a:prstGeom>
          <a:solidFill>
            <a:srgbClr val="E5ECFF"/>
          </a:solidFill>
          <a:ln w="12700">
            <a:solidFill>
              <a:srgbClr val="E5ECFF"/>
            </a:solidFill>
            <a:prstDash val="solid"/>
          </a:ln>
        </p:spPr>
      </p:sp>
      <p:sp>
        <p:nvSpPr>
          <p:cNvPr id="23" name="Text 20"/>
          <p:cNvSpPr txBox="1"/>
          <p:nvPr/>
        </p:nvSpPr>
        <p:spPr>
          <a:xfrm>
            <a:off x="2057400" y="3840480"/>
            <a:ext cx="1975104" cy="384048"/>
          </a:xfrm>
          <a:prstGeom prst="rect">
            <a:avLst/>
          </a:prstGeom>
          <a:noFill/>
          <a:ln/>
        </p:spPr>
        <p:txBody>
          <a:bodyPr wrap="square" lIns="0" tIns="0" rIns="0" bIns="0" rtlCol="0" anchor="ctr"/>
          <a:lstStyle/>
          <a:p>
            <a:pPr marL="0" indent="0" algn="ctr">
              <a:buNone/>
            </a:pPr>
            <a:r>
              <a:rPr lang="en-US" sz="1500" b="1" dirty="0">
                <a:solidFill>
                  <a:srgbClr val="1D4ED8"/>
                </a:solidFill>
                <a:latin typeface="Calibri" pitchFamily="34" charset="0"/>
                <a:ea typeface="Calibri" pitchFamily="34" charset="-122"/>
                <a:cs typeface="Calibri" pitchFamily="34" charset="-120"/>
              </a:rPr>
              <a:t>Create requirement</a:t>
            </a:r>
            <a:endParaRPr lang="en-US" sz="1500" dirty="0"/>
          </a:p>
        </p:txBody>
      </p:sp>
      <p:sp>
        <p:nvSpPr>
          <p:cNvPr id="24" name="Text 21"/>
          <p:cNvSpPr txBox="1"/>
          <p:nvPr/>
        </p:nvSpPr>
        <p:spPr>
          <a:xfrm>
            <a:off x="4032504" y="3794760"/>
            <a:ext cx="274320" cy="475488"/>
          </a:xfrm>
          <a:prstGeom prst="rect">
            <a:avLst/>
          </a:prstGeom>
          <a:noFill/>
          <a:ln/>
        </p:spPr>
        <p:txBody>
          <a:bodyPr wrap="square" lIns="0" tIns="0" rIns="0" bIns="0" rtlCol="0" anchor="ctr"/>
          <a:lstStyle/>
          <a:p>
            <a:pPr marL="0" indent="0" algn="ctr">
              <a:buNone/>
            </a:pPr>
            <a:r>
              <a:rPr lang="en-US" sz="1800" b="1" dirty="0">
                <a:solidFill>
                  <a:srgbClr val="17795A"/>
                </a:solidFill>
                <a:latin typeface="Calibri" pitchFamily="34" charset="0"/>
                <a:ea typeface="Calibri" pitchFamily="34" charset="-122"/>
                <a:cs typeface="Calibri" pitchFamily="34" charset="-120"/>
              </a:rPr>
              <a:t>→</a:t>
            </a:r>
            <a:endParaRPr lang="en-US" sz="1800" dirty="0"/>
          </a:p>
        </p:txBody>
      </p:sp>
      <p:sp>
        <p:nvSpPr>
          <p:cNvPr id="25" name="Shape 22"/>
          <p:cNvSpPr/>
          <p:nvPr/>
        </p:nvSpPr>
        <p:spPr>
          <a:xfrm>
            <a:off x="4306824" y="3840480"/>
            <a:ext cx="1540764" cy="384048"/>
          </a:xfrm>
          <a:prstGeom prst="roundRect">
            <a:avLst>
              <a:gd name="adj" fmla="val 50000"/>
            </a:avLst>
          </a:prstGeom>
          <a:solidFill>
            <a:srgbClr val="E5ECFF"/>
          </a:solidFill>
          <a:ln w="12700">
            <a:solidFill>
              <a:srgbClr val="E5ECFF"/>
            </a:solidFill>
            <a:prstDash val="solid"/>
          </a:ln>
        </p:spPr>
      </p:sp>
      <p:sp>
        <p:nvSpPr>
          <p:cNvPr id="26" name="Text 23"/>
          <p:cNvSpPr txBox="1"/>
          <p:nvPr/>
        </p:nvSpPr>
        <p:spPr>
          <a:xfrm>
            <a:off x="4306824" y="3840480"/>
            <a:ext cx="1540764" cy="384048"/>
          </a:xfrm>
          <a:prstGeom prst="rect">
            <a:avLst/>
          </a:prstGeom>
          <a:noFill/>
          <a:ln/>
        </p:spPr>
        <p:txBody>
          <a:bodyPr wrap="square" lIns="0" tIns="0" rIns="0" bIns="0" rtlCol="0" anchor="ctr"/>
          <a:lstStyle/>
          <a:p>
            <a:pPr marL="0" indent="0" algn="ctr">
              <a:buNone/>
            </a:pPr>
            <a:r>
              <a:rPr lang="en-US" sz="1500" b="1" dirty="0">
                <a:solidFill>
                  <a:srgbClr val="1D4ED8"/>
                </a:solidFill>
                <a:latin typeface="Calibri" pitchFamily="34" charset="0"/>
                <a:ea typeface="Calibri" pitchFamily="34" charset="-122"/>
                <a:cs typeface="Calibri" pitchFamily="34" charset="-120"/>
              </a:rPr>
              <a:t>Match workers</a:t>
            </a:r>
            <a:endParaRPr lang="en-US" sz="1500" dirty="0"/>
          </a:p>
        </p:txBody>
      </p:sp>
      <p:sp>
        <p:nvSpPr>
          <p:cNvPr id="27" name="Text 24"/>
          <p:cNvSpPr txBox="1"/>
          <p:nvPr/>
        </p:nvSpPr>
        <p:spPr>
          <a:xfrm>
            <a:off x="5847588" y="3794760"/>
            <a:ext cx="274320" cy="475488"/>
          </a:xfrm>
          <a:prstGeom prst="rect">
            <a:avLst/>
          </a:prstGeom>
          <a:noFill/>
          <a:ln/>
        </p:spPr>
        <p:txBody>
          <a:bodyPr wrap="square" lIns="0" tIns="0" rIns="0" bIns="0" rtlCol="0" anchor="ctr"/>
          <a:lstStyle/>
          <a:p>
            <a:pPr marL="0" indent="0" algn="ctr">
              <a:buNone/>
            </a:pPr>
            <a:r>
              <a:rPr lang="en-US" sz="1800" b="1" dirty="0">
                <a:solidFill>
                  <a:srgbClr val="17795A"/>
                </a:solidFill>
                <a:latin typeface="Calibri" pitchFamily="34" charset="0"/>
                <a:ea typeface="Calibri" pitchFamily="34" charset="-122"/>
                <a:cs typeface="Calibri" pitchFamily="34" charset="-120"/>
              </a:rPr>
              <a:t>→</a:t>
            </a:r>
            <a:endParaRPr lang="en-US" sz="1800" dirty="0"/>
          </a:p>
        </p:txBody>
      </p:sp>
      <p:sp>
        <p:nvSpPr>
          <p:cNvPr id="28" name="Shape 25"/>
          <p:cNvSpPr/>
          <p:nvPr/>
        </p:nvSpPr>
        <p:spPr>
          <a:xfrm>
            <a:off x="6121908" y="3840480"/>
            <a:ext cx="1280160" cy="384048"/>
          </a:xfrm>
          <a:prstGeom prst="roundRect">
            <a:avLst>
              <a:gd name="adj" fmla="val 50000"/>
            </a:avLst>
          </a:prstGeom>
          <a:solidFill>
            <a:srgbClr val="E5ECFF"/>
          </a:solidFill>
          <a:ln w="12700">
            <a:solidFill>
              <a:srgbClr val="E5ECFF"/>
            </a:solidFill>
            <a:prstDash val="solid"/>
          </a:ln>
        </p:spPr>
      </p:sp>
      <p:sp>
        <p:nvSpPr>
          <p:cNvPr id="29" name="Text 26"/>
          <p:cNvSpPr txBox="1"/>
          <p:nvPr/>
        </p:nvSpPr>
        <p:spPr>
          <a:xfrm>
            <a:off x="6121908" y="3840480"/>
            <a:ext cx="1280160" cy="384048"/>
          </a:xfrm>
          <a:prstGeom prst="rect">
            <a:avLst/>
          </a:prstGeom>
          <a:noFill/>
          <a:ln/>
        </p:spPr>
        <p:txBody>
          <a:bodyPr wrap="square" lIns="0" tIns="0" rIns="0" bIns="0" rtlCol="0" anchor="ctr"/>
          <a:lstStyle/>
          <a:p>
            <a:pPr marL="0" indent="0" algn="ctr">
              <a:buNone/>
            </a:pPr>
            <a:r>
              <a:rPr lang="en-US" sz="1500" b="1" dirty="0">
                <a:solidFill>
                  <a:srgbClr val="1D4ED8"/>
                </a:solidFill>
                <a:latin typeface="Calibri" pitchFamily="34" charset="0"/>
                <a:ea typeface="Calibri" pitchFamily="34" charset="-122"/>
                <a:cs typeface="Calibri" pitchFamily="34" charset="-120"/>
              </a:rPr>
              <a:t>Send offer</a:t>
            </a:r>
            <a:endParaRPr lang="en-US" sz="1500" dirty="0"/>
          </a:p>
        </p:txBody>
      </p:sp>
      <p:sp>
        <p:nvSpPr>
          <p:cNvPr id="30" name="Text 27"/>
          <p:cNvSpPr txBox="1"/>
          <p:nvPr/>
        </p:nvSpPr>
        <p:spPr>
          <a:xfrm>
            <a:off x="7402068" y="3794760"/>
            <a:ext cx="274320" cy="475488"/>
          </a:xfrm>
          <a:prstGeom prst="rect">
            <a:avLst/>
          </a:prstGeom>
          <a:noFill/>
          <a:ln/>
        </p:spPr>
        <p:txBody>
          <a:bodyPr wrap="square" lIns="0" tIns="0" rIns="0" bIns="0" rtlCol="0" anchor="ctr"/>
          <a:lstStyle/>
          <a:p>
            <a:pPr marL="0" indent="0" algn="ctr">
              <a:buNone/>
            </a:pPr>
            <a:r>
              <a:rPr lang="en-US" sz="1800" b="1" dirty="0">
                <a:solidFill>
                  <a:srgbClr val="17795A"/>
                </a:solidFill>
                <a:latin typeface="Calibri" pitchFamily="34" charset="0"/>
                <a:ea typeface="Calibri" pitchFamily="34" charset="-122"/>
                <a:cs typeface="Calibri" pitchFamily="34" charset="-120"/>
              </a:rPr>
              <a:t>→</a:t>
            </a:r>
            <a:endParaRPr lang="en-US" sz="1800" dirty="0"/>
          </a:p>
        </p:txBody>
      </p:sp>
      <p:sp>
        <p:nvSpPr>
          <p:cNvPr id="31" name="Shape 28"/>
          <p:cNvSpPr/>
          <p:nvPr/>
        </p:nvSpPr>
        <p:spPr>
          <a:xfrm>
            <a:off x="7676388" y="3840480"/>
            <a:ext cx="932688" cy="384048"/>
          </a:xfrm>
          <a:prstGeom prst="roundRect">
            <a:avLst>
              <a:gd name="adj" fmla="val 50000"/>
            </a:avLst>
          </a:prstGeom>
          <a:solidFill>
            <a:srgbClr val="E5ECFF"/>
          </a:solidFill>
          <a:ln w="12700">
            <a:solidFill>
              <a:srgbClr val="E5ECFF"/>
            </a:solidFill>
            <a:prstDash val="solid"/>
          </a:ln>
        </p:spPr>
      </p:sp>
      <p:sp>
        <p:nvSpPr>
          <p:cNvPr id="32" name="Text 29"/>
          <p:cNvSpPr txBox="1"/>
          <p:nvPr/>
        </p:nvSpPr>
        <p:spPr>
          <a:xfrm>
            <a:off x="7676388" y="3840480"/>
            <a:ext cx="932688" cy="384048"/>
          </a:xfrm>
          <a:prstGeom prst="rect">
            <a:avLst/>
          </a:prstGeom>
          <a:noFill/>
          <a:ln/>
        </p:spPr>
        <p:txBody>
          <a:bodyPr wrap="square" lIns="0" tIns="0" rIns="0" bIns="0" rtlCol="0" anchor="ctr"/>
          <a:lstStyle/>
          <a:p>
            <a:pPr marL="0" indent="0" algn="ctr">
              <a:buNone/>
            </a:pPr>
            <a:r>
              <a:rPr lang="en-US" sz="1500" b="1" dirty="0">
                <a:solidFill>
                  <a:srgbClr val="1D4ED8"/>
                </a:solidFill>
                <a:latin typeface="Calibri" pitchFamily="34" charset="0"/>
                <a:ea typeface="Calibri" pitchFamily="34" charset="-122"/>
                <a:cs typeface="Calibri" pitchFamily="34" charset="-120"/>
              </a:rPr>
              <a:t>Accept</a:t>
            </a:r>
            <a:endParaRPr lang="en-US" sz="1500" dirty="0"/>
          </a:p>
        </p:txBody>
      </p:sp>
      <p:sp>
        <p:nvSpPr>
          <p:cNvPr id="33" name="Text 30"/>
          <p:cNvSpPr txBox="1"/>
          <p:nvPr/>
        </p:nvSpPr>
        <p:spPr>
          <a:xfrm>
            <a:off x="8609076" y="3794760"/>
            <a:ext cx="274320" cy="475488"/>
          </a:xfrm>
          <a:prstGeom prst="rect">
            <a:avLst/>
          </a:prstGeom>
          <a:noFill/>
          <a:ln/>
        </p:spPr>
        <p:txBody>
          <a:bodyPr wrap="square" lIns="0" tIns="0" rIns="0" bIns="0" rtlCol="0" anchor="ctr"/>
          <a:lstStyle/>
          <a:p>
            <a:pPr marL="0" indent="0" algn="ctr">
              <a:buNone/>
            </a:pPr>
            <a:r>
              <a:rPr lang="en-US" sz="1800" b="1" dirty="0">
                <a:solidFill>
                  <a:srgbClr val="17795A"/>
                </a:solidFill>
                <a:latin typeface="Calibri" pitchFamily="34" charset="0"/>
                <a:ea typeface="Calibri" pitchFamily="34" charset="-122"/>
                <a:cs typeface="Calibri" pitchFamily="34" charset="-120"/>
              </a:rPr>
              <a:t>→</a:t>
            </a:r>
            <a:endParaRPr lang="en-US" sz="1800" dirty="0"/>
          </a:p>
        </p:txBody>
      </p:sp>
      <p:sp>
        <p:nvSpPr>
          <p:cNvPr id="34" name="Shape 31"/>
          <p:cNvSpPr/>
          <p:nvPr/>
        </p:nvSpPr>
        <p:spPr>
          <a:xfrm>
            <a:off x="8883396" y="3840480"/>
            <a:ext cx="932688" cy="384048"/>
          </a:xfrm>
          <a:prstGeom prst="roundRect">
            <a:avLst>
              <a:gd name="adj" fmla="val 50000"/>
            </a:avLst>
          </a:prstGeom>
          <a:solidFill>
            <a:srgbClr val="E5ECFF"/>
          </a:solidFill>
          <a:ln w="12700">
            <a:solidFill>
              <a:srgbClr val="E5ECFF"/>
            </a:solidFill>
            <a:prstDash val="solid"/>
          </a:ln>
        </p:spPr>
      </p:sp>
      <p:sp>
        <p:nvSpPr>
          <p:cNvPr id="35" name="Text 32"/>
          <p:cNvSpPr txBox="1"/>
          <p:nvPr/>
        </p:nvSpPr>
        <p:spPr>
          <a:xfrm>
            <a:off x="8883396" y="3840480"/>
            <a:ext cx="932688" cy="384048"/>
          </a:xfrm>
          <a:prstGeom prst="rect">
            <a:avLst/>
          </a:prstGeom>
          <a:noFill/>
          <a:ln/>
        </p:spPr>
        <p:txBody>
          <a:bodyPr wrap="square" lIns="0" tIns="0" rIns="0" bIns="0" rtlCol="0" anchor="ctr"/>
          <a:lstStyle/>
          <a:p>
            <a:pPr marL="0" indent="0" algn="ctr">
              <a:buNone/>
            </a:pPr>
            <a:r>
              <a:rPr lang="en-US" sz="1500" b="1" dirty="0">
                <a:solidFill>
                  <a:srgbClr val="1D4ED8"/>
                </a:solidFill>
                <a:latin typeface="Calibri" pitchFamily="34" charset="0"/>
                <a:ea typeface="Calibri" pitchFamily="34" charset="-122"/>
                <a:cs typeface="Calibri" pitchFamily="34" charset="-120"/>
              </a:rPr>
              <a:t>Assign</a:t>
            </a:r>
            <a:endParaRPr lang="en-US" sz="1500" dirty="0"/>
          </a:p>
        </p:txBody>
      </p:sp>
      <p:sp>
        <p:nvSpPr>
          <p:cNvPr id="36" name="Text 33"/>
          <p:cNvSpPr txBox="1"/>
          <p:nvPr/>
        </p:nvSpPr>
        <p:spPr>
          <a:xfrm>
            <a:off x="9816084" y="3794760"/>
            <a:ext cx="274320" cy="475488"/>
          </a:xfrm>
          <a:prstGeom prst="rect">
            <a:avLst/>
          </a:prstGeom>
          <a:noFill/>
          <a:ln/>
        </p:spPr>
        <p:txBody>
          <a:bodyPr wrap="square" lIns="0" tIns="0" rIns="0" bIns="0" rtlCol="0" anchor="ctr"/>
          <a:lstStyle/>
          <a:p>
            <a:pPr marL="0" indent="0" algn="ctr">
              <a:buNone/>
            </a:pPr>
            <a:r>
              <a:rPr lang="en-US" sz="1800" b="1" dirty="0">
                <a:solidFill>
                  <a:srgbClr val="17795A"/>
                </a:solidFill>
                <a:latin typeface="Calibri" pitchFamily="34" charset="0"/>
                <a:ea typeface="Calibri" pitchFamily="34" charset="-122"/>
                <a:cs typeface="Calibri" pitchFamily="34" charset="-120"/>
              </a:rPr>
              <a:t>→</a:t>
            </a:r>
            <a:endParaRPr lang="en-US" sz="1800" dirty="0"/>
          </a:p>
        </p:txBody>
      </p:sp>
      <p:sp>
        <p:nvSpPr>
          <p:cNvPr id="37" name="Shape 34"/>
          <p:cNvSpPr/>
          <p:nvPr/>
        </p:nvSpPr>
        <p:spPr>
          <a:xfrm>
            <a:off x="10090404" y="3840480"/>
            <a:ext cx="932688" cy="384048"/>
          </a:xfrm>
          <a:prstGeom prst="roundRect">
            <a:avLst>
              <a:gd name="adj" fmla="val 50000"/>
            </a:avLst>
          </a:prstGeom>
          <a:solidFill>
            <a:srgbClr val="E5ECFF"/>
          </a:solidFill>
          <a:ln w="12700">
            <a:solidFill>
              <a:srgbClr val="E5ECFF"/>
            </a:solidFill>
            <a:prstDash val="solid"/>
          </a:ln>
        </p:spPr>
      </p:sp>
      <p:sp>
        <p:nvSpPr>
          <p:cNvPr id="38" name="Text 35"/>
          <p:cNvSpPr txBox="1"/>
          <p:nvPr/>
        </p:nvSpPr>
        <p:spPr>
          <a:xfrm>
            <a:off x="10090404" y="3840480"/>
            <a:ext cx="932688" cy="384048"/>
          </a:xfrm>
          <a:prstGeom prst="rect">
            <a:avLst/>
          </a:prstGeom>
          <a:noFill/>
          <a:ln/>
        </p:spPr>
        <p:txBody>
          <a:bodyPr wrap="square" lIns="0" tIns="0" rIns="0" bIns="0" rtlCol="0" anchor="ctr"/>
          <a:lstStyle/>
          <a:p>
            <a:pPr marL="0" indent="0" algn="ctr">
              <a:buNone/>
            </a:pPr>
            <a:r>
              <a:rPr lang="en-US" sz="1500" b="1" dirty="0">
                <a:solidFill>
                  <a:srgbClr val="1D4ED8"/>
                </a:solidFill>
                <a:latin typeface="Calibri" pitchFamily="34" charset="0"/>
                <a:ea typeface="Calibri" pitchFamily="34" charset="-122"/>
                <a:cs typeface="Calibri" pitchFamily="34" charset="-120"/>
              </a:rPr>
              <a:t>Manage</a:t>
            </a:r>
            <a:endParaRPr lang="en-US" sz="1500" dirty="0"/>
          </a:p>
        </p:txBody>
      </p:sp>
      <p:sp>
        <p:nvSpPr>
          <p:cNvPr id="39" name="Shape 36"/>
          <p:cNvSpPr/>
          <p:nvPr/>
        </p:nvSpPr>
        <p:spPr>
          <a:xfrm>
            <a:off x="548640" y="4480560"/>
            <a:ext cx="2072030" cy="1691640"/>
          </a:xfrm>
          <a:prstGeom prst="roundRect">
            <a:avLst>
              <a:gd name="adj" fmla="val 8649"/>
            </a:avLst>
          </a:prstGeom>
          <a:solidFill>
            <a:srgbClr val="E2F3EA"/>
          </a:solidFill>
          <a:ln w="12700">
            <a:solidFill>
              <a:srgbClr val="E2F3EA"/>
            </a:solidFill>
            <a:prstDash val="solid"/>
          </a:ln>
        </p:spPr>
      </p:sp>
      <p:sp>
        <p:nvSpPr>
          <p:cNvPr id="40" name="Text 37"/>
          <p:cNvSpPr txBox="1"/>
          <p:nvPr/>
        </p:nvSpPr>
        <p:spPr>
          <a:xfrm>
            <a:off x="731520" y="4617720"/>
            <a:ext cx="1706270" cy="1554480"/>
          </a:xfrm>
          <a:prstGeom prst="rect">
            <a:avLst/>
          </a:prstGeom>
          <a:noFill/>
          <a:ln/>
        </p:spPr>
        <p:txBody>
          <a:bodyPr wrap="square" lIns="0" tIns="0" rIns="0" bIns="0" rtlCol="0" anchor="t"/>
          <a:lstStyle/>
          <a:p>
            <a:pPr marL="0" indent="0">
              <a:spcAft>
                <a:spcPts val="500"/>
              </a:spcAft>
              <a:buNone/>
            </a:pPr>
            <a:r>
              <a:rPr lang="en-US" sz="1800" b="1" dirty="0">
                <a:solidFill>
                  <a:srgbClr val="17795A"/>
                </a:solidFill>
                <a:latin typeface="Calibri" pitchFamily="34" charset="0"/>
                <a:ea typeface="Calibri" pitchFamily="34" charset="-122"/>
                <a:cs typeface="Calibri" pitchFamily="34" charset="-120"/>
              </a:rPr>
              <a:t>Scattered worker data</a:t>
            </a:r>
            <a:endParaRPr lang="en-US" sz="1800" dirty="0"/>
          </a:p>
          <a:p>
            <a:pPr marL="0" indent="0">
              <a:spcAft>
                <a:spcPts val="500"/>
              </a:spcAft>
              <a:buNone/>
            </a:pPr>
            <a:r>
              <a:rPr lang="en-US" sz="1700" dirty="0">
                <a:solidFill>
                  <a:srgbClr val="1B3A33"/>
                </a:solidFill>
                <a:latin typeface="Calibri" pitchFamily="34" charset="0"/>
                <a:ea typeface="Calibri" pitchFamily="34" charset="-122"/>
                <a:cs typeface="Calibri" pitchFamily="34" charset="-120"/>
              </a:rPr>
              <a:t>Central structured database</a:t>
            </a:r>
            <a:endParaRPr lang="en-US" sz="1800" dirty="0"/>
          </a:p>
        </p:txBody>
      </p:sp>
      <p:sp>
        <p:nvSpPr>
          <p:cNvPr id="41" name="Shape 38"/>
          <p:cNvSpPr/>
          <p:nvPr/>
        </p:nvSpPr>
        <p:spPr>
          <a:xfrm>
            <a:off x="2803550" y="4480560"/>
            <a:ext cx="2072030" cy="1691640"/>
          </a:xfrm>
          <a:prstGeom prst="roundRect">
            <a:avLst>
              <a:gd name="adj" fmla="val 8649"/>
            </a:avLst>
          </a:prstGeom>
          <a:solidFill>
            <a:srgbClr val="E2F3EA"/>
          </a:solidFill>
          <a:ln w="12700">
            <a:solidFill>
              <a:srgbClr val="E2F3EA"/>
            </a:solidFill>
            <a:prstDash val="solid"/>
          </a:ln>
        </p:spPr>
      </p:sp>
      <p:sp>
        <p:nvSpPr>
          <p:cNvPr id="42" name="Text 39"/>
          <p:cNvSpPr txBox="1"/>
          <p:nvPr/>
        </p:nvSpPr>
        <p:spPr>
          <a:xfrm>
            <a:off x="2986430" y="4617720"/>
            <a:ext cx="1706270" cy="1554480"/>
          </a:xfrm>
          <a:prstGeom prst="rect">
            <a:avLst/>
          </a:prstGeom>
          <a:noFill/>
          <a:ln/>
        </p:spPr>
        <p:txBody>
          <a:bodyPr wrap="square" lIns="0" tIns="0" rIns="0" bIns="0" rtlCol="0" anchor="t"/>
          <a:lstStyle/>
          <a:p>
            <a:pPr marL="0" indent="0">
              <a:spcAft>
                <a:spcPts val="500"/>
              </a:spcAft>
              <a:buNone/>
            </a:pPr>
            <a:r>
              <a:rPr lang="en-US" sz="1800" b="1" dirty="0">
                <a:solidFill>
                  <a:srgbClr val="17795A"/>
                </a:solidFill>
                <a:latin typeface="Calibri" pitchFamily="34" charset="0"/>
                <a:ea typeface="Calibri" pitchFamily="34" charset="-122"/>
                <a:cs typeface="Calibri" pitchFamily="34" charset="-120"/>
              </a:rPr>
              <a:t>Different devices</a:t>
            </a:r>
            <a:endParaRPr lang="en-US" sz="1800" dirty="0"/>
          </a:p>
          <a:p>
            <a:pPr marL="0" indent="0">
              <a:spcAft>
                <a:spcPts val="500"/>
              </a:spcAft>
              <a:buNone/>
            </a:pPr>
            <a:r>
              <a:rPr lang="en-US" sz="1700" dirty="0">
                <a:solidFill>
                  <a:srgbClr val="1B3A33"/>
                </a:solidFill>
                <a:latin typeface="Calibri" pitchFamily="34" charset="0"/>
                <a:ea typeface="Calibri" pitchFamily="34" charset="-122"/>
                <a:cs typeface="Calibri" pitchFamily="34" charset="-120"/>
              </a:rPr>
              <a:t>Smartphone, SMS and IVR</a:t>
            </a:r>
            <a:endParaRPr lang="en-US" sz="1800" dirty="0"/>
          </a:p>
        </p:txBody>
      </p:sp>
      <p:sp>
        <p:nvSpPr>
          <p:cNvPr id="43" name="Shape 40"/>
          <p:cNvSpPr/>
          <p:nvPr/>
        </p:nvSpPr>
        <p:spPr>
          <a:xfrm>
            <a:off x="5058461" y="4480560"/>
            <a:ext cx="2072030" cy="1691640"/>
          </a:xfrm>
          <a:prstGeom prst="roundRect">
            <a:avLst>
              <a:gd name="adj" fmla="val 8649"/>
            </a:avLst>
          </a:prstGeom>
          <a:solidFill>
            <a:srgbClr val="E2F3EA"/>
          </a:solidFill>
          <a:ln w="12700">
            <a:solidFill>
              <a:srgbClr val="E2F3EA"/>
            </a:solidFill>
            <a:prstDash val="solid"/>
          </a:ln>
        </p:spPr>
      </p:sp>
      <p:sp>
        <p:nvSpPr>
          <p:cNvPr id="44" name="Text 41"/>
          <p:cNvSpPr txBox="1"/>
          <p:nvPr/>
        </p:nvSpPr>
        <p:spPr>
          <a:xfrm>
            <a:off x="5241341" y="4617720"/>
            <a:ext cx="1706270" cy="1554480"/>
          </a:xfrm>
          <a:prstGeom prst="rect">
            <a:avLst/>
          </a:prstGeom>
          <a:noFill/>
          <a:ln/>
        </p:spPr>
        <p:txBody>
          <a:bodyPr wrap="square" lIns="0" tIns="0" rIns="0" bIns="0" rtlCol="0" anchor="t"/>
          <a:lstStyle/>
          <a:p>
            <a:pPr marL="0" indent="0">
              <a:spcAft>
                <a:spcPts val="500"/>
              </a:spcAft>
              <a:buNone/>
            </a:pPr>
            <a:r>
              <a:rPr lang="en-US" sz="1800" b="1" dirty="0">
                <a:solidFill>
                  <a:srgbClr val="17795A"/>
                </a:solidFill>
                <a:latin typeface="Calibri" pitchFamily="34" charset="0"/>
                <a:ea typeface="Calibri" pitchFamily="34" charset="-122"/>
                <a:cs typeface="Calibri" pitchFamily="34" charset="-120"/>
              </a:rPr>
              <a:t>Many workers</a:t>
            </a:r>
            <a:endParaRPr lang="en-US" sz="1800" dirty="0"/>
          </a:p>
          <a:p>
            <a:pPr marL="0" indent="0">
              <a:spcAft>
                <a:spcPts val="500"/>
              </a:spcAft>
              <a:buNone/>
            </a:pPr>
            <a:r>
              <a:rPr lang="en-US" sz="1700" dirty="0">
                <a:solidFill>
                  <a:srgbClr val="1B3A33"/>
                </a:solidFill>
                <a:latin typeface="Calibri" pitchFamily="34" charset="0"/>
                <a:ea typeface="Calibri" pitchFamily="34" charset="-122"/>
                <a:cs typeface="Calibri" pitchFamily="34" charset="-120"/>
              </a:rPr>
              <a:t>Database-driven filtering</a:t>
            </a:r>
            <a:endParaRPr lang="en-US" sz="1800" dirty="0"/>
          </a:p>
        </p:txBody>
      </p:sp>
      <p:sp>
        <p:nvSpPr>
          <p:cNvPr id="45" name="Shape 42"/>
          <p:cNvSpPr/>
          <p:nvPr/>
        </p:nvSpPr>
        <p:spPr>
          <a:xfrm>
            <a:off x="7313371" y="4480560"/>
            <a:ext cx="2072030" cy="1691640"/>
          </a:xfrm>
          <a:prstGeom prst="roundRect">
            <a:avLst>
              <a:gd name="adj" fmla="val 8649"/>
            </a:avLst>
          </a:prstGeom>
          <a:solidFill>
            <a:srgbClr val="E2F3EA"/>
          </a:solidFill>
          <a:ln w="12700">
            <a:solidFill>
              <a:srgbClr val="E2F3EA"/>
            </a:solidFill>
            <a:prstDash val="solid"/>
          </a:ln>
        </p:spPr>
      </p:sp>
      <p:sp>
        <p:nvSpPr>
          <p:cNvPr id="46" name="Text 43"/>
          <p:cNvSpPr txBox="1"/>
          <p:nvPr/>
        </p:nvSpPr>
        <p:spPr>
          <a:xfrm>
            <a:off x="7496251" y="4617720"/>
            <a:ext cx="1706270" cy="1554480"/>
          </a:xfrm>
          <a:prstGeom prst="rect">
            <a:avLst/>
          </a:prstGeom>
          <a:noFill/>
          <a:ln/>
        </p:spPr>
        <p:txBody>
          <a:bodyPr wrap="square" lIns="0" tIns="0" rIns="0" bIns="0" rtlCol="0" anchor="t"/>
          <a:lstStyle/>
          <a:p>
            <a:pPr marL="0" indent="0">
              <a:spcAft>
                <a:spcPts val="500"/>
              </a:spcAft>
              <a:buNone/>
            </a:pPr>
            <a:r>
              <a:rPr lang="en-US" sz="1800" b="1" dirty="0">
                <a:solidFill>
                  <a:srgbClr val="17795A"/>
                </a:solidFill>
                <a:latin typeface="Calibri" pitchFamily="34" charset="0"/>
                <a:ea typeface="Calibri" pitchFamily="34" charset="-122"/>
                <a:cs typeface="Calibri" pitchFamily="34" charset="-120"/>
              </a:rPr>
              <a:t>Location matching</a:t>
            </a:r>
            <a:endParaRPr lang="en-US" sz="1800" dirty="0"/>
          </a:p>
          <a:p>
            <a:pPr marL="0" indent="0">
              <a:spcAft>
                <a:spcPts val="500"/>
              </a:spcAft>
              <a:buNone/>
            </a:pPr>
            <a:r>
              <a:rPr lang="en-US" sz="1700" dirty="0">
                <a:solidFill>
                  <a:srgbClr val="1B3A33"/>
                </a:solidFill>
                <a:latin typeface="Calibri" pitchFamily="34" charset="0"/>
                <a:ea typeface="Calibri" pitchFamily="34" charset="-122"/>
                <a:cs typeface="Calibri" pitchFamily="34" charset="-120"/>
              </a:rPr>
              <a:t>PostGIS-ready data layer</a:t>
            </a:r>
            <a:endParaRPr lang="en-US" sz="1800" dirty="0"/>
          </a:p>
        </p:txBody>
      </p:sp>
      <p:sp>
        <p:nvSpPr>
          <p:cNvPr id="47" name="Shape 44"/>
          <p:cNvSpPr/>
          <p:nvPr/>
        </p:nvSpPr>
        <p:spPr>
          <a:xfrm>
            <a:off x="9568282" y="4480560"/>
            <a:ext cx="2072030" cy="1691640"/>
          </a:xfrm>
          <a:prstGeom prst="roundRect">
            <a:avLst>
              <a:gd name="adj" fmla="val 8649"/>
            </a:avLst>
          </a:prstGeom>
          <a:solidFill>
            <a:srgbClr val="E2F3EA"/>
          </a:solidFill>
          <a:ln w="12700">
            <a:solidFill>
              <a:srgbClr val="E2F3EA"/>
            </a:solidFill>
            <a:prstDash val="solid"/>
          </a:ln>
        </p:spPr>
      </p:sp>
      <p:sp>
        <p:nvSpPr>
          <p:cNvPr id="48" name="Text 45"/>
          <p:cNvSpPr txBox="1"/>
          <p:nvPr/>
        </p:nvSpPr>
        <p:spPr>
          <a:xfrm>
            <a:off x="9751162" y="4617720"/>
            <a:ext cx="1706270" cy="1554480"/>
          </a:xfrm>
          <a:prstGeom prst="rect">
            <a:avLst/>
          </a:prstGeom>
          <a:noFill/>
          <a:ln/>
        </p:spPr>
        <p:txBody>
          <a:bodyPr wrap="square" lIns="0" tIns="0" rIns="0" bIns="0" rtlCol="0" anchor="t"/>
          <a:lstStyle/>
          <a:p>
            <a:pPr marL="0" indent="0">
              <a:spcAft>
                <a:spcPts val="500"/>
              </a:spcAft>
              <a:buNone/>
            </a:pPr>
            <a:r>
              <a:rPr lang="en-US" sz="1800" b="1" dirty="0">
                <a:solidFill>
                  <a:srgbClr val="17795A"/>
                </a:solidFill>
                <a:latin typeface="Calibri" pitchFamily="34" charset="0"/>
                <a:ea typeface="Calibri" pitchFamily="34" charset="-122"/>
                <a:cs typeface="Calibri" pitchFamily="34" charset="-120"/>
              </a:rPr>
              <a:t>Failed communication</a:t>
            </a:r>
            <a:endParaRPr lang="en-US" sz="1800" dirty="0"/>
          </a:p>
          <a:p>
            <a:pPr marL="0" indent="0">
              <a:spcAft>
                <a:spcPts val="500"/>
              </a:spcAft>
              <a:buNone/>
            </a:pPr>
            <a:r>
              <a:rPr lang="en-US" sz="1700" dirty="0">
                <a:solidFill>
                  <a:srgbClr val="1B3A33"/>
                </a:solidFill>
                <a:latin typeface="Calibri" pitchFamily="34" charset="0"/>
                <a:ea typeface="Calibri" pitchFamily="34" charset="-122"/>
                <a:cs typeface="Calibri" pitchFamily="34" charset="-120"/>
              </a:rPr>
              <a:t>Multiple channels</a:t>
            </a:r>
            <a:endParaRPr lang="en-US" sz="1800" dirty="0"/>
          </a:p>
        </p:txBody>
      </p:sp>
      <p:sp>
        <p:nvSpPr>
          <p:cNvPr id="3" name="Slide Number Placeholder 0"/>
          <p:cNvSpPr>
            <a:spLocks noGrp="1"/>
          </p:cNvSpPr>
          <p:nvPr>
            <p:ph type="sldNum" sz="quarter" idx="4294967295"/>
          </p:nvPr>
        </p:nvSpPr>
        <p:spPr>
          <a:xfrm>
            <a:off x="10881360" y="6400800"/>
            <a:ext cx="758952"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1B3A33"/>
                </a:solidFill>
                <a:latin typeface="Calibri"/>
                <a:ea typeface="Calibri"/>
                <a:cs typeface="Calibri"/>
              </a:defRPr>
            </a:lvl1pPr>
          </a:lstStyle>
          <a:p>
            <a:pPr algn="r"/>
            <a:fld id="{F7021451-1387-4CA6-816F-3879F97B5CBC}" type="slidenum">
              <a:rPr lang="en-US" b="1"/>
              <a:t>9</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68680"/>
          </a:xfrm>
          <a:prstGeom prst="rect">
            <a:avLst/>
          </a:prstGeom>
          <a:noFill/>
          <a:ln/>
        </p:spPr>
        <p:txBody>
          <a:bodyPr wrap="square" lIns="0" tIns="0" rIns="0" bIns="0" rtlCol="0" anchor="ctr"/>
          <a:lstStyle/>
          <a:p>
            <a:pPr marL="0" indent="0" algn="l">
              <a:buNone/>
            </a:pPr>
            <a:r>
              <a:rPr lang="en-US" sz="3800" b="1" dirty="0">
                <a:solidFill>
                  <a:srgbClr val="F2F7F4"/>
                </a:solidFill>
                <a:latin typeface="Calibri" pitchFamily="34" charset="0"/>
                <a:ea typeface="Calibri" pitchFamily="34" charset="-122"/>
                <a:cs typeface="Calibri" pitchFamily="34" charset="-120"/>
              </a:rPr>
              <a:t>Where Hello goes next</a:t>
            </a:r>
            <a:endParaRPr lang="en-US" sz="3800" dirty="0"/>
          </a:p>
        </p:txBody>
      </p:sp>
      <p:sp>
        <p:nvSpPr>
          <p:cNvPr id="4" name="Shape 1"/>
          <p:cNvSpPr/>
          <p:nvPr/>
        </p:nvSpPr>
        <p:spPr>
          <a:xfrm>
            <a:off x="7680960" y="594360"/>
            <a:ext cx="3959352" cy="457200"/>
          </a:xfrm>
          <a:prstGeom prst="roundRect">
            <a:avLst>
              <a:gd name="adj" fmla="val 50000"/>
            </a:avLst>
          </a:prstGeom>
          <a:solidFill>
            <a:srgbClr val="F97316"/>
          </a:solidFill>
          <a:ln w="12700">
            <a:solidFill>
              <a:srgbClr val="F97316"/>
            </a:solidFill>
            <a:prstDash val="solid"/>
          </a:ln>
        </p:spPr>
      </p:sp>
      <p:sp>
        <p:nvSpPr>
          <p:cNvPr id="5" name="Text 2"/>
          <p:cNvSpPr txBox="1"/>
          <p:nvPr/>
        </p:nvSpPr>
        <p:spPr>
          <a:xfrm>
            <a:off x="7680960" y="594360"/>
            <a:ext cx="3959352" cy="457200"/>
          </a:xfrm>
          <a:prstGeom prst="rect">
            <a:avLst/>
          </a:prstGeom>
          <a:noFill/>
          <a:ln/>
        </p:spPr>
        <p:txBody>
          <a:bodyPr wrap="square" lIns="0" tIns="0" rIns="0" bIns="0" rtlCol="0" anchor="ctr"/>
          <a:lstStyle/>
          <a:p>
            <a:pPr marL="0" indent="0" algn="ctr">
              <a:buNone/>
            </a:pPr>
            <a:r>
              <a:rPr lang="en-US" sz="1500" b="1" dirty="0">
                <a:solidFill>
                  <a:srgbClr val="10201C"/>
                </a:solidFill>
                <a:latin typeface="Calibri" pitchFamily="34" charset="0"/>
                <a:ea typeface="Calibri" pitchFamily="34" charset="-122"/>
                <a:cs typeface="Calibri" pitchFamily="34" charset="-120"/>
              </a:rPr>
              <a:t>Planned, not in the current prototype</a:t>
            </a:r>
            <a:endParaRPr lang="en-US" sz="1500" dirty="0"/>
          </a:p>
        </p:txBody>
      </p:sp>
      <p:sp>
        <p:nvSpPr>
          <p:cNvPr id="6" name="Shape 3"/>
          <p:cNvSpPr/>
          <p:nvPr/>
        </p:nvSpPr>
        <p:spPr>
          <a:xfrm>
            <a:off x="548640" y="1371600"/>
            <a:ext cx="3544824" cy="3977640"/>
          </a:xfrm>
          <a:prstGeom prst="roundRect">
            <a:avLst>
              <a:gd name="adj" fmla="val 5159"/>
            </a:avLst>
          </a:prstGeom>
          <a:solidFill>
            <a:srgbClr val="14403A"/>
          </a:solidFill>
          <a:ln w="12700">
            <a:solidFill>
              <a:srgbClr val="14403A"/>
            </a:solidFill>
            <a:prstDash val="solid"/>
          </a:ln>
        </p:spPr>
      </p:sp>
      <p:sp>
        <p:nvSpPr>
          <p:cNvPr id="7" name="Text 4"/>
          <p:cNvSpPr txBox="1"/>
          <p:nvPr/>
        </p:nvSpPr>
        <p:spPr>
          <a:xfrm>
            <a:off x="822960" y="1572768"/>
            <a:ext cx="2996184" cy="3657600"/>
          </a:xfrm>
          <a:prstGeom prst="rect">
            <a:avLst/>
          </a:prstGeom>
          <a:noFill/>
          <a:ln/>
        </p:spPr>
        <p:txBody>
          <a:bodyPr wrap="square" lIns="0" tIns="0" rIns="0" bIns="0" rtlCol="0" anchor="t"/>
          <a:lstStyle/>
          <a:p>
            <a:pPr marL="0" indent="0">
              <a:spcAft>
                <a:spcPts val="400"/>
              </a:spcAft>
              <a:buNone/>
            </a:pPr>
            <a:r>
              <a:rPr lang="en-US" sz="1500" b="1" dirty="0">
                <a:solidFill>
                  <a:srgbClr val="F97316"/>
                </a:solidFill>
                <a:latin typeface="Calibri" pitchFamily="34" charset="0"/>
                <a:ea typeface="Calibri" pitchFamily="34" charset="-122"/>
                <a:cs typeface="Calibri" pitchFamily="34" charset="-120"/>
              </a:rPr>
              <a:t>PHASE 1</a:t>
            </a:r>
            <a:endParaRPr lang="en-US" sz="1800" dirty="0"/>
          </a:p>
          <a:p>
            <a:pPr marL="0" indent="0">
              <a:spcAft>
                <a:spcPts val="400"/>
              </a:spcAft>
              <a:buNone/>
            </a:pPr>
            <a:r>
              <a:rPr lang="en-US" sz="2400" b="1" dirty="0">
                <a:solidFill>
                  <a:srgbClr val="FFFFFF"/>
                </a:solidFill>
                <a:latin typeface="Calibri" pitchFamily="34" charset="0"/>
                <a:ea typeface="Calibri" pitchFamily="34" charset="-122"/>
                <a:cs typeface="Calibri" pitchFamily="34" charset="-120"/>
              </a:rPr>
              <a:t>Workforce intelligence</a:t>
            </a:r>
            <a:endParaRPr lang="en-US" sz="1800" dirty="0"/>
          </a:p>
          <a:p>
            <a:pPr marL="0" indent="0">
              <a:spcAft>
                <a:spcPts val="400"/>
              </a:spcAft>
              <a:buNone/>
            </a:pPr>
            <a:r>
              <a:rPr lang="en-US" sz="1700" b="1" dirty="0">
                <a:solidFill>
                  <a:srgbClr val="F2F7F4"/>
                </a:solidFill>
                <a:latin typeface="Calibri" pitchFamily="34" charset="0"/>
                <a:ea typeface="Calibri" pitchFamily="34" charset="-122"/>
                <a:cs typeface="Calibri" pitchFamily="34" charset="-120"/>
              </a:rPr>
              <a:t>Reliability analytics</a:t>
            </a:r>
            <a:endParaRPr lang="en-US" sz="1800" dirty="0"/>
          </a:p>
          <a:p>
            <a:pPr marL="0" indent="0">
              <a:spcAft>
                <a:spcPts val="400"/>
              </a:spcAft>
              <a:buNone/>
            </a:pPr>
            <a:r>
              <a:rPr lang="en-US" sz="1500" dirty="0">
                <a:solidFill>
                  <a:srgbClr val="CFE3DB"/>
                </a:solidFill>
                <a:latin typeface="Calibri" pitchFamily="34" charset="0"/>
                <a:ea typeface="Calibri" pitchFamily="34" charset="-122"/>
                <a:cs typeface="Calibri" pitchFamily="34" charset="-120"/>
              </a:rPr>
              <a:t>Patterns in worker availability and engagement.</a:t>
            </a:r>
            <a:endParaRPr lang="en-US" sz="1800" dirty="0"/>
          </a:p>
          <a:p>
            <a:pPr marL="0" indent="0">
              <a:spcAft>
                <a:spcPts val="400"/>
              </a:spcAft>
              <a:buNone/>
            </a:pPr>
            <a:r>
              <a:rPr lang="en-US" sz="1700" b="1" dirty="0">
                <a:solidFill>
                  <a:srgbClr val="F2F7F4"/>
                </a:solidFill>
                <a:latin typeface="Calibri" pitchFamily="34" charset="0"/>
                <a:ea typeface="Calibri" pitchFamily="34" charset="-122"/>
                <a:cs typeface="Calibri" pitchFamily="34" charset="-120"/>
              </a:rPr>
              <a:t>Demand prediction</a:t>
            </a:r>
            <a:endParaRPr lang="en-US" sz="1800" dirty="0"/>
          </a:p>
          <a:p>
            <a:pPr marL="0" indent="0">
              <a:spcAft>
                <a:spcPts val="400"/>
              </a:spcAft>
              <a:buNone/>
            </a:pPr>
            <a:r>
              <a:rPr lang="en-US" sz="1500" dirty="0">
                <a:solidFill>
                  <a:srgbClr val="CFE3DB"/>
                </a:solidFill>
                <a:latin typeface="Calibri" pitchFamily="34" charset="0"/>
                <a:ea typeface="Calibri" pitchFamily="34" charset="-122"/>
                <a:cs typeface="Calibri" pitchFamily="34" charset="-120"/>
              </a:rPr>
              <a:t>Recurring labour needs from projects and history.</a:t>
            </a:r>
            <a:endParaRPr lang="en-US" sz="1800" dirty="0"/>
          </a:p>
          <a:p>
            <a:pPr marL="0" indent="0">
              <a:spcAft>
                <a:spcPts val="400"/>
              </a:spcAft>
              <a:buNone/>
            </a:pPr>
            <a:r>
              <a:rPr lang="en-US" sz="1700" b="1" dirty="0">
                <a:solidFill>
                  <a:srgbClr val="F2F7F4"/>
                </a:solidFill>
                <a:latin typeface="Calibri" pitchFamily="34" charset="0"/>
                <a:ea typeface="Calibri" pitchFamily="34" charset="-122"/>
                <a:cs typeface="Calibri" pitchFamily="34" charset="-120"/>
              </a:rPr>
              <a:t>Smart replacements</a:t>
            </a:r>
            <a:endParaRPr lang="en-US" sz="1800" dirty="0"/>
          </a:p>
          <a:p>
            <a:pPr marL="0" indent="0">
              <a:spcAft>
                <a:spcPts val="400"/>
              </a:spcAft>
              <a:buNone/>
            </a:pPr>
            <a:r>
              <a:rPr lang="en-US" sz="1500" dirty="0">
                <a:solidFill>
                  <a:srgbClr val="CFE3DB"/>
                </a:solidFill>
                <a:latin typeface="Calibri" pitchFamily="34" charset="0"/>
                <a:ea typeface="Calibri" pitchFamily="34" charset="-122"/>
                <a:cs typeface="Calibri" pitchFamily="34" charset="-120"/>
              </a:rPr>
              <a:t>Alternative workers when someone drops out.</a:t>
            </a:r>
            <a:endParaRPr lang="en-US" sz="1800" dirty="0"/>
          </a:p>
        </p:txBody>
      </p:sp>
      <p:sp>
        <p:nvSpPr>
          <p:cNvPr id="8" name="Shape 5"/>
          <p:cNvSpPr/>
          <p:nvPr/>
        </p:nvSpPr>
        <p:spPr>
          <a:xfrm>
            <a:off x="4322064" y="1371600"/>
            <a:ext cx="3544824" cy="3977640"/>
          </a:xfrm>
          <a:prstGeom prst="roundRect">
            <a:avLst>
              <a:gd name="adj" fmla="val 5159"/>
            </a:avLst>
          </a:prstGeom>
          <a:solidFill>
            <a:srgbClr val="14403A"/>
          </a:solidFill>
          <a:ln w="12700">
            <a:solidFill>
              <a:srgbClr val="14403A"/>
            </a:solidFill>
            <a:prstDash val="solid"/>
          </a:ln>
        </p:spPr>
      </p:sp>
      <p:sp>
        <p:nvSpPr>
          <p:cNvPr id="9" name="Text 6"/>
          <p:cNvSpPr txBox="1"/>
          <p:nvPr/>
        </p:nvSpPr>
        <p:spPr>
          <a:xfrm>
            <a:off x="4596384" y="1572768"/>
            <a:ext cx="2996184" cy="3657600"/>
          </a:xfrm>
          <a:prstGeom prst="rect">
            <a:avLst/>
          </a:prstGeom>
          <a:noFill/>
          <a:ln/>
        </p:spPr>
        <p:txBody>
          <a:bodyPr wrap="square" lIns="0" tIns="0" rIns="0" bIns="0" rtlCol="0" anchor="t"/>
          <a:lstStyle/>
          <a:p>
            <a:pPr marL="0" indent="0">
              <a:spcAft>
                <a:spcPts val="400"/>
              </a:spcAft>
              <a:buNone/>
            </a:pPr>
            <a:r>
              <a:rPr lang="en-US" sz="1500" b="1" dirty="0">
                <a:solidFill>
                  <a:srgbClr val="F97316"/>
                </a:solidFill>
                <a:latin typeface="Calibri" pitchFamily="34" charset="0"/>
                <a:ea typeface="Calibri" pitchFamily="34" charset="-122"/>
                <a:cs typeface="Calibri" pitchFamily="34" charset="-120"/>
              </a:rPr>
              <a:t>PHASE 2</a:t>
            </a:r>
            <a:endParaRPr lang="en-US" sz="1800" dirty="0"/>
          </a:p>
          <a:p>
            <a:pPr marL="0" indent="0">
              <a:spcAft>
                <a:spcPts val="400"/>
              </a:spcAft>
              <a:buNone/>
            </a:pPr>
            <a:r>
              <a:rPr lang="en-US" sz="2400" b="1" dirty="0">
                <a:solidFill>
                  <a:srgbClr val="FFFFFF"/>
                </a:solidFill>
                <a:latin typeface="Calibri" pitchFamily="34" charset="0"/>
                <a:ea typeface="Calibri" pitchFamily="34" charset="-122"/>
                <a:cs typeface="Calibri" pitchFamily="34" charset="-120"/>
              </a:rPr>
              <a:t>Field management</a:t>
            </a:r>
            <a:endParaRPr lang="en-US" sz="1800" dirty="0"/>
          </a:p>
          <a:p>
            <a:pPr marL="0" indent="0">
              <a:spcAft>
                <a:spcPts val="400"/>
              </a:spcAft>
              <a:buNone/>
            </a:pPr>
            <a:r>
              <a:rPr lang="en-US" sz="1700" b="1" dirty="0">
                <a:solidFill>
                  <a:srgbClr val="F2F7F4"/>
                </a:solidFill>
                <a:latin typeface="Calibri" pitchFamily="34" charset="0"/>
                <a:ea typeface="Calibri" pitchFamily="34" charset="-122"/>
                <a:cs typeface="Calibri" pitchFamily="34" charset="-120"/>
              </a:rPr>
              <a:t>Geo-tagged attendance</a:t>
            </a:r>
            <a:endParaRPr lang="en-US" sz="1800" dirty="0"/>
          </a:p>
          <a:p>
            <a:pPr marL="0" indent="0">
              <a:spcAft>
                <a:spcPts val="400"/>
              </a:spcAft>
              <a:buNone/>
            </a:pPr>
            <a:r>
              <a:rPr lang="en-US" sz="1500" dirty="0">
                <a:solidFill>
                  <a:srgbClr val="CFE3DB"/>
                </a:solidFill>
                <a:latin typeface="Calibri" pitchFamily="34" charset="0"/>
                <a:ea typeface="Calibri" pitchFamily="34" charset="-122"/>
                <a:cs typeface="Calibri" pitchFamily="34" charset="-120"/>
              </a:rPr>
              <a:t>Location-assisted attendance at sites.</a:t>
            </a:r>
            <a:endParaRPr lang="en-US" sz="1800" dirty="0"/>
          </a:p>
          <a:p>
            <a:pPr marL="0" indent="0">
              <a:spcAft>
                <a:spcPts val="400"/>
              </a:spcAft>
              <a:buNone/>
            </a:pPr>
            <a:r>
              <a:rPr lang="en-US" sz="1700" b="1" dirty="0">
                <a:solidFill>
                  <a:srgbClr val="F2F7F4"/>
                </a:solidFill>
                <a:latin typeface="Calibri" pitchFamily="34" charset="0"/>
                <a:ea typeface="Calibri" pitchFamily="34" charset="-122"/>
                <a:cs typeface="Calibri" pitchFamily="34" charset="-120"/>
              </a:rPr>
              <a:t>Supervisor verification</a:t>
            </a:r>
            <a:endParaRPr lang="en-US" sz="1800" dirty="0"/>
          </a:p>
          <a:p>
            <a:pPr marL="0" indent="0">
              <a:spcAft>
                <a:spcPts val="400"/>
              </a:spcAft>
              <a:buNone/>
            </a:pPr>
            <a:r>
              <a:rPr lang="en-US" sz="1500" dirty="0">
                <a:solidFill>
                  <a:srgbClr val="CFE3DB"/>
                </a:solidFill>
                <a:latin typeface="Calibri" pitchFamily="34" charset="0"/>
                <a:ea typeface="Calibri" pitchFamily="34" charset="-122"/>
                <a:cs typeface="Calibri" pitchFamily="34" charset="-120"/>
              </a:rPr>
              <a:t>Site-level confirmation of presence.</a:t>
            </a:r>
            <a:endParaRPr lang="en-US" sz="1800" dirty="0"/>
          </a:p>
          <a:p>
            <a:pPr marL="0" indent="0">
              <a:spcAft>
                <a:spcPts val="400"/>
              </a:spcAft>
              <a:buNone/>
            </a:pPr>
            <a:r>
              <a:rPr lang="en-US" sz="1700" b="1" dirty="0">
                <a:solidFill>
                  <a:srgbClr val="F2F7F4"/>
                </a:solidFill>
                <a:latin typeface="Calibri" pitchFamily="34" charset="0"/>
                <a:ea typeface="Calibri" pitchFamily="34" charset="-122"/>
                <a:cs typeface="Calibri" pitchFamily="34" charset="-120"/>
              </a:rPr>
              <a:t>Digital work evidence</a:t>
            </a:r>
            <a:endParaRPr lang="en-US" sz="1800" dirty="0"/>
          </a:p>
          <a:p>
            <a:pPr marL="0" indent="0">
              <a:spcAft>
                <a:spcPts val="400"/>
              </a:spcAft>
              <a:buNone/>
            </a:pPr>
            <a:r>
              <a:rPr lang="en-US" sz="1500" dirty="0">
                <a:solidFill>
                  <a:srgbClr val="CFE3DB"/>
                </a:solidFill>
                <a:latin typeface="Calibri" pitchFamily="34" charset="0"/>
                <a:ea typeface="Calibri" pitchFamily="34" charset="-122"/>
                <a:cs typeface="Calibri" pitchFamily="34" charset="-120"/>
              </a:rPr>
              <a:t>Photos, documents, task records.</a:t>
            </a:r>
            <a:endParaRPr lang="en-US" sz="1800" dirty="0"/>
          </a:p>
          <a:p>
            <a:pPr marL="0" indent="0">
              <a:spcAft>
                <a:spcPts val="400"/>
              </a:spcAft>
              <a:buNone/>
            </a:pPr>
            <a:r>
              <a:rPr lang="en-US" sz="1700" b="1" dirty="0">
                <a:solidFill>
                  <a:srgbClr val="F2F7F4"/>
                </a:solidFill>
                <a:latin typeface="Calibri" pitchFamily="34" charset="0"/>
                <a:ea typeface="Calibri" pitchFamily="34" charset="-122"/>
                <a:cs typeface="Calibri" pitchFamily="34" charset="-120"/>
              </a:rPr>
              <a:t>Safety module</a:t>
            </a:r>
            <a:endParaRPr lang="en-US" sz="1800" dirty="0"/>
          </a:p>
          <a:p>
            <a:pPr marL="0" indent="0">
              <a:spcAft>
                <a:spcPts val="400"/>
              </a:spcAft>
              <a:buNone/>
            </a:pPr>
            <a:r>
              <a:rPr lang="en-US" sz="1500" dirty="0">
                <a:solidFill>
                  <a:srgbClr val="CFE3DB"/>
                </a:solidFill>
                <a:latin typeface="Calibri" pitchFamily="34" charset="0"/>
                <a:ea typeface="Calibri" pitchFamily="34" charset="-122"/>
                <a:cs typeface="Calibri" pitchFamily="34" charset="-120"/>
              </a:rPr>
              <a:t>SOS, PPE checklist, incident reports.</a:t>
            </a:r>
            <a:endParaRPr lang="en-US" sz="1800" dirty="0"/>
          </a:p>
        </p:txBody>
      </p:sp>
      <p:sp>
        <p:nvSpPr>
          <p:cNvPr id="10" name="Shape 7"/>
          <p:cNvSpPr/>
          <p:nvPr/>
        </p:nvSpPr>
        <p:spPr>
          <a:xfrm>
            <a:off x="8095488" y="1371600"/>
            <a:ext cx="3544824" cy="3977640"/>
          </a:xfrm>
          <a:prstGeom prst="roundRect">
            <a:avLst>
              <a:gd name="adj" fmla="val 5159"/>
            </a:avLst>
          </a:prstGeom>
          <a:solidFill>
            <a:srgbClr val="14403A"/>
          </a:solidFill>
          <a:ln w="12700">
            <a:solidFill>
              <a:srgbClr val="14403A"/>
            </a:solidFill>
            <a:prstDash val="solid"/>
          </a:ln>
        </p:spPr>
      </p:sp>
      <p:sp>
        <p:nvSpPr>
          <p:cNvPr id="11" name="Text 8"/>
          <p:cNvSpPr txBox="1"/>
          <p:nvPr/>
        </p:nvSpPr>
        <p:spPr>
          <a:xfrm>
            <a:off x="8369808" y="1572768"/>
            <a:ext cx="2996184" cy="3657600"/>
          </a:xfrm>
          <a:prstGeom prst="rect">
            <a:avLst/>
          </a:prstGeom>
          <a:noFill/>
          <a:ln/>
        </p:spPr>
        <p:txBody>
          <a:bodyPr wrap="square" lIns="0" tIns="0" rIns="0" bIns="0" rtlCol="0" anchor="t"/>
          <a:lstStyle/>
          <a:p>
            <a:pPr marL="0" indent="0">
              <a:spcAft>
                <a:spcPts val="400"/>
              </a:spcAft>
              <a:buNone/>
            </a:pPr>
            <a:r>
              <a:rPr lang="en-US" sz="1500" b="1" dirty="0">
                <a:solidFill>
                  <a:srgbClr val="F97316"/>
                </a:solidFill>
                <a:latin typeface="Calibri" pitchFamily="34" charset="0"/>
                <a:ea typeface="Calibri" pitchFamily="34" charset="-122"/>
                <a:cs typeface="Calibri" pitchFamily="34" charset="-120"/>
              </a:rPr>
              <a:t>PHASE 3</a:t>
            </a:r>
            <a:endParaRPr lang="en-US" sz="1800" dirty="0"/>
          </a:p>
          <a:p>
            <a:pPr marL="0" indent="0">
              <a:spcAft>
                <a:spcPts val="400"/>
              </a:spcAft>
              <a:buNone/>
            </a:pPr>
            <a:r>
              <a:rPr lang="en-US" sz="2400" b="1" dirty="0">
                <a:solidFill>
                  <a:srgbClr val="FFFFFF"/>
                </a:solidFill>
                <a:latin typeface="Calibri" pitchFamily="34" charset="0"/>
                <a:ea typeface="Calibri" pitchFamily="34" charset="-122"/>
                <a:cs typeface="Calibri" pitchFamily="34" charset="-120"/>
              </a:rPr>
              <a:t>Worker career infrastructure</a:t>
            </a:r>
            <a:endParaRPr lang="en-US" sz="1800" dirty="0"/>
          </a:p>
          <a:p>
            <a:pPr marL="0" indent="0">
              <a:spcAft>
                <a:spcPts val="400"/>
              </a:spcAft>
              <a:buNone/>
            </a:pPr>
            <a:r>
              <a:rPr lang="en-US" sz="1700" b="1" dirty="0">
                <a:solidFill>
                  <a:srgbClr val="F2F7F4"/>
                </a:solidFill>
                <a:latin typeface="Calibri" pitchFamily="34" charset="0"/>
                <a:ea typeface="Calibri" pitchFamily="34" charset="-122"/>
                <a:cs typeface="Calibri" pitchFamily="34" charset="-120"/>
              </a:rPr>
              <a:t>Portable work history</a:t>
            </a:r>
            <a:endParaRPr lang="en-US" sz="1800" dirty="0"/>
          </a:p>
          <a:p>
            <a:pPr marL="0" indent="0">
              <a:spcAft>
                <a:spcPts val="400"/>
              </a:spcAft>
              <a:buNone/>
            </a:pPr>
            <a:r>
              <a:rPr lang="en-US" sz="1500" dirty="0">
                <a:solidFill>
                  <a:srgbClr val="CFE3DB"/>
                </a:solidFill>
                <a:latin typeface="Calibri" pitchFamily="34" charset="0"/>
                <a:ea typeface="Calibri" pitchFamily="34" charset="-122"/>
                <a:cs typeface="Calibri" pitchFamily="34" charset="-120"/>
              </a:rPr>
              <a:t>A verified record workers can carry.</a:t>
            </a:r>
            <a:endParaRPr lang="en-US" sz="1800" dirty="0"/>
          </a:p>
          <a:p>
            <a:pPr marL="0" indent="0">
              <a:spcAft>
                <a:spcPts val="400"/>
              </a:spcAft>
              <a:buNone/>
            </a:pPr>
            <a:r>
              <a:rPr lang="en-US" sz="1700" b="1" dirty="0">
                <a:solidFill>
                  <a:srgbClr val="E2F3EA"/>
                </a:solidFill>
                <a:latin typeface="Calibri" pitchFamily="34" charset="0"/>
                <a:ea typeface="Calibri" pitchFamily="34" charset="-122"/>
                <a:cs typeface="Calibri" pitchFamily="34" charset="-120"/>
              </a:rPr>
              <a:t>Skills → Projects → Experience → Performance → Opportunities</a:t>
            </a:r>
            <a:endParaRPr lang="en-US" sz="1800" dirty="0"/>
          </a:p>
        </p:txBody>
      </p:sp>
      <p:sp>
        <p:nvSpPr>
          <p:cNvPr id="12" name="Shape 9"/>
          <p:cNvSpPr/>
          <p:nvPr/>
        </p:nvSpPr>
        <p:spPr>
          <a:xfrm>
            <a:off x="548640" y="5504688"/>
            <a:ext cx="11091672" cy="731520"/>
          </a:xfrm>
          <a:prstGeom prst="roundRect">
            <a:avLst>
              <a:gd name="adj" fmla="val 22500"/>
            </a:avLst>
          </a:prstGeom>
          <a:solidFill>
            <a:srgbClr val="F97316"/>
          </a:solidFill>
          <a:ln w="12700">
            <a:solidFill>
              <a:srgbClr val="F97316"/>
            </a:solidFill>
            <a:prstDash val="solid"/>
          </a:ln>
        </p:spPr>
      </p:sp>
      <p:sp>
        <p:nvSpPr>
          <p:cNvPr id="13" name="Text 10"/>
          <p:cNvSpPr txBox="1"/>
          <p:nvPr/>
        </p:nvSpPr>
        <p:spPr>
          <a:xfrm>
            <a:off x="914400" y="5504688"/>
            <a:ext cx="10360152" cy="731520"/>
          </a:xfrm>
          <a:prstGeom prst="rect">
            <a:avLst/>
          </a:prstGeom>
          <a:noFill/>
          <a:ln/>
        </p:spPr>
        <p:txBody>
          <a:bodyPr wrap="square" lIns="0" tIns="0" rIns="0" bIns="0" rtlCol="0" anchor="ctr"/>
          <a:lstStyle/>
          <a:p>
            <a:pPr marL="0" indent="0">
              <a:buNone/>
            </a:pPr>
            <a:r>
              <a:rPr lang="en-US" sz="2000" b="1" dirty="0">
                <a:solidFill>
                  <a:srgbClr val="10201C"/>
                </a:solidFill>
                <a:latin typeface="Calibri" pitchFamily="34" charset="0"/>
                <a:ea typeface="Calibri" pitchFamily="34" charset="-122"/>
                <a:cs typeface="Calibri" pitchFamily="34" charset="-120"/>
              </a:rPr>
              <a:t>Hello grows from a workforce management system into digital infrastructure for India's informal construction workforce.</a:t>
            </a:r>
            <a:endParaRPr lang="en-US" sz="2000" dirty="0"/>
          </a:p>
        </p:txBody>
      </p:sp>
      <p:sp>
        <p:nvSpPr>
          <p:cNvPr id="25" name="Slide Number Placeholder 0"/>
          <p:cNvSpPr>
            <a:spLocks noGrp="1"/>
          </p:cNvSpPr>
          <p:nvPr>
            <p:ph type="sldNum" sz="quarter" idx="4294967295"/>
          </p:nvPr>
        </p:nvSpPr>
        <p:spPr>
          <a:xfrm>
            <a:off x="10881360" y="6400800"/>
            <a:ext cx="758952"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CFE3DB"/>
                </a:solidFill>
                <a:latin typeface="Calibri"/>
                <a:ea typeface="Calibri"/>
                <a:cs typeface="Calibri"/>
              </a:defRPr>
            </a:lvl1pPr>
          </a:lstStyle>
          <a:p>
            <a:pPr algn="r"/>
            <a:fld id="{F7021451-1387-4CA6-816F-3879F97B5CBC}" type="slidenum">
              <a:rPr lang="en-US" b="1"/>
              <a:t>10</a:t>
            </a:fld>
            <a:endParaRPr 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theme/theme1.xml><?xml version="1.0" encoding="utf-8"?>
<a:theme xmlns:a="http://schemas.openxmlformats.org/drawingml/2006/main" name="Hello">
  <a:themeElements>
    <a:clrScheme name="Hello">
      <a:dk1>
        <a:srgbClr val="10201C"/>
      </a:dk1>
      <a:lt1>
        <a:srgbClr val="FFFFFF"/>
      </a:lt1>
      <a:dk2>
        <a:srgbClr val="0B2B26"/>
      </a:dk2>
      <a:lt2>
        <a:srgbClr val="F3F8F4"/>
      </a:lt2>
      <a:accent1>
        <a:srgbClr val="17795A"/>
      </a:accent1>
      <a:accent2>
        <a:srgbClr val="F97316"/>
      </a:accent2>
      <a:accent3>
        <a:srgbClr val="2563EB"/>
      </a:accent3>
      <a:accent4>
        <a:srgbClr val="10265C"/>
      </a:accent4>
      <a:accent5>
        <a:srgbClr val="E2F3EA"/>
      </a:accent5>
      <a:accent6>
        <a:srgbClr val="E5ECFF"/>
      </a:accent6>
      <a:hlink>
        <a:srgbClr val="1D4ED8"/>
      </a:hlink>
      <a:folHlink>
        <a:srgbClr val="17795A"/>
      </a:folHlink>
    </a:clrScheme>
    <a:fontScheme name="Hello">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TotalTime>
  <Words>1337</Words>
  <Application>Microsoft Office PowerPoint</Application>
  <PresentationFormat>Widescreen</PresentationFormat>
  <Paragraphs>256</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Hello</vt:lpstr>
      <vt:lpstr>PowerPoint Presentation</vt:lpstr>
      <vt:lpstr>Managing labour is a daily puzzle</vt:lpstr>
      <vt:lpstr>Finding is covered. Managing is not</vt:lpstr>
      <vt:lpstr>One system for the contractor's workforce</vt:lpstr>
      <vt:lpstr>From requirement to workforce management</vt:lpstr>
      <vt:lpstr>What makes Hello different</vt:lpstr>
      <vt:lpstr>Built as a modular platform</vt:lpstr>
      <vt:lpstr>How the components work together</vt:lpstr>
      <vt:lpstr>Designed to be built, tested and scaled</vt:lpstr>
      <vt:lpstr>Where Hello goes next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Hello: Workforce Management for Contractors</dc:title>
  <dc:subject>PptxGenJS Presentation</dc:subject>
  <dc:creator>Team NEXUS</dc:creator>
  <cp:lastModifiedBy>naomismascarenhas@gmail.com</cp:lastModifiedBy>
  <cp:revision>4</cp:revision>
  <dcterms:created xsi:type="dcterms:W3CDTF">2026-10-08T19:43:25Z</dcterms:created>
  <dcterms:modified xsi:type="dcterms:W3CDTF">2026-10-08T20:05:21Z</dcterms:modified>
</cp:coreProperties>
</file>